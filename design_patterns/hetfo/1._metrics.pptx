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 id="2147483658" r:id="rId2"/>
  </p:sldMasterIdLst>
  <p:notesMasterIdLst>
    <p:notesMasterId r:id="rId34"/>
  </p:notesMasterIdLst>
  <p:sldIdLst>
    <p:sldId id="256" r:id="rId3"/>
    <p:sldId id="257" r:id="rId4"/>
    <p:sldId id="288" r:id="rId5"/>
    <p:sldId id="261" r:id="rId6"/>
    <p:sldId id="297" r:id="rId7"/>
    <p:sldId id="298" r:id="rId8"/>
    <p:sldId id="299" r:id="rId9"/>
    <p:sldId id="301" r:id="rId10"/>
    <p:sldId id="300" r:id="rId11"/>
    <p:sldId id="302" r:id="rId12"/>
    <p:sldId id="303" r:id="rId13"/>
    <p:sldId id="304" r:id="rId14"/>
    <p:sldId id="305" r:id="rId15"/>
    <p:sldId id="306" r:id="rId16"/>
    <p:sldId id="307" r:id="rId17"/>
    <p:sldId id="308" r:id="rId18"/>
    <p:sldId id="309" r:id="rId19"/>
    <p:sldId id="310" r:id="rId20"/>
    <p:sldId id="262" r:id="rId21"/>
    <p:sldId id="281" r:id="rId22"/>
    <p:sldId id="287" r:id="rId23"/>
    <p:sldId id="289" r:id="rId24"/>
    <p:sldId id="290" r:id="rId25"/>
    <p:sldId id="284" r:id="rId26"/>
    <p:sldId id="291" r:id="rId27"/>
    <p:sldId id="292" r:id="rId28"/>
    <p:sldId id="293" r:id="rId29"/>
    <p:sldId id="294" r:id="rId30"/>
    <p:sldId id="295" r:id="rId31"/>
    <p:sldId id="296" r:id="rId32"/>
    <p:sldId id="280" r:id="rId33"/>
  </p:sldIdLst>
  <p:sldSz cx="9144000" cy="6858000" type="screen4x3"/>
  <p:notesSz cx="6858000" cy="9144000"/>
  <p:embeddedFontLst>
    <p:embeddedFont>
      <p:font typeface="Cousine"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249E27-505F-40D2-89EE-0C5FD04171C9}">
  <a:tblStyle styleId="{0D249E27-505F-40D2-89EE-0C5FD04171C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567" autoAdjust="0"/>
  </p:normalViewPr>
  <p:slideViewPr>
    <p:cSldViewPr snapToGrid="0">
      <p:cViewPr varScale="1">
        <p:scale>
          <a:sx n="72" d="100"/>
          <a:sy n="72" d="100"/>
        </p:scale>
        <p:origin x="176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5f391192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606f1c2d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ed75ccf_0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4362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Mélyebb öröklődési hierarchiák nagyobb tervezési komplexitásra, de jobb kód </a:t>
            </a:r>
            <a:r>
              <a:rPr lang="hu-HU" dirty="0" err="1"/>
              <a:t>újrafelhasznosításra</a:t>
            </a:r>
            <a:r>
              <a:rPr lang="hu-HU" dirty="0"/>
              <a:t> utalnak.</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a:t>
            </a:r>
            <a:endParaRPr dirty="0"/>
          </a:p>
        </p:txBody>
      </p:sp>
    </p:spTree>
    <p:extLst>
      <p:ext uri="{BB962C8B-B14F-4D97-AF65-F5344CB8AC3E}">
        <p14:creationId xmlns:p14="http://schemas.microsoft.com/office/powerpoint/2010/main" val="3369660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a:t>
            </a:r>
            <a:endParaRPr dirty="0"/>
          </a:p>
        </p:txBody>
      </p:sp>
    </p:spTree>
    <p:extLst>
      <p:ext uri="{BB962C8B-B14F-4D97-AF65-F5344CB8AC3E}">
        <p14:creationId xmlns:p14="http://schemas.microsoft.com/office/powerpoint/2010/main" val="2883981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ed75ccf_0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4895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f391192_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2472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a:t>
            </a:r>
            <a:endParaRPr dirty="0"/>
          </a:p>
        </p:txBody>
      </p:sp>
    </p:spTree>
    <p:extLst>
      <p:ext uri="{BB962C8B-B14F-4D97-AF65-F5344CB8AC3E}">
        <p14:creationId xmlns:p14="http://schemas.microsoft.com/office/powerpoint/2010/main" val="2463653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a:t>
            </a:r>
            <a:endParaRPr dirty="0"/>
          </a:p>
        </p:txBody>
      </p:sp>
    </p:spTree>
    <p:extLst>
      <p:ext uri="{BB962C8B-B14F-4D97-AF65-F5344CB8AC3E}">
        <p14:creationId xmlns:p14="http://schemas.microsoft.com/office/powerpoint/2010/main" val="540156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a:t>
            </a:r>
            <a:endParaRPr dirty="0"/>
          </a:p>
        </p:txBody>
      </p:sp>
    </p:spTree>
    <p:extLst>
      <p:ext uri="{BB962C8B-B14F-4D97-AF65-F5344CB8AC3E}">
        <p14:creationId xmlns:p14="http://schemas.microsoft.com/office/powerpoint/2010/main" val="100510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ed75ccf_0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1007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f391192_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5940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LCOM1 </a:t>
            </a:r>
            <a:r>
              <a:rPr lang="en-US" dirty="0"/>
              <a:t>= 7</a:t>
            </a:r>
          </a:p>
          <a:p>
            <a:pPr marL="0" lvl="0" indent="0" algn="l" rtl="0">
              <a:spcBef>
                <a:spcPts val="0"/>
              </a:spcBef>
              <a:spcAft>
                <a:spcPts val="0"/>
              </a:spcAft>
              <a:buNone/>
            </a:pPr>
            <a:r>
              <a:rPr lang="hu-HU" dirty="0"/>
              <a:t>(m1, m3), (m1, m4), (m2, m4), (m5, m1), (m5, m2), (m5, m3), (m5, m4)</a:t>
            </a:r>
            <a:endParaRPr lang="en-US" dirty="0"/>
          </a:p>
          <a:p>
            <a:pPr marL="0" lvl="0" indent="0" algn="l" rtl="0">
              <a:spcBef>
                <a:spcPts val="0"/>
              </a:spcBef>
              <a:spcAft>
                <a:spcPts val="0"/>
              </a:spcAft>
              <a:buNone/>
            </a:pPr>
            <a:r>
              <a:rPr lang="en-US" dirty="0" err="1"/>
              <a:t>Rossz</a:t>
            </a:r>
            <a:r>
              <a:rPr lang="en-US" dirty="0"/>
              <a:t> </a:t>
            </a:r>
            <a:r>
              <a:rPr lang="en-US" dirty="0" err="1"/>
              <a:t>metrika</a:t>
            </a:r>
            <a:r>
              <a:rPr lang="en-US" dirty="0"/>
              <a:t>. Has</a:t>
            </a:r>
            <a:r>
              <a:rPr lang="hu-HU" dirty="0" err="1"/>
              <a:t>ználatát</a:t>
            </a:r>
            <a:r>
              <a:rPr lang="hu-HU" dirty="0"/>
              <a:t> kerülni kell.</a:t>
            </a:r>
            <a:endParaRPr dirty="0"/>
          </a:p>
        </p:txBody>
      </p:sp>
    </p:spTree>
    <p:extLst>
      <p:ext uri="{BB962C8B-B14F-4D97-AF65-F5344CB8AC3E}">
        <p14:creationId xmlns:p14="http://schemas.microsoft.com/office/powerpoint/2010/main" val="22929109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 </a:t>
            </a:r>
            <a:r>
              <a:rPr lang="en-US" dirty="0"/>
              <a:t>LCOM2 &gt; 0 -&gt; a</a:t>
            </a:r>
            <a:r>
              <a:rPr lang="hu-HU" dirty="0"/>
              <a:t>z osztályt ketté lehet vágni</a:t>
            </a:r>
            <a:endParaRPr dirty="0"/>
          </a:p>
        </p:txBody>
      </p:sp>
    </p:spTree>
    <p:extLst>
      <p:ext uri="{BB962C8B-B14F-4D97-AF65-F5344CB8AC3E}">
        <p14:creationId xmlns:p14="http://schemas.microsoft.com/office/powerpoint/2010/main" val="13348688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LCOM3 = 2 </a:t>
            </a:r>
            <a:r>
              <a:rPr lang="en-US" dirty="0"/>
              <a:t>[m1, m2, m3, m4] </a:t>
            </a:r>
            <a:r>
              <a:rPr lang="hu-HU" dirty="0"/>
              <a:t>és </a:t>
            </a:r>
            <a:r>
              <a:rPr lang="en-US" dirty="0"/>
              <a:t>[m5] </a:t>
            </a:r>
            <a:endParaRPr lang="hu-HU" dirty="0"/>
          </a:p>
          <a:p>
            <a:pPr marL="0" lvl="0" indent="0" algn="l" rtl="0">
              <a:spcBef>
                <a:spcPts val="0"/>
              </a:spcBef>
              <a:spcAft>
                <a:spcPts val="0"/>
              </a:spcAft>
              <a:buNone/>
            </a:pPr>
            <a:r>
              <a:rPr lang="hu-HU" dirty="0"/>
              <a:t>LCOM4 = 1</a:t>
            </a:r>
            <a:endParaRPr dirty="0"/>
          </a:p>
        </p:txBody>
      </p:sp>
    </p:spTree>
    <p:extLst>
      <p:ext uri="{BB962C8B-B14F-4D97-AF65-F5344CB8AC3E}">
        <p14:creationId xmlns:p14="http://schemas.microsoft.com/office/powerpoint/2010/main" val="356318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LCOM5 </a:t>
            </a:r>
            <a:r>
              <a:rPr lang="en-US" dirty="0"/>
              <a:t>= ¾; NOM = 5; NOA = 3; </a:t>
            </a:r>
            <a:r>
              <a:rPr lang="en-US" dirty="0" err="1"/>
              <a:t>sum_NOAcc</a:t>
            </a:r>
            <a:r>
              <a:rPr lang="en-US" dirty="0"/>
              <a:t> = 6</a:t>
            </a:r>
            <a:endParaRPr dirty="0"/>
          </a:p>
        </p:txBody>
      </p:sp>
    </p:spTree>
    <p:extLst>
      <p:ext uri="{BB962C8B-B14F-4D97-AF65-F5344CB8AC3E}">
        <p14:creationId xmlns:p14="http://schemas.microsoft.com/office/powerpoint/2010/main" val="267335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TCC: </a:t>
            </a:r>
            <a:r>
              <a:rPr lang="en-US" dirty="0"/>
              <a:t>TCC is the normalized ratio between the number of methods directly connected with other methods through an instance variable and the total number of possible connections between methods.</a:t>
            </a:r>
            <a:endParaRPr lang="hu-HU" dirty="0"/>
          </a:p>
          <a:p>
            <a:pPr marL="0" lvl="0" indent="0" algn="l" rtl="0">
              <a:spcBef>
                <a:spcPts val="0"/>
              </a:spcBef>
              <a:spcAft>
                <a:spcPts val="0"/>
              </a:spcAft>
              <a:buNone/>
            </a:pPr>
            <a:r>
              <a:rPr lang="hu-HU" dirty="0"/>
              <a:t>LCC: </a:t>
            </a:r>
            <a:r>
              <a:rPr lang="en-US" dirty="0"/>
              <a:t>LCC is the normalized ratio between the number of methods directly or indirectly connected with other methods through an instance variable and the total number of possible connections between methods.</a:t>
            </a:r>
            <a:endParaRPr lang="hu-HU" dirty="0"/>
          </a:p>
          <a:p>
            <a:pPr marL="0" lvl="0" indent="0" algn="l" rtl="0">
              <a:spcBef>
                <a:spcPts val="0"/>
              </a:spcBef>
              <a:spcAft>
                <a:spcPts val="0"/>
              </a:spcAft>
              <a:buNone/>
            </a:pPr>
            <a:endParaRPr lang="hu-HU" dirty="0"/>
          </a:p>
          <a:p>
            <a:pPr marL="0" lvl="0" indent="0" algn="l" rtl="0">
              <a:spcBef>
                <a:spcPts val="0"/>
              </a:spcBef>
              <a:spcAft>
                <a:spcPts val="0"/>
              </a:spcAft>
              <a:buNone/>
            </a:pPr>
            <a:r>
              <a:rPr lang="hu-HU" dirty="0"/>
              <a:t>TCC </a:t>
            </a:r>
            <a:r>
              <a:rPr lang="en-US" dirty="0"/>
              <a:t>= 4/10</a:t>
            </a:r>
          </a:p>
          <a:p>
            <a:pPr marL="0" lvl="0" indent="0" algn="l" rtl="0">
              <a:spcBef>
                <a:spcPts val="0"/>
              </a:spcBef>
              <a:spcAft>
                <a:spcPts val="0"/>
              </a:spcAft>
              <a:buNone/>
            </a:pPr>
            <a:r>
              <a:rPr lang="en-US" dirty="0"/>
              <a:t>LCC = 6/10</a:t>
            </a:r>
          </a:p>
          <a:p>
            <a:pPr marL="0" lvl="0" indent="0" algn="l" rtl="0">
              <a:spcBef>
                <a:spcPts val="0"/>
              </a:spcBef>
              <a:spcAft>
                <a:spcPts val="0"/>
              </a:spcAft>
              <a:buNone/>
            </a:pPr>
            <a:br>
              <a:rPr lang="en-US" dirty="0"/>
            </a:br>
            <a:r>
              <a:rPr lang="en-US" dirty="0"/>
              <a:t>The higher TCC is, the more cohesive the class is.</a:t>
            </a:r>
          </a:p>
          <a:p>
            <a:pPr marL="0" lvl="0" indent="0" algn="l" rtl="0">
              <a:spcBef>
                <a:spcPts val="0"/>
              </a:spcBef>
              <a:spcAft>
                <a:spcPts val="0"/>
              </a:spcAft>
              <a:buNone/>
            </a:pPr>
            <a:r>
              <a:rPr lang="en-US" dirty="0"/>
              <a:t>The higher LCC is, the more cohesive the class is. </a:t>
            </a:r>
            <a:endParaRPr dirty="0"/>
          </a:p>
        </p:txBody>
      </p:sp>
    </p:spTree>
    <p:extLst>
      <p:ext uri="{BB962C8B-B14F-4D97-AF65-F5344CB8AC3E}">
        <p14:creationId xmlns:p14="http://schemas.microsoft.com/office/powerpoint/2010/main" val="297227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ed75ccf_0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5f391192_0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8235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5f391192_0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5f391192_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5ed75ccf_0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8941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err="1">
                <a:latin typeface="Courier New" panose="02070309020205020404" pitchFamily="49" charset="0"/>
                <a:cs typeface="Courier New" panose="02070309020205020404" pitchFamily="49" charset="0"/>
              </a:rPr>
              <a:t>Vij</a:t>
            </a:r>
            <a:r>
              <a:rPr lang="hu-H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1</a:t>
            </a:r>
            <a:r>
              <a:rPr lang="hu-H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publikus</a:t>
            </a:r>
            <a:r>
              <a:rPr lang="en-US" dirty="0">
                <a:latin typeface="Courier New" panose="02070309020205020404" pitchFamily="49" charset="0"/>
                <a:cs typeface="Courier New" panose="02070309020205020404" pitchFamily="49" charset="0"/>
              </a:rPr>
              <a:t> met</a:t>
            </a:r>
            <a:r>
              <a:rPr lang="hu-HU" dirty="0" err="1">
                <a:latin typeface="Courier New" panose="02070309020205020404" pitchFamily="49" charset="0"/>
                <a:cs typeface="Courier New" panose="02070309020205020404" pitchFamily="49" charset="0"/>
              </a:rPr>
              <a:t>ódus</a:t>
            </a:r>
            <a:endParaRPr lang="hu-HU" dirty="0">
              <a:latin typeface="Courier New" panose="02070309020205020404" pitchFamily="49" charset="0"/>
              <a:cs typeface="Courier New" panose="02070309020205020404" pitchFamily="49" charset="0"/>
            </a:endParaRPr>
          </a:p>
          <a:p>
            <a:pPr marL="0" lvl="0" indent="0" algn="l" rtl="0">
              <a:spcBef>
                <a:spcPts val="0"/>
              </a:spcBef>
              <a:spcAft>
                <a:spcPts val="0"/>
              </a:spcAft>
              <a:buNone/>
            </a:pPr>
            <a:r>
              <a:rPr lang="hu-HU" dirty="0" err="1">
                <a:latin typeface="Courier New" panose="02070309020205020404" pitchFamily="49" charset="0"/>
                <a:cs typeface="Courier New" panose="02070309020205020404" pitchFamily="49" charset="0"/>
              </a:rPr>
              <a:t>Vij</a:t>
            </a:r>
            <a:r>
              <a:rPr lang="hu-H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1/TC</a:t>
            </a:r>
            <a:r>
              <a:rPr lang="hu-H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priv</a:t>
            </a:r>
            <a:r>
              <a:rPr lang="hu-HU" dirty="0">
                <a:latin typeface="Courier New" panose="02070309020205020404" pitchFamily="49" charset="0"/>
                <a:cs typeface="Courier New" panose="02070309020205020404" pitchFamily="49" charset="0"/>
              </a:rPr>
              <a:t>át metódus</a:t>
            </a:r>
          </a:p>
          <a:p>
            <a:pPr marL="0" lvl="0" indent="0" algn="l" rtl="0">
              <a:spcBef>
                <a:spcPts val="0"/>
              </a:spcBef>
              <a:spcAft>
                <a:spcPts val="0"/>
              </a:spcAft>
              <a:buNone/>
            </a:pPr>
            <a:r>
              <a:rPr lang="hu-HU" dirty="0" err="1">
                <a:latin typeface="Courier New" panose="02070309020205020404" pitchFamily="49" charset="0"/>
                <a:cs typeface="Courier New" panose="02070309020205020404" pitchFamily="49" charset="0"/>
              </a:rPr>
              <a:t>Vij</a:t>
            </a:r>
            <a:r>
              <a:rPr lang="hu-H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(1+DCi)/TC</a:t>
            </a:r>
            <a:r>
              <a:rPr lang="hu-H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v</a:t>
            </a:r>
            <a:r>
              <a:rPr lang="hu-HU" dirty="0" err="1">
                <a:latin typeface="Courier New" panose="02070309020205020404" pitchFamily="49" charset="0"/>
                <a:cs typeface="Courier New" panose="02070309020205020404" pitchFamily="49" charset="0"/>
              </a:rPr>
              <a:t>édett</a:t>
            </a:r>
            <a:r>
              <a:rPr lang="hu-HU" dirty="0">
                <a:latin typeface="Courier New" panose="02070309020205020404" pitchFamily="49" charset="0"/>
                <a:cs typeface="Courier New" panose="02070309020205020404" pitchFamily="49" charset="0"/>
              </a:rPr>
              <a:t> metódus</a:t>
            </a:r>
            <a:endParaRP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579425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err="1">
                <a:latin typeface="Courier New" panose="02070309020205020404" pitchFamily="49" charset="0"/>
                <a:cs typeface="Courier New" panose="02070309020205020404" pitchFamily="49" charset="0"/>
              </a:rPr>
              <a:t>Vij</a:t>
            </a:r>
            <a:r>
              <a:rPr lang="hu-HU" dirty="0">
                <a:latin typeface="Courier New" panose="02070309020205020404" pitchFamily="49" charset="0"/>
                <a:cs typeface="Courier New" panose="02070309020205020404" pitchFamily="49" charset="0"/>
              </a:rPr>
              <a:t> = 1		- publikus attribútum</a:t>
            </a:r>
          </a:p>
          <a:p>
            <a:pPr marL="0" lvl="0" indent="0" algn="l" rtl="0">
              <a:spcBef>
                <a:spcPts val="0"/>
              </a:spcBef>
              <a:spcAft>
                <a:spcPts val="0"/>
              </a:spcAft>
              <a:buNone/>
            </a:pPr>
            <a:r>
              <a:rPr lang="hu-HU" dirty="0" err="1">
                <a:latin typeface="Courier New" panose="02070309020205020404" pitchFamily="49" charset="0"/>
                <a:cs typeface="Courier New" panose="02070309020205020404" pitchFamily="49" charset="0"/>
              </a:rPr>
              <a:t>Vij</a:t>
            </a:r>
            <a:r>
              <a:rPr lang="hu-HU" dirty="0">
                <a:latin typeface="Courier New" panose="02070309020205020404" pitchFamily="49" charset="0"/>
                <a:cs typeface="Courier New" panose="02070309020205020404" pitchFamily="49" charset="0"/>
              </a:rPr>
              <a:t> = 1/TC		- privát attribútum</a:t>
            </a:r>
          </a:p>
          <a:p>
            <a:pPr marL="0" lvl="0" indent="0" algn="l" rtl="0">
              <a:spcBef>
                <a:spcPts val="0"/>
              </a:spcBef>
              <a:spcAft>
                <a:spcPts val="0"/>
              </a:spcAft>
              <a:buNone/>
            </a:pPr>
            <a:r>
              <a:rPr lang="hu-HU" dirty="0" err="1">
                <a:latin typeface="Courier New" panose="02070309020205020404" pitchFamily="49" charset="0"/>
                <a:cs typeface="Courier New" panose="02070309020205020404" pitchFamily="49" charset="0"/>
              </a:rPr>
              <a:t>Vij</a:t>
            </a:r>
            <a:r>
              <a:rPr lang="hu-HU" dirty="0">
                <a:latin typeface="Courier New" panose="02070309020205020404" pitchFamily="49" charset="0"/>
                <a:cs typeface="Courier New" panose="02070309020205020404" pitchFamily="49" charset="0"/>
              </a:rPr>
              <a:t> = (1+DCi)/TC	- védett attribútum</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3674526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475913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879190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2568278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It is desirable that classes communicate with as few other classes as possible, and that they exchange as little information as possible. Coupling relations increase complexity, reduce encapsulation and potential reuse, and limit understandability and maintainability. Also, coupling in software systems has a strong negative impact on software quality, and therefore should be kept to the minimum during the design phase. However, for a given application, classes must cooperate to deliver some kind of functionality. Therefore, COF is expected to be lower bounded</a:t>
            </a:r>
            <a:endParaRP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478147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5ed75ccf_01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914400" y="4279286"/>
            <a:ext cx="7212600" cy="1546500"/>
          </a:xfrm>
          <a:prstGeom prst="rect">
            <a:avLst/>
          </a:prstGeom>
        </p:spPr>
        <p:txBody>
          <a:bodyPr spcFirstLastPara="1" wrap="square" lIns="91425" tIns="91425" rIns="91425" bIns="91425" anchor="b" anchorCtr="0"/>
          <a:lstStyle>
            <a:lvl1pPr lvl="0">
              <a:spcBef>
                <a:spcPts val="0"/>
              </a:spcBef>
              <a:spcAft>
                <a:spcPts val="0"/>
              </a:spcAft>
              <a:buSzPts val="5000"/>
              <a:buNone/>
              <a:defRPr sz="5000" b="1"/>
            </a:lvl1pPr>
            <a:lvl2pPr lvl="1">
              <a:spcBef>
                <a:spcPts val="0"/>
              </a:spcBef>
              <a:spcAft>
                <a:spcPts val="0"/>
              </a:spcAft>
              <a:buSzPts val="5000"/>
              <a:buNone/>
              <a:defRPr sz="5000" b="1"/>
            </a:lvl2pPr>
            <a:lvl3pPr lvl="2">
              <a:spcBef>
                <a:spcPts val="0"/>
              </a:spcBef>
              <a:spcAft>
                <a:spcPts val="0"/>
              </a:spcAft>
              <a:buSzPts val="5000"/>
              <a:buNone/>
              <a:defRPr sz="5000" b="1"/>
            </a:lvl3pPr>
            <a:lvl4pPr lvl="3">
              <a:spcBef>
                <a:spcPts val="0"/>
              </a:spcBef>
              <a:spcAft>
                <a:spcPts val="0"/>
              </a:spcAft>
              <a:buSzPts val="5000"/>
              <a:buNone/>
              <a:defRPr sz="5000" b="1"/>
            </a:lvl4pPr>
            <a:lvl5pPr lvl="4">
              <a:spcBef>
                <a:spcPts val="0"/>
              </a:spcBef>
              <a:spcAft>
                <a:spcPts val="0"/>
              </a:spcAft>
              <a:buSzPts val="5000"/>
              <a:buNone/>
              <a:defRPr sz="5000" b="1"/>
            </a:lvl5pPr>
            <a:lvl6pPr lvl="5">
              <a:spcBef>
                <a:spcPts val="0"/>
              </a:spcBef>
              <a:spcAft>
                <a:spcPts val="0"/>
              </a:spcAft>
              <a:buSzPts val="5000"/>
              <a:buNone/>
              <a:defRPr sz="5000" b="1"/>
            </a:lvl6pPr>
            <a:lvl7pPr lvl="6">
              <a:spcBef>
                <a:spcPts val="0"/>
              </a:spcBef>
              <a:spcAft>
                <a:spcPts val="0"/>
              </a:spcAft>
              <a:buSzPts val="5000"/>
              <a:buNone/>
              <a:defRPr sz="5000" b="1"/>
            </a:lvl7pPr>
            <a:lvl8pPr lvl="7">
              <a:spcBef>
                <a:spcPts val="0"/>
              </a:spcBef>
              <a:spcAft>
                <a:spcPts val="0"/>
              </a:spcAft>
              <a:buSzPts val="5000"/>
              <a:buNone/>
              <a:defRPr sz="5000" b="1"/>
            </a:lvl8pPr>
            <a:lvl9pPr lvl="8">
              <a:spcBef>
                <a:spcPts val="0"/>
              </a:spcBef>
              <a:spcAft>
                <a:spcPts val="0"/>
              </a:spcAft>
              <a:buSzPts val="5000"/>
              <a:buNone/>
              <a:defRPr sz="5000" b="1"/>
            </a:lvl9pPr>
          </a:lstStyle>
          <a:p>
            <a:endParaRPr/>
          </a:p>
        </p:txBody>
      </p:sp>
      <p:sp>
        <p:nvSpPr>
          <p:cNvPr id="13" name="Google Shape;13;p2"/>
          <p:cNvSpPr/>
          <p:nvPr/>
        </p:nvSpPr>
        <p:spPr>
          <a:xfrm rot="5400000">
            <a:off x="4511746" y="2218169"/>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4" name="Google Shape;14;p2"/>
          <p:cNvSpPr/>
          <p:nvPr/>
        </p:nvSpPr>
        <p:spPr>
          <a:xfrm rot="10800000">
            <a:off x="671075" y="4860025"/>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8365300" y="3066475"/>
            <a:ext cx="0" cy="2766900"/>
          </a:xfrm>
          <a:prstGeom prst="straightConnector1">
            <a:avLst/>
          </a:prstGeom>
          <a:noFill/>
          <a:ln w="9525" cap="flat" cmpd="sng">
            <a:solidFill>
              <a:srgbClr val="FFFFFF"/>
            </a:solidFill>
            <a:prstDash val="solid"/>
            <a:round/>
            <a:headEnd type="triangle" w="sm" len="sm"/>
            <a:tailEnd type="triangle" w="sm" len="sm"/>
          </a:ln>
        </p:spPr>
      </p:cxnSp>
      <p:sp>
        <p:nvSpPr>
          <p:cNvPr id="16" name="Google Shape;16;p2"/>
          <p:cNvSpPr/>
          <p:nvPr/>
        </p:nvSpPr>
        <p:spPr>
          <a:xfrm rot="-5400000">
            <a:off x="4510271" y="-439081"/>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dashDot"/>
            <a:miter lim="8000"/>
            <a:headEnd type="none" w="med" len="med"/>
            <a:tailEnd type="none" w="med" len="med"/>
          </a:ln>
        </p:spPr>
      </p:sp>
      <p:sp>
        <p:nvSpPr>
          <p:cNvPr id="17" name="Google Shape;17;p2"/>
          <p:cNvSpPr/>
          <p:nvPr/>
        </p:nvSpPr>
        <p:spPr>
          <a:xfrm>
            <a:off x="7039675" y="2497866"/>
            <a:ext cx="1714200" cy="17142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8"/>
        <p:cNvGrpSpPr/>
        <p:nvPr/>
      </p:nvGrpSpPr>
      <p:grpSpPr>
        <a:xfrm>
          <a:off x="0" y="0"/>
          <a:ext cx="0" cy="0"/>
          <a:chOff x="0" y="0"/>
          <a:chExt cx="0" cy="0"/>
        </a:xfrm>
      </p:grpSpPr>
      <p:sp>
        <p:nvSpPr>
          <p:cNvPr id="19" name="Google Shape;19;p3"/>
          <p:cNvSpPr/>
          <p:nvPr/>
        </p:nvSpPr>
        <p:spPr>
          <a:xfrm rot="5400000">
            <a:off x="4511746" y="450463"/>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20" name="Google Shape;20;p3"/>
          <p:cNvSpPr/>
          <p:nvPr/>
        </p:nvSpPr>
        <p:spPr>
          <a:xfrm rot="-5400000">
            <a:off x="663525" y="1362719"/>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8365300" y="1793734"/>
            <a:ext cx="0" cy="2262300"/>
          </a:xfrm>
          <a:prstGeom prst="straightConnector1">
            <a:avLst/>
          </a:prstGeom>
          <a:noFill/>
          <a:ln w="9525" cap="flat" cmpd="sng">
            <a:solidFill>
              <a:srgbClr val="FFFFFF"/>
            </a:solidFill>
            <a:prstDash val="solid"/>
            <a:round/>
            <a:headEnd type="triangle" w="sm" len="sm"/>
            <a:tailEnd type="triangle" w="sm" len="sm"/>
          </a:ln>
        </p:spPr>
      </p:cxnSp>
      <p:sp>
        <p:nvSpPr>
          <p:cNvPr id="22" name="Google Shape;22;p3"/>
          <p:cNvSpPr/>
          <p:nvPr/>
        </p:nvSpPr>
        <p:spPr>
          <a:xfrm rot="-5400000">
            <a:off x="4510271" y="-1711822"/>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dashDot"/>
            <a:miter lim="8000"/>
            <a:headEnd type="none" w="med" len="med"/>
            <a:tailEnd type="none" w="med" len="med"/>
          </a:ln>
        </p:spPr>
      </p:sp>
      <p:sp>
        <p:nvSpPr>
          <p:cNvPr id="23" name="Google Shape;23;p3"/>
          <p:cNvSpPr/>
          <p:nvPr/>
        </p:nvSpPr>
        <p:spPr>
          <a:xfrm rot="5400000">
            <a:off x="6661378" y="3883740"/>
            <a:ext cx="1714200" cy="17142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ctrTitle"/>
          </p:nvPr>
        </p:nvSpPr>
        <p:spPr>
          <a:xfrm>
            <a:off x="921200" y="2012275"/>
            <a:ext cx="7205700" cy="1546500"/>
          </a:xfrm>
          <a:prstGeom prst="rect">
            <a:avLst/>
          </a:prstGeom>
        </p:spPr>
        <p:txBody>
          <a:bodyPr spcFirstLastPara="1" wrap="square" lIns="91425" tIns="91425" rIns="91425" bIns="91425" anchor="t" anchorCtr="0"/>
          <a:lstStyle>
            <a:lvl1pPr lvl="0" rtl="0">
              <a:spcBef>
                <a:spcPts val="0"/>
              </a:spcBef>
              <a:spcAft>
                <a:spcPts val="0"/>
              </a:spcAft>
              <a:buSzPts val="3600"/>
              <a:buNone/>
              <a:defRPr sz="3600" b="1"/>
            </a:lvl1pPr>
            <a:lvl2pPr lvl="1" rtl="0">
              <a:spcBef>
                <a:spcPts val="0"/>
              </a:spcBef>
              <a:spcAft>
                <a:spcPts val="0"/>
              </a:spcAft>
              <a:buSzPts val="3600"/>
              <a:buNone/>
              <a:defRPr sz="3600" b="1"/>
            </a:lvl2pPr>
            <a:lvl3pPr lvl="2" rtl="0">
              <a:spcBef>
                <a:spcPts val="0"/>
              </a:spcBef>
              <a:spcAft>
                <a:spcPts val="0"/>
              </a:spcAft>
              <a:buSzPts val="3600"/>
              <a:buNone/>
              <a:defRPr sz="3600" b="1"/>
            </a:lvl3pPr>
            <a:lvl4pPr lvl="3" rtl="0">
              <a:spcBef>
                <a:spcPts val="0"/>
              </a:spcBef>
              <a:spcAft>
                <a:spcPts val="0"/>
              </a:spcAft>
              <a:buSzPts val="3600"/>
              <a:buNone/>
              <a:defRPr sz="3600" b="1"/>
            </a:lvl4pPr>
            <a:lvl5pPr lvl="4" rtl="0">
              <a:spcBef>
                <a:spcPts val="0"/>
              </a:spcBef>
              <a:spcAft>
                <a:spcPts val="0"/>
              </a:spcAft>
              <a:buSzPts val="3600"/>
              <a:buNone/>
              <a:defRPr sz="3600" b="1"/>
            </a:lvl5pPr>
            <a:lvl6pPr lvl="5" rtl="0">
              <a:spcBef>
                <a:spcPts val="0"/>
              </a:spcBef>
              <a:spcAft>
                <a:spcPts val="0"/>
              </a:spcAft>
              <a:buSzPts val="3600"/>
              <a:buNone/>
              <a:defRPr sz="3600" b="1"/>
            </a:lvl6pPr>
            <a:lvl7pPr lvl="6" rtl="0">
              <a:spcBef>
                <a:spcPts val="0"/>
              </a:spcBef>
              <a:spcAft>
                <a:spcPts val="0"/>
              </a:spcAft>
              <a:buSzPts val="3600"/>
              <a:buNone/>
              <a:defRPr sz="3600" b="1"/>
            </a:lvl7pPr>
            <a:lvl8pPr lvl="7" rtl="0">
              <a:spcBef>
                <a:spcPts val="0"/>
              </a:spcBef>
              <a:spcAft>
                <a:spcPts val="0"/>
              </a:spcAft>
              <a:buSzPts val="3600"/>
              <a:buNone/>
              <a:defRPr sz="3600" b="1"/>
            </a:lvl8pPr>
            <a:lvl9pPr lvl="8" rtl="0">
              <a:spcBef>
                <a:spcPts val="0"/>
              </a:spcBef>
              <a:spcAft>
                <a:spcPts val="0"/>
              </a:spcAft>
              <a:buSzPts val="3600"/>
              <a:buNone/>
              <a:defRPr sz="3600" b="1"/>
            </a:lvl9pPr>
          </a:lstStyle>
          <a:p>
            <a:endParaRPr/>
          </a:p>
        </p:txBody>
      </p:sp>
      <p:sp>
        <p:nvSpPr>
          <p:cNvPr id="25" name="Google Shape;25;p3"/>
          <p:cNvSpPr txBox="1">
            <a:spLocks noGrp="1"/>
          </p:cNvSpPr>
          <p:nvPr>
            <p:ph type="subTitle" idx="1"/>
          </p:nvPr>
        </p:nvSpPr>
        <p:spPr>
          <a:xfrm>
            <a:off x="4698564" y="4145091"/>
            <a:ext cx="3542400" cy="1046400"/>
          </a:xfrm>
          <a:prstGeom prst="rect">
            <a:avLst/>
          </a:prstGeom>
        </p:spPr>
        <p:txBody>
          <a:bodyPr spcFirstLastPara="1" wrap="square" lIns="91425" tIns="91425" rIns="91425" bIns="91425" anchor="t" anchorCtr="0"/>
          <a:lstStyle>
            <a:lvl1pPr lvl="0" algn="r" rtl="0">
              <a:spcBef>
                <a:spcPts val="0"/>
              </a:spcBef>
              <a:spcAft>
                <a:spcPts val="0"/>
              </a:spcAft>
              <a:buClr>
                <a:srgbClr val="FFFFFF"/>
              </a:buClr>
              <a:buSzPts val="1800"/>
              <a:buNone/>
              <a:defRPr sz="180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a:solidFill>
                  <a:srgbClr val="FFFFFF"/>
                </a:solidFill>
              </a:defRPr>
            </a:lvl4pPr>
            <a:lvl5pPr lvl="4" algn="r" rtl="0">
              <a:spcBef>
                <a:spcPts val="0"/>
              </a:spcBef>
              <a:spcAft>
                <a:spcPts val="0"/>
              </a:spcAft>
              <a:buClr>
                <a:srgbClr val="FFFFFF"/>
              </a:buClr>
              <a:buSzPts val="1800"/>
              <a:buNone/>
              <a:defRPr>
                <a:solidFill>
                  <a:srgbClr val="FFFFFF"/>
                </a:solidFill>
              </a:defRPr>
            </a:lvl5pPr>
            <a:lvl6pPr lvl="5" algn="r" rtl="0">
              <a:spcBef>
                <a:spcPts val="0"/>
              </a:spcBef>
              <a:spcAft>
                <a:spcPts val="0"/>
              </a:spcAft>
              <a:buClr>
                <a:srgbClr val="FFFFFF"/>
              </a:buClr>
              <a:buSzPts val="1800"/>
              <a:buNone/>
              <a:defRPr>
                <a:solidFill>
                  <a:srgbClr val="FFFFFF"/>
                </a:solidFill>
              </a:defRPr>
            </a:lvl6pPr>
            <a:lvl7pPr lvl="6" algn="r" rtl="0">
              <a:spcBef>
                <a:spcPts val="0"/>
              </a:spcBef>
              <a:spcAft>
                <a:spcPts val="0"/>
              </a:spcAft>
              <a:buClr>
                <a:srgbClr val="FFFFFF"/>
              </a:buClr>
              <a:buSzPts val="1800"/>
              <a:buNone/>
              <a:defRPr>
                <a:solidFill>
                  <a:srgbClr val="FFFFFF"/>
                </a:solidFill>
              </a:defRPr>
            </a:lvl7pPr>
            <a:lvl8pPr lvl="7" algn="r" rtl="0">
              <a:spcBef>
                <a:spcPts val="0"/>
              </a:spcBef>
              <a:spcAft>
                <a:spcPts val="0"/>
              </a:spcAft>
              <a:buClr>
                <a:srgbClr val="FFFFFF"/>
              </a:buClr>
              <a:buSzPts val="1800"/>
              <a:buNone/>
              <a:defRPr>
                <a:solidFill>
                  <a:srgbClr val="FFFFFF"/>
                </a:solidFill>
              </a:defRPr>
            </a:lvl8pPr>
            <a:lvl9pPr lvl="8" algn="r" rtl="0">
              <a:spcBef>
                <a:spcPts val="0"/>
              </a:spcBef>
              <a:spcAft>
                <a:spcPts val="0"/>
              </a:spcAft>
              <a:buClr>
                <a:srgbClr val="FFFFFF"/>
              </a:buClr>
              <a:buSzPts val="1800"/>
              <a:buNone/>
              <a:defRPr>
                <a:solidFill>
                  <a:srgbClr val="FFFFFF"/>
                </a:solidFill>
              </a:defRPr>
            </a:lvl9pPr>
          </a:lstStyle>
          <a:p>
            <a:endParaRPr/>
          </a:p>
        </p:txBody>
      </p:sp>
      <p:sp>
        <p:nvSpPr>
          <p:cNvPr id="26" name="Google Shape;26;p3"/>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7"/>
        <p:cNvGrpSpPr/>
        <p:nvPr/>
      </p:nvGrpSpPr>
      <p:grpSpPr>
        <a:xfrm>
          <a:off x="0" y="0"/>
          <a:ext cx="0" cy="0"/>
          <a:chOff x="0" y="0"/>
          <a:chExt cx="0" cy="0"/>
        </a:xfrm>
      </p:grpSpPr>
      <p:sp>
        <p:nvSpPr>
          <p:cNvPr id="28" name="Google Shape;28;p4"/>
          <p:cNvSpPr txBox="1">
            <a:spLocks noGrp="1"/>
          </p:cNvSpPr>
          <p:nvPr>
            <p:ph type="body" idx="1"/>
          </p:nvPr>
        </p:nvSpPr>
        <p:spPr>
          <a:xfrm>
            <a:off x="1413600" y="3187200"/>
            <a:ext cx="6316800" cy="1093200"/>
          </a:xfrm>
          <a:prstGeom prst="rect">
            <a:avLst/>
          </a:prstGeom>
        </p:spPr>
        <p:txBody>
          <a:bodyPr spcFirstLastPara="1" wrap="square" lIns="91425" tIns="91425" rIns="91425" bIns="91425" anchor="t" anchorCtr="0"/>
          <a:lstStyle>
            <a:lvl1pPr marL="457200" lvl="0" indent="-381000" algn="ctr" rtl="0">
              <a:spcBef>
                <a:spcPts val="600"/>
              </a:spcBef>
              <a:spcAft>
                <a:spcPts val="0"/>
              </a:spcAft>
              <a:buSzPts val="2400"/>
              <a:buChar char="▪"/>
              <a:defRPr sz="2400" b="1"/>
            </a:lvl1pPr>
            <a:lvl2pPr marL="914400" lvl="1" indent="-381000" algn="ctr" rtl="0">
              <a:spcBef>
                <a:spcPts val="0"/>
              </a:spcBef>
              <a:spcAft>
                <a:spcPts val="0"/>
              </a:spcAft>
              <a:buSzPts val="2400"/>
              <a:buChar char="▫"/>
              <a:defRPr b="1"/>
            </a:lvl2pPr>
            <a:lvl3pPr marL="1371600" lvl="2" indent="-381000" algn="ctr" rtl="0">
              <a:spcBef>
                <a:spcPts val="0"/>
              </a:spcBef>
              <a:spcAft>
                <a:spcPts val="0"/>
              </a:spcAft>
              <a:buSzPts val="2400"/>
              <a:buChar char="■"/>
              <a:defRPr b="1"/>
            </a:lvl3pPr>
            <a:lvl4pPr marL="1828800" lvl="3" indent="-381000" algn="ctr" rtl="0">
              <a:spcBef>
                <a:spcPts val="0"/>
              </a:spcBef>
              <a:spcAft>
                <a:spcPts val="0"/>
              </a:spcAft>
              <a:buSzPts val="2400"/>
              <a:buChar char="●"/>
              <a:defRPr sz="2400" b="1"/>
            </a:lvl4pPr>
            <a:lvl5pPr marL="2286000" lvl="4" indent="-381000" algn="ctr" rtl="0">
              <a:spcBef>
                <a:spcPts val="0"/>
              </a:spcBef>
              <a:spcAft>
                <a:spcPts val="0"/>
              </a:spcAft>
              <a:buSzPts val="2400"/>
              <a:buChar char="○"/>
              <a:defRPr sz="2400" b="1"/>
            </a:lvl5pPr>
            <a:lvl6pPr marL="2743200" lvl="5" indent="-381000" algn="ctr" rtl="0">
              <a:spcBef>
                <a:spcPts val="0"/>
              </a:spcBef>
              <a:spcAft>
                <a:spcPts val="0"/>
              </a:spcAft>
              <a:buSzPts val="2400"/>
              <a:buChar char="■"/>
              <a:defRPr sz="2400" b="1"/>
            </a:lvl6pPr>
            <a:lvl7pPr marL="3200400" lvl="6" indent="-381000" algn="ctr" rtl="0">
              <a:spcBef>
                <a:spcPts val="0"/>
              </a:spcBef>
              <a:spcAft>
                <a:spcPts val="0"/>
              </a:spcAft>
              <a:buSzPts val="2400"/>
              <a:buChar char="●"/>
              <a:defRPr sz="2400" b="1"/>
            </a:lvl7pPr>
            <a:lvl8pPr marL="3657600" lvl="7" indent="-381000" algn="ctr" rtl="0">
              <a:spcBef>
                <a:spcPts val="0"/>
              </a:spcBef>
              <a:spcAft>
                <a:spcPts val="0"/>
              </a:spcAft>
              <a:buSzPts val="2400"/>
              <a:buChar char="○"/>
              <a:defRPr sz="2400" b="1"/>
            </a:lvl8pPr>
            <a:lvl9pPr marL="4114800" lvl="8" indent="-381000" algn="ctr">
              <a:spcBef>
                <a:spcPts val="0"/>
              </a:spcBef>
              <a:spcAft>
                <a:spcPts val="0"/>
              </a:spcAft>
              <a:buSzPts val="2400"/>
              <a:buChar char="■"/>
              <a:defRPr sz="2400" b="1"/>
            </a:lvl9pPr>
          </a:lstStyle>
          <a:p>
            <a:endParaRPr/>
          </a:p>
        </p:txBody>
      </p:sp>
      <p:grpSp>
        <p:nvGrpSpPr>
          <p:cNvPr id="29" name="Google Shape;29;p4"/>
          <p:cNvGrpSpPr/>
          <p:nvPr/>
        </p:nvGrpSpPr>
        <p:grpSpPr>
          <a:xfrm>
            <a:off x="3770056" y="1437725"/>
            <a:ext cx="1580939" cy="1544725"/>
            <a:chOff x="3754950" y="1132925"/>
            <a:chExt cx="1580939" cy="1544725"/>
          </a:xfrm>
        </p:grpSpPr>
        <p:sp>
          <p:nvSpPr>
            <p:cNvPr id="30" name="Google Shape;30;p4"/>
            <p:cNvSpPr/>
            <p:nvPr/>
          </p:nvSpPr>
          <p:spPr>
            <a:xfrm>
              <a:off x="3907350" y="1285321"/>
              <a:ext cx="1329300" cy="1329300"/>
            </a:xfrm>
            <a:prstGeom prst="ellipse">
              <a:avLst/>
            </a:prstGeom>
            <a:noFill/>
            <a:ln w="9525"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rot="-5400000">
              <a:off x="3754950" y="1132925"/>
              <a:ext cx="1480500" cy="14805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 name="Google Shape;32;p4"/>
            <p:cNvCxnSpPr>
              <a:endCxn id="30" idx="1"/>
            </p:cNvCxnSpPr>
            <p:nvPr/>
          </p:nvCxnSpPr>
          <p:spPr>
            <a:xfrm>
              <a:off x="3890221" y="1268193"/>
              <a:ext cx="211800" cy="211800"/>
            </a:xfrm>
            <a:prstGeom prst="straightConnector1">
              <a:avLst/>
            </a:prstGeom>
            <a:noFill/>
            <a:ln w="9525" cap="flat" cmpd="sng">
              <a:solidFill>
                <a:srgbClr val="FFFFFF"/>
              </a:solidFill>
              <a:prstDash val="dash"/>
              <a:round/>
              <a:headEnd type="none" w="med" len="med"/>
              <a:tailEnd type="none" w="med" len="med"/>
            </a:ln>
          </p:spPr>
        </p:cxnSp>
        <p:cxnSp>
          <p:nvCxnSpPr>
            <p:cNvPr id="33" name="Google Shape;33;p4"/>
            <p:cNvCxnSpPr/>
            <p:nvPr/>
          </p:nvCxnSpPr>
          <p:spPr>
            <a:xfrm>
              <a:off x="5335889" y="1276425"/>
              <a:ext cx="0" cy="1393500"/>
            </a:xfrm>
            <a:prstGeom prst="straightConnector1">
              <a:avLst/>
            </a:prstGeom>
            <a:noFill/>
            <a:ln w="9525" cap="flat" cmpd="sng">
              <a:solidFill>
                <a:srgbClr val="FFFFFF"/>
              </a:solidFill>
              <a:prstDash val="solid"/>
              <a:round/>
              <a:headEnd type="triangle" w="sm" len="sm"/>
              <a:tailEnd type="triangle" w="sm" len="sm"/>
            </a:ln>
          </p:spPr>
        </p:cxnSp>
        <p:sp>
          <p:nvSpPr>
            <p:cNvPr id="34" name="Google Shape;34;p4"/>
            <p:cNvSpPr/>
            <p:nvPr/>
          </p:nvSpPr>
          <p:spPr>
            <a:xfrm>
              <a:off x="4222975" y="1683233"/>
              <a:ext cx="698050" cy="549925"/>
            </a:xfrm>
            <a:prstGeom prst="rect">
              <a:avLst/>
            </a:prstGeom>
          </p:spPr>
          <p:txBody>
            <a:bodyPr>
              <a:prstTxWarp prst="textPlain">
                <a:avLst/>
              </a:prstTxWarp>
            </a:bodyPr>
            <a:lstStyle/>
            <a:p>
              <a:pPr lvl="0" algn="ctr"/>
              <a:r>
                <a:rPr b="1" i="0">
                  <a:ln w="19050" cap="flat" cmpd="sng">
                    <a:solidFill>
                      <a:srgbClr val="FFFFFF"/>
                    </a:solidFill>
                    <a:prstDash val="solid"/>
                    <a:round/>
                    <a:headEnd type="none" w="sm" len="sm"/>
                    <a:tailEnd type="none" w="sm" len="sm"/>
                  </a:ln>
                  <a:noFill/>
                  <a:latin typeface="Arial"/>
                </a:rPr>
                <a:t>“</a:t>
              </a:r>
            </a:p>
          </p:txBody>
        </p:sp>
        <p:cxnSp>
          <p:nvCxnSpPr>
            <p:cNvPr id="35" name="Google Shape;35;p4"/>
            <p:cNvCxnSpPr>
              <a:stCxn id="30" idx="5"/>
            </p:cNvCxnSpPr>
            <p:nvPr/>
          </p:nvCxnSpPr>
          <p:spPr>
            <a:xfrm>
              <a:off x="5041979" y="2419950"/>
              <a:ext cx="253800" cy="257700"/>
            </a:xfrm>
            <a:prstGeom prst="straightConnector1">
              <a:avLst/>
            </a:prstGeom>
            <a:noFill/>
            <a:ln w="9525" cap="flat" cmpd="sng">
              <a:solidFill>
                <a:srgbClr val="FFFFFF"/>
              </a:solidFill>
              <a:prstDash val="dash"/>
              <a:round/>
              <a:headEnd type="none" w="med" len="med"/>
              <a:tailEnd type="none" w="med" len="med"/>
            </a:ln>
          </p:spPr>
        </p:cxnSp>
        <p:cxnSp>
          <p:nvCxnSpPr>
            <p:cNvPr id="36" name="Google Shape;36;p4"/>
            <p:cNvCxnSpPr/>
            <p:nvPr/>
          </p:nvCxnSpPr>
          <p:spPr>
            <a:xfrm>
              <a:off x="4244700" y="1591869"/>
              <a:ext cx="654600" cy="0"/>
            </a:xfrm>
            <a:prstGeom prst="straightConnector1">
              <a:avLst/>
            </a:prstGeom>
            <a:noFill/>
            <a:ln w="9525" cap="flat" cmpd="sng">
              <a:solidFill>
                <a:srgbClr val="FFFFFF"/>
              </a:solidFill>
              <a:prstDash val="solid"/>
              <a:round/>
              <a:headEnd type="triangle" w="sm" len="sm"/>
              <a:tailEnd type="triangle" w="sm" len="sm"/>
            </a:ln>
          </p:spPr>
        </p:cxnSp>
      </p:grpSp>
      <p:sp>
        <p:nvSpPr>
          <p:cNvPr id="37" name="Google Shape;37;p4"/>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
        <p:nvSpPr>
          <p:cNvPr id="40" name="Google Shape;40;p5"/>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1" name="Google Shape;41;p5"/>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0"/>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a:endParaRPr/>
          </a:p>
        </p:txBody>
      </p:sp>
      <p:sp>
        <p:nvSpPr>
          <p:cNvPr id="49" name="Google Shape;49;p7"/>
          <p:cNvSpPr txBox="1">
            <a:spLocks noGrp="1"/>
          </p:cNvSpPr>
          <p:nvPr>
            <p:ph type="body" idx="1"/>
          </p:nvPr>
        </p:nvSpPr>
        <p:spPr>
          <a:xfrm>
            <a:off x="457200" y="1645524"/>
            <a:ext cx="2631900" cy="44646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0" name="Google Shape;50;p7"/>
          <p:cNvSpPr txBox="1">
            <a:spLocks noGrp="1"/>
          </p:cNvSpPr>
          <p:nvPr>
            <p:ph type="body" idx="2"/>
          </p:nvPr>
        </p:nvSpPr>
        <p:spPr>
          <a:xfrm>
            <a:off x="3223964" y="1645524"/>
            <a:ext cx="2631900" cy="44646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1" name="Google Shape;51;p7"/>
          <p:cNvSpPr txBox="1">
            <a:spLocks noGrp="1"/>
          </p:cNvSpPr>
          <p:nvPr>
            <p:ph type="body" idx="3"/>
          </p:nvPr>
        </p:nvSpPr>
        <p:spPr>
          <a:xfrm>
            <a:off x="5990727" y="1645524"/>
            <a:ext cx="2631900" cy="44646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2" name="Google Shape;52;p7"/>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2133869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914400" y="4279286"/>
            <a:ext cx="7212600" cy="1546500"/>
          </a:xfrm>
          <a:prstGeom prst="rect">
            <a:avLst/>
          </a:prstGeom>
        </p:spPr>
        <p:txBody>
          <a:bodyPr spcFirstLastPara="1" wrap="square" lIns="91425" tIns="91425" rIns="91425" bIns="91425" anchor="b" anchorCtr="0"/>
          <a:lstStyle>
            <a:lvl1pPr lvl="0">
              <a:spcBef>
                <a:spcPts val="0"/>
              </a:spcBef>
              <a:spcAft>
                <a:spcPts val="0"/>
              </a:spcAft>
              <a:buSzPts val="5000"/>
              <a:buNone/>
              <a:defRPr sz="5000" b="1"/>
            </a:lvl1pPr>
            <a:lvl2pPr lvl="1">
              <a:spcBef>
                <a:spcPts val="0"/>
              </a:spcBef>
              <a:spcAft>
                <a:spcPts val="0"/>
              </a:spcAft>
              <a:buSzPts val="5000"/>
              <a:buNone/>
              <a:defRPr sz="5000" b="1"/>
            </a:lvl2pPr>
            <a:lvl3pPr lvl="2">
              <a:spcBef>
                <a:spcPts val="0"/>
              </a:spcBef>
              <a:spcAft>
                <a:spcPts val="0"/>
              </a:spcAft>
              <a:buSzPts val="5000"/>
              <a:buNone/>
              <a:defRPr sz="5000" b="1"/>
            </a:lvl3pPr>
            <a:lvl4pPr lvl="3">
              <a:spcBef>
                <a:spcPts val="0"/>
              </a:spcBef>
              <a:spcAft>
                <a:spcPts val="0"/>
              </a:spcAft>
              <a:buSzPts val="5000"/>
              <a:buNone/>
              <a:defRPr sz="5000" b="1"/>
            </a:lvl4pPr>
            <a:lvl5pPr lvl="4">
              <a:spcBef>
                <a:spcPts val="0"/>
              </a:spcBef>
              <a:spcAft>
                <a:spcPts val="0"/>
              </a:spcAft>
              <a:buSzPts val="5000"/>
              <a:buNone/>
              <a:defRPr sz="5000" b="1"/>
            </a:lvl5pPr>
            <a:lvl6pPr lvl="5">
              <a:spcBef>
                <a:spcPts val="0"/>
              </a:spcBef>
              <a:spcAft>
                <a:spcPts val="0"/>
              </a:spcAft>
              <a:buSzPts val="5000"/>
              <a:buNone/>
              <a:defRPr sz="5000" b="1"/>
            </a:lvl6pPr>
            <a:lvl7pPr lvl="6">
              <a:spcBef>
                <a:spcPts val="0"/>
              </a:spcBef>
              <a:spcAft>
                <a:spcPts val="0"/>
              </a:spcAft>
              <a:buSzPts val="5000"/>
              <a:buNone/>
              <a:defRPr sz="5000" b="1"/>
            </a:lvl7pPr>
            <a:lvl8pPr lvl="7">
              <a:spcBef>
                <a:spcPts val="0"/>
              </a:spcBef>
              <a:spcAft>
                <a:spcPts val="0"/>
              </a:spcAft>
              <a:buSzPts val="5000"/>
              <a:buNone/>
              <a:defRPr sz="5000" b="1"/>
            </a:lvl8pPr>
            <a:lvl9pPr lvl="8">
              <a:spcBef>
                <a:spcPts val="0"/>
              </a:spcBef>
              <a:spcAft>
                <a:spcPts val="0"/>
              </a:spcAft>
              <a:buSzPts val="5000"/>
              <a:buNone/>
              <a:defRPr sz="5000" b="1"/>
            </a:lvl9pPr>
          </a:lstStyle>
          <a:p>
            <a:endParaRPr/>
          </a:p>
        </p:txBody>
      </p:sp>
      <p:sp>
        <p:nvSpPr>
          <p:cNvPr id="13" name="Google Shape;13;p2"/>
          <p:cNvSpPr/>
          <p:nvPr/>
        </p:nvSpPr>
        <p:spPr>
          <a:xfrm rot="5400000">
            <a:off x="4511746" y="2218169"/>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4" name="Google Shape;14;p2"/>
          <p:cNvSpPr/>
          <p:nvPr/>
        </p:nvSpPr>
        <p:spPr>
          <a:xfrm rot="10800000">
            <a:off x="671075" y="4860025"/>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8365300" y="3066475"/>
            <a:ext cx="0" cy="2766900"/>
          </a:xfrm>
          <a:prstGeom prst="straightConnector1">
            <a:avLst/>
          </a:prstGeom>
          <a:noFill/>
          <a:ln w="9525" cap="flat" cmpd="sng">
            <a:solidFill>
              <a:srgbClr val="FFFFFF"/>
            </a:solidFill>
            <a:prstDash val="solid"/>
            <a:round/>
            <a:headEnd type="triangle" w="sm" len="sm"/>
            <a:tailEnd type="triangle" w="sm" len="sm"/>
          </a:ln>
        </p:spPr>
      </p:cxnSp>
      <p:sp>
        <p:nvSpPr>
          <p:cNvPr id="16" name="Google Shape;16;p2"/>
          <p:cNvSpPr/>
          <p:nvPr/>
        </p:nvSpPr>
        <p:spPr>
          <a:xfrm rot="-5400000">
            <a:off x="4510271" y="-439081"/>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dashDot"/>
            <a:miter lim="8000"/>
            <a:headEnd type="none" w="med" len="med"/>
            <a:tailEnd type="none" w="med" len="med"/>
          </a:ln>
        </p:spPr>
      </p:sp>
      <p:sp>
        <p:nvSpPr>
          <p:cNvPr id="17" name="Google Shape;17;p2"/>
          <p:cNvSpPr/>
          <p:nvPr/>
        </p:nvSpPr>
        <p:spPr>
          <a:xfrm>
            <a:off x="7039675" y="2497866"/>
            <a:ext cx="1714200" cy="17142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6027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8"/>
        <p:cNvGrpSpPr/>
        <p:nvPr/>
      </p:nvGrpSpPr>
      <p:grpSpPr>
        <a:xfrm>
          <a:off x="0" y="0"/>
          <a:ext cx="0" cy="0"/>
          <a:chOff x="0" y="0"/>
          <a:chExt cx="0" cy="0"/>
        </a:xfrm>
      </p:grpSpPr>
      <p:sp>
        <p:nvSpPr>
          <p:cNvPr id="19" name="Google Shape;19;p3"/>
          <p:cNvSpPr/>
          <p:nvPr/>
        </p:nvSpPr>
        <p:spPr>
          <a:xfrm rot="5400000">
            <a:off x="4511746" y="450463"/>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20" name="Google Shape;20;p3"/>
          <p:cNvSpPr/>
          <p:nvPr/>
        </p:nvSpPr>
        <p:spPr>
          <a:xfrm rot="-5400000">
            <a:off x="663525" y="1362719"/>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 name="Google Shape;21;p3"/>
          <p:cNvCxnSpPr/>
          <p:nvPr/>
        </p:nvCxnSpPr>
        <p:spPr>
          <a:xfrm>
            <a:off x="8365300" y="1793734"/>
            <a:ext cx="0" cy="2262300"/>
          </a:xfrm>
          <a:prstGeom prst="straightConnector1">
            <a:avLst/>
          </a:prstGeom>
          <a:noFill/>
          <a:ln w="9525" cap="flat" cmpd="sng">
            <a:solidFill>
              <a:srgbClr val="FFFFFF"/>
            </a:solidFill>
            <a:prstDash val="solid"/>
            <a:round/>
            <a:headEnd type="triangle" w="sm" len="sm"/>
            <a:tailEnd type="triangle" w="sm" len="sm"/>
          </a:ln>
        </p:spPr>
      </p:cxnSp>
      <p:sp>
        <p:nvSpPr>
          <p:cNvPr id="22" name="Google Shape;22;p3"/>
          <p:cNvSpPr/>
          <p:nvPr/>
        </p:nvSpPr>
        <p:spPr>
          <a:xfrm rot="-5400000">
            <a:off x="4510271" y="-1711822"/>
            <a:ext cx="123450" cy="7106862"/>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dashDot"/>
            <a:miter lim="8000"/>
            <a:headEnd type="none" w="med" len="med"/>
            <a:tailEnd type="none" w="med" len="med"/>
          </a:ln>
        </p:spPr>
      </p:sp>
      <p:sp>
        <p:nvSpPr>
          <p:cNvPr id="23" name="Google Shape;23;p3"/>
          <p:cNvSpPr/>
          <p:nvPr/>
        </p:nvSpPr>
        <p:spPr>
          <a:xfrm rot="5400000">
            <a:off x="6661378" y="3883740"/>
            <a:ext cx="1714200" cy="17142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txBox="1">
            <a:spLocks noGrp="1"/>
          </p:cNvSpPr>
          <p:nvPr>
            <p:ph type="ctrTitle"/>
          </p:nvPr>
        </p:nvSpPr>
        <p:spPr>
          <a:xfrm>
            <a:off x="921200" y="2012275"/>
            <a:ext cx="7205700" cy="1546500"/>
          </a:xfrm>
          <a:prstGeom prst="rect">
            <a:avLst/>
          </a:prstGeom>
        </p:spPr>
        <p:txBody>
          <a:bodyPr spcFirstLastPara="1" wrap="square" lIns="91425" tIns="91425" rIns="91425" bIns="91425" anchor="t" anchorCtr="0"/>
          <a:lstStyle>
            <a:lvl1pPr lvl="0" rtl="0">
              <a:spcBef>
                <a:spcPts val="0"/>
              </a:spcBef>
              <a:spcAft>
                <a:spcPts val="0"/>
              </a:spcAft>
              <a:buSzPts val="3600"/>
              <a:buNone/>
              <a:defRPr sz="3600" b="1"/>
            </a:lvl1pPr>
            <a:lvl2pPr lvl="1" rtl="0">
              <a:spcBef>
                <a:spcPts val="0"/>
              </a:spcBef>
              <a:spcAft>
                <a:spcPts val="0"/>
              </a:spcAft>
              <a:buSzPts val="3600"/>
              <a:buNone/>
              <a:defRPr sz="3600" b="1"/>
            </a:lvl2pPr>
            <a:lvl3pPr lvl="2" rtl="0">
              <a:spcBef>
                <a:spcPts val="0"/>
              </a:spcBef>
              <a:spcAft>
                <a:spcPts val="0"/>
              </a:spcAft>
              <a:buSzPts val="3600"/>
              <a:buNone/>
              <a:defRPr sz="3600" b="1"/>
            </a:lvl3pPr>
            <a:lvl4pPr lvl="3" rtl="0">
              <a:spcBef>
                <a:spcPts val="0"/>
              </a:spcBef>
              <a:spcAft>
                <a:spcPts val="0"/>
              </a:spcAft>
              <a:buSzPts val="3600"/>
              <a:buNone/>
              <a:defRPr sz="3600" b="1"/>
            </a:lvl4pPr>
            <a:lvl5pPr lvl="4" rtl="0">
              <a:spcBef>
                <a:spcPts val="0"/>
              </a:spcBef>
              <a:spcAft>
                <a:spcPts val="0"/>
              </a:spcAft>
              <a:buSzPts val="3600"/>
              <a:buNone/>
              <a:defRPr sz="3600" b="1"/>
            </a:lvl5pPr>
            <a:lvl6pPr lvl="5" rtl="0">
              <a:spcBef>
                <a:spcPts val="0"/>
              </a:spcBef>
              <a:spcAft>
                <a:spcPts val="0"/>
              </a:spcAft>
              <a:buSzPts val="3600"/>
              <a:buNone/>
              <a:defRPr sz="3600" b="1"/>
            </a:lvl6pPr>
            <a:lvl7pPr lvl="6" rtl="0">
              <a:spcBef>
                <a:spcPts val="0"/>
              </a:spcBef>
              <a:spcAft>
                <a:spcPts val="0"/>
              </a:spcAft>
              <a:buSzPts val="3600"/>
              <a:buNone/>
              <a:defRPr sz="3600" b="1"/>
            </a:lvl7pPr>
            <a:lvl8pPr lvl="7" rtl="0">
              <a:spcBef>
                <a:spcPts val="0"/>
              </a:spcBef>
              <a:spcAft>
                <a:spcPts val="0"/>
              </a:spcAft>
              <a:buSzPts val="3600"/>
              <a:buNone/>
              <a:defRPr sz="3600" b="1"/>
            </a:lvl8pPr>
            <a:lvl9pPr lvl="8" rtl="0">
              <a:spcBef>
                <a:spcPts val="0"/>
              </a:spcBef>
              <a:spcAft>
                <a:spcPts val="0"/>
              </a:spcAft>
              <a:buSzPts val="3600"/>
              <a:buNone/>
              <a:defRPr sz="3600" b="1"/>
            </a:lvl9pPr>
          </a:lstStyle>
          <a:p>
            <a:endParaRPr/>
          </a:p>
        </p:txBody>
      </p:sp>
      <p:sp>
        <p:nvSpPr>
          <p:cNvPr id="25" name="Google Shape;25;p3"/>
          <p:cNvSpPr txBox="1">
            <a:spLocks noGrp="1"/>
          </p:cNvSpPr>
          <p:nvPr>
            <p:ph type="subTitle" idx="1"/>
          </p:nvPr>
        </p:nvSpPr>
        <p:spPr>
          <a:xfrm>
            <a:off x="4698564" y="4145091"/>
            <a:ext cx="3542400" cy="1046400"/>
          </a:xfrm>
          <a:prstGeom prst="rect">
            <a:avLst/>
          </a:prstGeom>
        </p:spPr>
        <p:txBody>
          <a:bodyPr spcFirstLastPara="1" wrap="square" lIns="91425" tIns="91425" rIns="91425" bIns="91425" anchor="t" anchorCtr="0"/>
          <a:lstStyle>
            <a:lvl1pPr lvl="0" algn="r" rtl="0">
              <a:spcBef>
                <a:spcPts val="0"/>
              </a:spcBef>
              <a:spcAft>
                <a:spcPts val="0"/>
              </a:spcAft>
              <a:buClr>
                <a:srgbClr val="FFFFFF"/>
              </a:buClr>
              <a:buSzPts val="1800"/>
              <a:buNone/>
              <a:defRPr sz="1800">
                <a:solidFill>
                  <a:srgbClr val="FFFFFF"/>
                </a:solidFill>
              </a:defRPr>
            </a:lvl1pPr>
            <a:lvl2pPr lvl="1" algn="r" rtl="0">
              <a:spcBef>
                <a:spcPts val="0"/>
              </a:spcBef>
              <a:spcAft>
                <a:spcPts val="0"/>
              </a:spcAft>
              <a:buClr>
                <a:srgbClr val="FFFFFF"/>
              </a:buClr>
              <a:buSzPts val="1800"/>
              <a:buNone/>
              <a:defRPr sz="1800">
                <a:solidFill>
                  <a:srgbClr val="FFFFFF"/>
                </a:solidFill>
              </a:defRPr>
            </a:lvl2pPr>
            <a:lvl3pPr lvl="2" algn="r" rtl="0">
              <a:spcBef>
                <a:spcPts val="0"/>
              </a:spcBef>
              <a:spcAft>
                <a:spcPts val="0"/>
              </a:spcAft>
              <a:buClr>
                <a:srgbClr val="FFFFFF"/>
              </a:buClr>
              <a:buSzPts val="1800"/>
              <a:buNone/>
              <a:defRPr sz="1800">
                <a:solidFill>
                  <a:srgbClr val="FFFFFF"/>
                </a:solidFill>
              </a:defRPr>
            </a:lvl3pPr>
            <a:lvl4pPr lvl="3" algn="r" rtl="0">
              <a:spcBef>
                <a:spcPts val="0"/>
              </a:spcBef>
              <a:spcAft>
                <a:spcPts val="0"/>
              </a:spcAft>
              <a:buClr>
                <a:srgbClr val="FFFFFF"/>
              </a:buClr>
              <a:buSzPts val="1800"/>
              <a:buNone/>
              <a:defRPr>
                <a:solidFill>
                  <a:srgbClr val="FFFFFF"/>
                </a:solidFill>
              </a:defRPr>
            </a:lvl4pPr>
            <a:lvl5pPr lvl="4" algn="r" rtl="0">
              <a:spcBef>
                <a:spcPts val="0"/>
              </a:spcBef>
              <a:spcAft>
                <a:spcPts val="0"/>
              </a:spcAft>
              <a:buClr>
                <a:srgbClr val="FFFFFF"/>
              </a:buClr>
              <a:buSzPts val="1800"/>
              <a:buNone/>
              <a:defRPr>
                <a:solidFill>
                  <a:srgbClr val="FFFFFF"/>
                </a:solidFill>
              </a:defRPr>
            </a:lvl5pPr>
            <a:lvl6pPr lvl="5" algn="r" rtl="0">
              <a:spcBef>
                <a:spcPts val="0"/>
              </a:spcBef>
              <a:spcAft>
                <a:spcPts val="0"/>
              </a:spcAft>
              <a:buClr>
                <a:srgbClr val="FFFFFF"/>
              </a:buClr>
              <a:buSzPts val="1800"/>
              <a:buNone/>
              <a:defRPr>
                <a:solidFill>
                  <a:srgbClr val="FFFFFF"/>
                </a:solidFill>
              </a:defRPr>
            </a:lvl6pPr>
            <a:lvl7pPr lvl="6" algn="r" rtl="0">
              <a:spcBef>
                <a:spcPts val="0"/>
              </a:spcBef>
              <a:spcAft>
                <a:spcPts val="0"/>
              </a:spcAft>
              <a:buClr>
                <a:srgbClr val="FFFFFF"/>
              </a:buClr>
              <a:buSzPts val="1800"/>
              <a:buNone/>
              <a:defRPr>
                <a:solidFill>
                  <a:srgbClr val="FFFFFF"/>
                </a:solidFill>
              </a:defRPr>
            </a:lvl7pPr>
            <a:lvl8pPr lvl="7" algn="r" rtl="0">
              <a:spcBef>
                <a:spcPts val="0"/>
              </a:spcBef>
              <a:spcAft>
                <a:spcPts val="0"/>
              </a:spcAft>
              <a:buClr>
                <a:srgbClr val="FFFFFF"/>
              </a:buClr>
              <a:buSzPts val="1800"/>
              <a:buNone/>
              <a:defRPr>
                <a:solidFill>
                  <a:srgbClr val="FFFFFF"/>
                </a:solidFill>
              </a:defRPr>
            </a:lvl8pPr>
            <a:lvl9pPr lvl="8" algn="r" rtl="0">
              <a:spcBef>
                <a:spcPts val="0"/>
              </a:spcBef>
              <a:spcAft>
                <a:spcPts val="0"/>
              </a:spcAft>
              <a:buClr>
                <a:srgbClr val="FFFFFF"/>
              </a:buClr>
              <a:buSzPts val="1800"/>
              <a:buNone/>
              <a:defRPr>
                <a:solidFill>
                  <a:srgbClr val="FFFFFF"/>
                </a:solidFill>
              </a:defRPr>
            </a:lvl9pPr>
          </a:lstStyle>
          <a:p>
            <a:endParaRPr/>
          </a:p>
        </p:txBody>
      </p:sp>
      <p:sp>
        <p:nvSpPr>
          <p:cNvPr id="26" name="Google Shape;26;p3"/>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774857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7"/>
        <p:cNvGrpSpPr/>
        <p:nvPr/>
      </p:nvGrpSpPr>
      <p:grpSpPr>
        <a:xfrm>
          <a:off x="0" y="0"/>
          <a:ext cx="0" cy="0"/>
          <a:chOff x="0" y="0"/>
          <a:chExt cx="0" cy="0"/>
        </a:xfrm>
      </p:grpSpPr>
      <p:sp>
        <p:nvSpPr>
          <p:cNvPr id="28" name="Google Shape;28;p4"/>
          <p:cNvSpPr txBox="1">
            <a:spLocks noGrp="1"/>
          </p:cNvSpPr>
          <p:nvPr>
            <p:ph type="body" idx="1"/>
          </p:nvPr>
        </p:nvSpPr>
        <p:spPr>
          <a:xfrm>
            <a:off x="1413600" y="3187200"/>
            <a:ext cx="6316800" cy="1093200"/>
          </a:xfrm>
          <a:prstGeom prst="rect">
            <a:avLst/>
          </a:prstGeom>
        </p:spPr>
        <p:txBody>
          <a:bodyPr spcFirstLastPara="1" wrap="square" lIns="91425" tIns="91425" rIns="91425" bIns="91425" anchor="t" anchorCtr="0"/>
          <a:lstStyle>
            <a:lvl1pPr marL="457200" lvl="0" indent="-381000" algn="ctr" rtl="0">
              <a:spcBef>
                <a:spcPts val="600"/>
              </a:spcBef>
              <a:spcAft>
                <a:spcPts val="0"/>
              </a:spcAft>
              <a:buSzPts val="2400"/>
              <a:buChar char="▪"/>
              <a:defRPr sz="2400" b="1"/>
            </a:lvl1pPr>
            <a:lvl2pPr marL="914400" lvl="1" indent="-381000" algn="ctr" rtl="0">
              <a:spcBef>
                <a:spcPts val="0"/>
              </a:spcBef>
              <a:spcAft>
                <a:spcPts val="0"/>
              </a:spcAft>
              <a:buSzPts val="2400"/>
              <a:buChar char="▫"/>
              <a:defRPr b="1"/>
            </a:lvl2pPr>
            <a:lvl3pPr marL="1371600" lvl="2" indent="-381000" algn="ctr" rtl="0">
              <a:spcBef>
                <a:spcPts val="0"/>
              </a:spcBef>
              <a:spcAft>
                <a:spcPts val="0"/>
              </a:spcAft>
              <a:buSzPts val="2400"/>
              <a:buChar char="■"/>
              <a:defRPr b="1"/>
            </a:lvl3pPr>
            <a:lvl4pPr marL="1828800" lvl="3" indent="-381000" algn="ctr" rtl="0">
              <a:spcBef>
                <a:spcPts val="0"/>
              </a:spcBef>
              <a:spcAft>
                <a:spcPts val="0"/>
              </a:spcAft>
              <a:buSzPts val="2400"/>
              <a:buChar char="●"/>
              <a:defRPr sz="2400" b="1"/>
            </a:lvl4pPr>
            <a:lvl5pPr marL="2286000" lvl="4" indent="-381000" algn="ctr" rtl="0">
              <a:spcBef>
                <a:spcPts val="0"/>
              </a:spcBef>
              <a:spcAft>
                <a:spcPts val="0"/>
              </a:spcAft>
              <a:buSzPts val="2400"/>
              <a:buChar char="○"/>
              <a:defRPr sz="2400" b="1"/>
            </a:lvl5pPr>
            <a:lvl6pPr marL="2743200" lvl="5" indent="-381000" algn="ctr" rtl="0">
              <a:spcBef>
                <a:spcPts val="0"/>
              </a:spcBef>
              <a:spcAft>
                <a:spcPts val="0"/>
              </a:spcAft>
              <a:buSzPts val="2400"/>
              <a:buChar char="■"/>
              <a:defRPr sz="2400" b="1"/>
            </a:lvl6pPr>
            <a:lvl7pPr marL="3200400" lvl="6" indent="-381000" algn="ctr" rtl="0">
              <a:spcBef>
                <a:spcPts val="0"/>
              </a:spcBef>
              <a:spcAft>
                <a:spcPts val="0"/>
              </a:spcAft>
              <a:buSzPts val="2400"/>
              <a:buChar char="●"/>
              <a:defRPr sz="2400" b="1"/>
            </a:lvl7pPr>
            <a:lvl8pPr marL="3657600" lvl="7" indent="-381000" algn="ctr" rtl="0">
              <a:spcBef>
                <a:spcPts val="0"/>
              </a:spcBef>
              <a:spcAft>
                <a:spcPts val="0"/>
              </a:spcAft>
              <a:buSzPts val="2400"/>
              <a:buChar char="○"/>
              <a:defRPr sz="2400" b="1"/>
            </a:lvl8pPr>
            <a:lvl9pPr marL="4114800" lvl="8" indent="-381000" algn="ctr">
              <a:spcBef>
                <a:spcPts val="0"/>
              </a:spcBef>
              <a:spcAft>
                <a:spcPts val="0"/>
              </a:spcAft>
              <a:buSzPts val="2400"/>
              <a:buChar char="■"/>
              <a:defRPr sz="2400" b="1"/>
            </a:lvl9pPr>
          </a:lstStyle>
          <a:p>
            <a:endParaRPr/>
          </a:p>
        </p:txBody>
      </p:sp>
      <p:grpSp>
        <p:nvGrpSpPr>
          <p:cNvPr id="29" name="Google Shape;29;p4"/>
          <p:cNvGrpSpPr/>
          <p:nvPr/>
        </p:nvGrpSpPr>
        <p:grpSpPr>
          <a:xfrm>
            <a:off x="3770056" y="1437725"/>
            <a:ext cx="1580939" cy="1544725"/>
            <a:chOff x="3754950" y="1132925"/>
            <a:chExt cx="1580939" cy="1544725"/>
          </a:xfrm>
        </p:grpSpPr>
        <p:sp>
          <p:nvSpPr>
            <p:cNvPr id="30" name="Google Shape;30;p4"/>
            <p:cNvSpPr/>
            <p:nvPr/>
          </p:nvSpPr>
          <p:spPr>
            <a:xfrm>
              <a:off x="3907350" y="1285321"/>
              <a:ext cx="1329300" cy="1329300"/>
            </a:xfrm>
            <a:prstGeom prst="ellipse">
              <a:avLst/>
            </a:prstGeom>
            <a:noFill/>
            <a:ln w="9525"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rot="-5400000">
              <a:off x="3754950" y="1132925"/>
              <a:ext cx="1480500" cy="14805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 name="Google Shape;32;p4"/>
            <p:cNvCxnSpPr>
              <a:endCxn id="30" idx="1"/>
            </p:cNvCxnSpPr>
            <p:nvPr/>
          </p:nvCxnSpPr>
          <p:spPr>
            <a:xfrm>
              <a:off x="3890221" y="1268193"/>
              <a:ext cx="211800" cy="211800"/>
            </a:xfrm>
            <a:prstGeom prst="straightConnector1">
              <a:avLst/>
            </a:prstGeom>
            <a:noFill/>
            <a:ln w="9525" cap="flat" cmpd="sng">
              <a:solidFill>
                <a:srgbClr val="FFFFFF"/>
              </a:solidFill>
              <a:prstDash val="dash"/>
              <a:round/>
              <a:headEnd type="none" w="med" len="med"/>
              <a:tailEnd type="none" w="med" len="med"/>
            </a:ln>
          </p:spPr>
        </p:cxnSp>
        <p:cxnSp>
          <p:nvCxnSpPr>
            <p:cNvPr id="33" name="Google Shape;33;p4"/>
            <p:cNvCxnSpPr/>
            <p:nvPr/>
          </p:nvCxnSpPr>
          <p:spPr>
            <a:xfrm>
              <a:off x="5335889" y="1276425"/>
              <a:ext cx="0" cy="1393500"/>
            </a:xfrm>
            <a:prstGeom prst="straightConnector1">
              <a:avLst/>
            </a:prstGeom>
            <a:noFill/>
            <a:ln w="9525" cap="flat" cmpd="sng">
              <a:solidFill>
                <a:srgbClr val="FFFFFF"/>
              </a:solidFill>
              <a:prstDash val="solid"/>
              <a:round/>
              <a:headEnd type="triangle" w="sm" len="sm"/>
              <a:tailEnd type="triangle" w="sm" len="sm"/>
            </a:ln>
          </p:spPr>
        </p:cxnSp>
        <p:sp>
          <p:nvSpPr>
            <p:cNvPr id="34" name="Google Shape;34;p4"/>
            <p:cNvSpPr/>
            <p:nvPr/>
          </p:nvSpPr>
          <p:spPr>
            <a:xfrm>
              <a:off x="4222975" y="1683233"/>
              <a:ext cx="698050" cy="549925"/>
            </a:xfrm>
            <a:prstGeom prst="rect">
              <a:avLst/>
            </a:prstGeom>
          </p:spPr>
          <p:txBody>
            <a:bodyPr>
              <a:prstTxWarp prst="textPlain">
                <a:avLst/>
              </a:prstTxWarp>
            </a:bodyPr>
            <a:lstStyle/>
            <a:p>
              <a:pPr lvl="0" algn="ctr"/>
              <a:r>
                <a:rPr b="1" i="0">
                  <a:ln w="19050" cap="flat" cmpd="sng">
                    <a:solidFill>
                      <a:srgbClr val="FFFFFF"/>
                    </a:solidFill>
                    <a:prstDash val="solid"/>
                    <a:round/>
                    <a:headEnd type="none" w="sm" len="sm"/>
                    <a:tailEnd type="none" w="sm" len="sm"/>
                  </a:ln>
                  <a:noFill/>
                  <a:latin typeface="Arial"/>
                </a:rPr>
                <a:t>“</a:t>
              </a:r>
            </a:p>
          </p:txBody>
        </p:sp>
        <p:cxnSp>
          <p:nvCxnSpPr>
            <p:cNvPr id="35" name="Google Shape;35;p4"/>
            <p:cNvCxnSpPr>
              <a:stCxn id="30" idx="5"/>
            </p:cNvCxnSpPr>
            <p:nvPr/>
          </p:nvCxnSpPr>
          <p:spPr>
            <a:xfrm>
              <a:off x="5041979" y="2419950"/>
              <a:ext cx="253800" cy="257700"/>
            </a:xfrm>
            <a:prstGeom prst="straightConnector1">
              <a:avLst/>
            </a:prstGeom>
            <a:noFill/>
            <a:ln w="9525" cap="flat" cmpd="sng">
              <a:solidFill>
                <a:srgbClr val="FFFFFF"/>
              </a:solidFill>
              <a:prstDash val="dash"/>
              <a:round/>
              <a:headEnd type="none" w="med" len="med"/>
              <a:tailEnd type="none" w="med" len="med"/>
            </a:ln>
          </p:spPr>
        </p:cxnSp>
        <p:cxnSp>
          <p:nvCxnSpPr>
            <p:cNvPr id="36" name="Google Shape;36;p4"/>
            <p:cNvCxnSpPr/>
            <p:nvPr/>
          </p:nvCxnSpPr>
          <p:spPr>
            <a:xfrm>
              <a:off x="4244700" y="1591869"/>
              <a:ext cx="654600" cy="0"/>
            </a:xfrm>
            <a:prstGeom prst="straightConnector1">
              <a:avLst/>
            </a:prstGeom>
            <a:noFill/>
            <a:ln w="9525" cap="flat" cmpd="sng">
              <a:solidFill>
                <a:srgbClr val="FFFFFF"/>
              </a:solidFill>
              <a:prstDash val="solid"/>
              <a:round/>
              <a:headEnd type="triangle" w="sm" len="sm"/>
              <a:tailEnd type="triangle" w="sm" len="sm"/>
            </a:ln>
          </p:spPr>
        </p:cxnSp>
      </p:grpSp>
      <p:sp>
        <p:nvSpPr>
          <p:cNvPr id="37" name="Google Shape;37;p4"/>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211377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
        <p:nvSpPr>
          <p:cNvPr id="40" name="Google Shape;40;p5"/>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1" name="Google Shape;41;p5"/>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738324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2"/>
        <p:cNvGrpSpPr/>
        <p:nvPr/>
      </p:nvGrpSpPr>
      <p:grpSpPr>
        <a:xfrm>
          <a:off x="0" y="0"/>
          <a:ext cx="0" cy="0"/>
          <a:chOff x="0" y="0"/>
          <a:chExt cx="0" cy="0"/>
        </a:xfrm>
      </p:grpSpPr>
      <p:sp>
        <p:nvSpPr>
          <p:cNvPr id="43" name="Google Shape;43;p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lstStyle>
            <a:lvl1pPr lvl="0">
              <a:spcBef>
                <a:spcPts val="0"/>
              </a:spcBef>
              <a:spcAft>
                <a:spcPts val="0"/>
              </a:spcAft>
              <a:buSzPts val="2200"/>
              <a:buNone/>
              <a:defRPr/>
            </a:lvl1pPr>
            <a:lvl2pPr lvl="1">
              <a:spcBef>
                <a:spcPts val="0"/>
              </a:spcBef>
              <a:spcAft>
                <a:spcPts val="0"/>
              </a:spcAft>
              <a:buSzPts val="2200"/>
              <a:buNone/>
              <a:defRPr/>
            </a:lvl2pPr>
            <a:lvl3pPr lvl="2">
              <a:spcBef>
                <a:spcPts val="0"/>
              </a:spcBef>
              <a:spcAft>
                <a:spcPts val="0"/>
              </a:spcAft>
              <a:buSzPts val="2200"/>
              <a:buNone/>
              <a:defRPr/>
            </a:lvl3pPr>
            <a:lvl4pPr lvl="3">
              <a:spcBef>
                <a:spcPts val="0"/>
              </a:spcBef>
              <a:spcAft>
                <a:spcPts val="0"/>
              </a:spcAft>
              <a:buSzPts val="2200"/>
              <a:buNone/>
              <a:defRPr/>
            </a:lvl4pPr>
            <a:lvl5pPr lvl="4">
              <a:spcBef>
                <a:spcPts val="0"/>
              </a:spcBef>
              <a:spcAft>
                <a:spcPts val="0"/>
              </a:spcAft>
              <a:buSzPts val="2200"/>
              <a:buNone/>
              <a:defRPr/>
            </a:lvl5pPr>
            <a:lvl6pPr lvl="5">
              <a:spcBef>
                <a:spcPts val="0"/>
              </a:spcBef>
              <a:spcAft>
                <a:spcPts val="0"/>
              </a:spcAft>
              <a:buSzPts val="2200"/>
              <a:buNone/>
              <a:defRPr/>
            </a:lvl6pPr>
            <a:lvl7pPr lvl="6">
              <a:spcBef>
                <a:spcPts val="0"/>
              </a:spcBef>
              <a:spcAft>
                <a:spcPts val="0"/>
              </a:spcAft>
              <a:buSzPts val="2200"/>
              <a:buNone/>
              <a:defRPr/>
            </a:lvl7pPr>
            <a:lvl8pPr lvl="7">
              <a:spcBef>
                <a:spcPts val="0"/>
              </a:spcBef>
              <a:spcAft>
                <a:spcPts val="0"/>
              </a:spcAft>
              <a:buSzPts val="2200"/>
              <a:buNone/>
              <a:defRPr/>
            </a:lvl8pPr>
            <a:lvl9pPr lvl="8">
              <a:spcBef>
                <a:spcPts val="0"/>
              </a:spcBef>
              <a:spcAft>
                <a:spcPts val="0"/>
              </a:spcAft>
              <a:buSzPts val="2200"/>
              <a:buNone/>
              <a:defRPr/>
            </a:lvl9pPr>
          </a:lstStyle>
          <a:p>
            <a:endParaRPr/>
          </a:p>
        </p:txBody>
      </p:sp>
      <p:sp>
        <p:nvSpPr>
          <p:cNvPr id="44" name="Google Shape;44;p6"/>
          <p:cNvSpPr txBox="1">
            <a:spLocks noGrp="1"/>
          </p:cNvSpPr>
          <p:nvPr>
            <p:ph type="body" idx="1"/>
          </p:nvPr>
        </p:nvSpPr>
        <p:spPr>
          <a:xfrm>
            <a:off x="420778" y="1653070"/>
            <a:ext cx="3994500" cy="49677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5" name="Google Shape;45;p6"/>
          <p:cNvSpPr txBox="1">
            <a:spLocks noGrp="1"/>
          </p:cNvSpPr>
          <p:nvPr>
            <p:ph type="body" idx="2"/>
          </p:nvPr>
        </p:nvSpPr>
        <p:spPr>
          <a:xfrm>
            <a:off x="4731381" y="1653070"/>
            <a:ext cx="3994500" cy="4967700"/>
          </a:xfrm>
          <a:prstGeom prst="rect">
            <a:avLst/>
          </a:prstGeom>
        </p:spPr>
        <p:txBody>
          <a:bodyPr spcFirstLastPara="1" wrap="square" lIns="91425" tIns="91425" rIns="91425" bIns="91425" anchor="t" anchorCtr="0"/>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46" name="Google Shape;46;p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6702133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lstStyle>
            <a:lvl1pPr lvl="0" rtl="0">
              <a:spcBef>
                <a:spcPts val="0"/>
              </a:spcBef>
              <a:spcAft>
                <a:spcPts val="0"/>
              </a:spcAft>
              <a:buSzPts val="2200"/>
              <a:buNone/>
              <a:defRPr/>
            </a:lvl1pPr>
            <a:lvl2pPr lvl="1" rtl="0">
              <a:spcBef>
                <a:spcPts val="0"/>
              </a:spcBef>
              <a:spcAft>
                <a:spcPts val="0"/>
              </a:spcAft>
              <a:buSzPts val="2200"/>
              <a:buNone/>
              <a:defRPr/>
            </a:lvl2pPr>
            <a:lvl3pPr lvl="2" rtl="0">
              <a:spcBef>
                <a:spcPts val="0"/>
              </a:spcBef>
              <a:spcAft>
                <a:spcPts val="0"/>
              </a:spcAft>
              <a:buSzPts val="2200"/>
              <a:buNone/>
              <a:defRPr/>
            </a:lvl3pPr>
            <a:lvl4pPr lvl="3" rtl="0">
              <a:spcBef>
                <a:spcPts val="0"/>
              </a:spcBef>
              <a:spcAft>
                <a:spcPts val="0"/>
              </a:spcAft>
              <a:buSzPts val="2200"/>
              <a:buNone/>
              <a:defRPr/>
            </a:lvl4pPr>
            <a:lvl5pPr lvl="4" rtl="0">
              <a:spcBef>
                <a:spcPts val="0"/>
              </a:spcBef>
              <a:spcAft>
                <a:spcPts val="0"/>
              </a:spcAft>
              <a:buSzPts val="2200"/>
              <a:buNone/>
              <a:defRPr/>
            </a:lvl5pPr>
            <a:lvl6pPr lvl="5" rtl="0">
              <a:spcBef>
                <a:spcPts val="0"/>
              </a:spcBef>
              <a:spcAft>
                <a:spcPts val="0"/>
              </a:spcAft>
              <a:buSzPts val="2200"/>
              <a:buNone/>
              <a:defRPr/>
            </a:lvl6pPr>
            <a:lvl7pPr lvl="6" rtl="0">
              <a:spcBef>
                <a:spcPts val="0"/>
              </a:spcBef>
              <a:spcAft>
                <a:spcPts val="0"/>
              </a:spcAft>
              <a:buSzPts val="2200"/>
              <a:buNone/>
              <a:defRPr/>
            </a:lvl7pPr>
            <a:lvl8pPr lvl="7" rtl="0">
              <a:spcBef>
                <a:spcPts val="0"/>
              </a:spcBef>
              <a:spcAft>
                <a:spcPts val="0"/>
              </a:spcAft>
              <a:buSzPts val="2200"/>
              <a:buNone/>
              <a:defRPr/>
            </a:lvl8pPr>
            <a:lvl9pPr lvl="8" rtl="0">
              <a:spcBef>
                <a:spcPts val="0"/>
              </a:spcBef>
              <a:spcAft>
                <a:spcPts val="0"/>
              </a:spcAft>
              <a:buSzPts val="2200"/>
              <a:buNone/>
              <a:defRPr/>
            </a:lvl9pPr>
          </a:lstStyle>
          <a:p>
            <a:endParaRPr/>
          </a:p>
        </p:txBody>
      </p:sp>
      <p:sp>
        <p:nvSpPr>
          <p:cNvPr id="49" name="Google Shape;49;p7"/>
          <p:cNvSpPr txBox="1">
            <a:spLocks noGrp="1"/>
          </p:cNvSpPr>
          <p:nvPr>
            <p:ph type="body" idx="1"/>
          </p:nvPr>
        </p:nvSpPr>
        <p:spPr>
          <a:xfrm>
            <a:off x="457200" y="1645524"/>
            <a:ext cx="2631900" cy="44646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0" name="Google Shape;50;p7"/>
          <p:cNvSpPr txBox="1">
            <a:spLocks noGrp="1"/>
          </p:cNvSpPr>
          <p:nvPr>
            <p:ph type="body" idx="2"/>
          </p:nvPr>
        </p:nvSpPr>
        <p:spPr>
          <a:xfrm>
            <a:off x="3223964" y="1645524"/>
            <a:ext cx="2631900" cy="44646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1" name="Google Shape;51;p7"/>
          <p:cNvSpPr txBox="1">
            <a:spLocks noGrp="1"/>
          </p:cNvSpPr>
          <p:nvPr>
            <p:ph type="body" idx="3"/>
          </p:nvPr>
        </p:nvSpPr>
        <p:spPr>
          <a:xfrm>
            <a:off x="5990727" y="1645524"/>
            <a:ext cx="2631900" cy="4464600"/>
          </a:xfrm>
          <a:prstGeom prst="rect">
            <a:avLst/>
          </a:prstGeom>
        </p:spPr>
        <p:txBody>
          <a:bodyPr spcFirstLastPara="1" wrap="square" lIns="91425" tIns="91425" rIns="91425" bIns="91425" anchor="t" anchorCtr="0"/>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a:lvl5pPr>
            <a:lvl6pPr marL="2743200" lvl="5" indent="-342900" rtl="0">
              <a:spcBef>
                <a:spcPts val="0"/>
              </a:spcBef>
              <a:spcAft>
                <a:spcPts val="0"/>
              </a:spcAft>
              <a:buSzPts val="1800"/>
              <a:buChar char="■"/>
              <a:defRPr/>
            </a:lvl6pPr>
            <a:lvl7pPr marL="3200400" lvl="6" indent="-342900" rtl="0">
              <a:spcBef>
                <a:spcPts val="0"/>
              </a:spcBef>
              <a:spcAft>
                <a:spcPts val="0"/>
              </a:spcAft>
              <a:buSzPts val="1800"/>
              <a:buChar char="●"/>
              <a:defRPr/>
            </a:lvl7pPr>
            <a:lvl8pPr marL="3657600" lvl="7" indent="-342900" rtl="0">
              <a:spcBef>
                <a:spcPts val="0"/>
              </a:spcBef>
              <a:spcAft>
                <a:spcPts val="0"/>
              </a:spcAft>
              <a:buSzPts val="1800"/>
              <a:buChar char="○"/>
              <a:defRPr/>
            </a:lvl8pPr>
            <a:lvl9pPr marL="4114800" lvl="8" indent="-342900" rtl="0">
              <a:spcBef>
                <a:spcPts val="0"/>
              </a:spcBef>
              <a:spcAft>
                <a:spcPts val="0"/>
              </a:spcAft>
              <a:buSzPts val="1800"/>
              <a:buChar char="■"/>
              <a:defRPr/>
            </a:lvl9pPr>
          </a:lstStyle>
          <a:p>
            <a:endParaRPr/>
          </a:p>
        </p:txBody>
      </p:sp>
      <p:sp>
        <p:nvSpPr>
          <p:cNvPr id="52" name="Google Shape;52;p7"/>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32650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0"/>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85809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3D85C6"/>
        </a:solidFill>
        <a:effectLst/>
      </p:bgPr>
    </p:bg>
    <p:spTree>
      <p:nvGrpSpPr>
        <p:cNvPr id="1" name="Shape 5"/>
        <p:cNvGrpSpPr/>
        <p:nvPr/>
      </p:nvGrpSpPr>
      <p:grpSpPr>
        <a:xfrm>
          <a:off x="0" y="0"/>
          <a:ext cx="0" cy="0"/>
          <a:chOff x="0" y="0"/>
          <a:chExt cx="0" cy="0"/>
        </a:xfrm>
      </p:grpSpPr>
      <p:pic>
        <p:nvPicPr>
          <p:cNvPr id="6" name="Google Shape;6;p1" descr="blueprint.png"/>
          <p:cNvPicPr preferRelativeResize="0"/>
          <p:nvPr/>
        </p:nvPicPr>
        <p:blipFill rotWithShape="1">
          <a:blip r:embed="rId8">
            <a:alphaModFix/>
          </a:blip>
          <a:srcRect r="3297" b="3297"/>
          <a:stretch/>
        </p:blipFill>
        <p:spPr>
          <a:xfrm>
            <a:off x="0" y="0"/>
            <a:ext cx="9144000" cy="6858000"/>
          </a:xfrm>
          <a:prstGeom prst="rect">
            <a:avLst/>
          </a:prstGeom>
          <a:noFill/>
          <a:ln>
            <a:noFill/>
          </a:ln>
        </p:spPr>
      </p:pic>
      <p:sp>
        <p:nvSpPr>
          <p:cNvPr id="7" name="Google Shape;7;p1"/>
          <p:cNvSpPr/>
          <p:nvPr/>
        </p:nvSpPr>
        <p:spPr>
          <a:xfrm>
            <a:off x="128400" y="128397"/>
            <a:ext cx="8889600" cy="65937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404330" y="658442"/>
            <a:ext cx="8229600" cy="551400"/>
          </a:xfrm>
          <a:prstGeom prst="rect">
            <a:avLst/>
          </a:prstGeom>
          <a:noFill/>
          <a:ln>
            <a:noFill/>
          </a:ln>
        </p:spPr>
        <p:txBody>
          <a:bodyPr spcFirstLastPara="1" wrap="square" lIns="91425" tIns="91425" rIns="91425" bIns="91425" anchor="t" anchorCtr="0"/>
          <a:lstStyle>
            <a:lvl1pPr lvl="0">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1pPr>
            <a:lvl2pPr lvl="1">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2pPr>
            <a:lvl3pPr lvl="2">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3pPr>
            <a:lvl4pPr lvl="3">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4pPr>
            <a:lvl5pPr lvl="4">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5pPr>
            <a:lvl6pPr lvl="5">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6pPr>
            <a:lvl7pPr lvl="6">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7pPr>
            <a:lvl8pPr lvl="7">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8pPr>
            <a:lvl9pPr lvl="8">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9pPr>
          </a:lstStyle>
          <a:p>
            <a:endParaRPr/>
          </a:p>
        </p:txBody>
      </p:sp>
      <p:sp>
        <p:nvSpPr>
          <p:cNvPr id="9" name="Google Shape;9;p1"/>
          <p:cNvSpPr txBox="1">
            <a:spLocks noGrp="1"/>
          </p:cNvSpPr>
          <p:nvPr>
            <p:ph type="body" idx="1"/>
          </p:nvPr>
        </p:nvSpPr>
        <p:spPr>
          <a:xfrm>
            <a:off x="457200" y="1500000"/>
            <a:ext cx="8229600" cy="48519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FFFFFF"/>
              </a:buClr>
              <a:buSzPts val="3000"/>
              <a:buFont typeface="Cousine"/>
              <a:buChar char="▪"/>
              <a:defRPr sz="3000">
                <a:solidFill>
                  <a:srgbClr val="FFFFFF"/>
                </a:solidFill>
                <a:latin typeface="Cousine"/>
                <a:ea typeface="Cousine"/>
                <a:cs typeface="Cousine"/>
                <a:sym typeface="Cousine"/>
              </a:defRPr>
            </a:lvl1pPr>
            <a:lvl2pPr marL="914400" lvl="1" indent="-381000">
              <a:spcBef>
                <a:spcPts val="0"/>
              </a:spcBef>
              <a:spcAft>
                <a:spcPts val="0"/>
              </a:spcAft>
              <a:buClr>
                <a:srgbClr val="FFFFFF"/>
              </a:buClr>
              <a:buSzPts val="2400"/>
              <a:buFont typeface="Cousine"/>
              <a:buChar char="▫"/>
              <a:defRPr sz="2400">
                <a:solidFill>
                  <a:srgbClr val="FFFFFF"/>
                </a:solidFill>
                <a:latin typeface="Cousine"/>
                <a:ea typeface="Cousine"/>
                <a:cs typeface="Cousine"/>
                <a:sym typeface="Cousine"/>
              </a:defRPr>
            </a:lvl2pPr>
            <a:lvl3pPr marL="1371600" lvl="2" indent="-381000">
              <a:spcBef>
                <a:spcPts val="0"/>
              </a:spcBef>
              <a:spcAft>
                <a:spcPts val="0"/>
              </a:spcAft>
              <a:buClr>
                <a:srgbClr val="FFFFFF"/>
              </a:buClr>
              <a:buSzPts val="2400"/>
              <a:buFont typeface="Cousine"/>
              <a:buChar char="■"/>
              <a:defRPr sz="2400">
                <a:solidFill>
                  <a:srgbClr val="FFFFFF"/>
                </a:solidFill>
                <a:latin typeface="Cousine"/>
                <a:ea typeface="Cousine"/>
                <a:cs typeface="Cousine"/>
                <a:sym typeface="Cousine"/>
              </a:defRPr>
            </a:lvl3pPr>
            <a:lvl4pPr marL="1828800" lvl="3"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4pPr>
            <a:lvl5pPr marL="2286000" lvl="4"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5pPr>
            <a:lvl6pPr marL="2743200" lvl="5"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6pPr>
            <a:lvl7pPr marL="3200400" lvl="6"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7pPr>
            <a:lvl8pPr marL="3657600" lvl="7"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8pPr>
            <a:lvl9pPr marL="4114800" lvl="8"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9pPr>
          </a:lstStyle>
          <a:p>
            <a:endParaRPr/>
          </a:p>
        </p:txBody>
      </p:sp>
      <p:sp>
        <p:nvSpPr>
          <p:cNvPr id="10" name="Google Shape;10;p1"/>
          <p:cNvSpPr txBox="1">
            <a:spLocks noGrp="1"/>
          </p:cNvSpPr>
          <p:nvPr>
            <p:ph type="sldNum" idx="12"/>
          </p:nvPr>
        </p:nvSpPr>
        <p:spPr>
          <a:xfrm>
            <a:off x="8523157" y="6391956"/>
            <a:ext cx="461100" cy="389100"/>
          </a:xfrm>
          <a:prstGeom prst="rect">
            <a:avLst/>
          </a:prstGeom>
          <a:noFill/>
          <a:ln>
            <a:noFill/>
          </a:ln>
        </p:spPr>
        <p:txBody>
          <a:bodyPr spcFirstLastPara="1" wrap="square" lIns="91425" tIns="91425" rIns="91425" bIns="91425" anchor="t" anchorCtr="0">
            <a:noAutofit/>
          </a:bodyPr>
          <a:lstStyle>
            <a:lvl1pPr lvl="0" algn="r">
              <a:buNone/>
              <a:defRPr sz="1000">
                <a:solidFill>
                  <a:srgbClr val="FFFFFF"/>
                </a:solidFill>
                <a:latin typeface="Cousine"/>
                <a:ea typeface="Cousine"/>
                <a:cs typeface="Cousine"/>
                <a:sym typeface="Cousine"/>
              </a:defRPr>
            </a:lvl1pPr>
            <a:lvl2pPr lvl="1" algn="r">
              <a:buNone/>
              <a:defRPr sz="1000">
                <a:solidFill>
                  <a:srgbClr val="FFFFFF"/>
                </a:solidFill>
                <a:latin typeface="Cousine"/>
                <a:ea typeface="Cousine"/>
                <a:cs typeface="Cousine"/>
                <a:sym typeface="Cousine"/>
              </a:defRPr>
            </a:lvl2pPr>
            <a:lvl3pPr lvl="2" algn="r">
              <a:buNone/>
              <a:defRPr sz="1000">
                <a:solidFill>
                  <a:srgbClr val="FFFFFF"/>
                </a:solidFill>
                <a:latin typeface="Cousine"/>
                <a:ea typeface="Cousine"/>
                <a:cs typeface="Cousine"/>
                <a:sym typeface="Cousine"/>
              </a:defRPr>
            </a:lvl3pPr>
            <a:lvl4pPr lvl="3" algn="r">
              <a:buNone/>
              <a:defRPr sz="1000">
                <a:solidFill>
                  <a:srgbClr val="FFFFFF"/>
                </a:solidFill>
                <a:latin typeface="Cousine"/>
                <a:ea typeface="Cousine"/>
                <a:cs typeface="Cousine"/>
                <a:sym typeface="Cousine"/>
              </a:defRPr>
            </a:lvl4pPr>
            <a:lvl5pPr lvl="4" algn="r">
              <a:buNone/>
              <a:defRPr sz="1000">
                <a:solidFill>
                  <a:srgbClr val="FFFFFF"/>
                </a:solidFill>
                <a:latin typeface="Cousine"/>
                <a:ea typeface="Cousine"/>
                <a:cs typeface="Cousine"/>
                <a:sym typeface="Cousine"/>
              </a:defRPr>
            </a:lvl5pPr>
            <a:lvl6pPr lvl="5" algn="r">
              <a:buNone/>
              <a:defRPr sz="1000">
                <a:solidFill>
                  <a:srgbClr val="FFFFFF"/>
                </a:solidFill>
                <a:latin typeface="Cousine"/>
                <a:ea typeface="Cousine"/>
                <a:cs typeface="Cousine"/>
                <a:sym typeface="Cousine"/>
              </a:defRPr>
            </a:lvl6pPr>
            <a:lvl7pPr lvl="6" algn="r">
              <a:buNone/>
              <a:defRPr sz="1000">
                <a:solidFill>
                  <a:srgbClr val="FFFFFF"/>
                </a:solidFill>
                <a:latin typeface="Cousine"/>
                <a:ea typeface="Cousine"/>
                <a:cs typeface="Cousine"/>
                <a:sym typeface="Cousine"/>
              </a:defRPr>
            </a:lvl7pPr>
            <a:lvl8pPr lvl="7" algn="r">
              <a:buNone/>
              <a:defRPr sz="1000">
                <a:solidFill>
                  <a:srgbClr val="FFFFFF"/>
                </a:solidFill>
                <a:latin typeface="Cousine"/>
                <a:ea typeface="Cousine"/>
                <a:cs typeface="Cousine"/>
                <a:sym typeface="Cousine"/>
              </a:defRPr>
            </a:lvl8pPr>
            <a:lvl9pPr lvl="8" algn="r">
              <a:buNone/>
              <a:defRPr sz="1000">
                <a:solidFill>
                  <a:srgbClr val="FFFFFF"/>
                </a:solidFill>
                <a:latin typeface="Cousine"/>
                <a:ea typeface="Cousine"/>
                <a:cs typeface="Cousine"/>
                <a:sym typeface="Cousine"/>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6" r:id="rId5"/>
    <p:sldLayoutId id="2147483666"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D85C6"/>
        </a:solidFill>
        <a:effectLst/>
      </p:bgPr>
    </p:bg>
    <p:spTree>
      <p:nvGrpSpPr>
        <p:cNvPr id="1" name="Shape 5"/>
        <p:cNvGrpSpPr/>
        <p:nvPr/>
      </p:nvGrpSpPr>
      <p:grpSpPr>
        <a:xfrm>
          <a:off x="0" y="0"/>
          <a:ext cx="0" cy="0"/>
          <a:chOff x="0" y="0"/>
          <a:chExt cx="0" cy="0"/>
        </a:xfrm>
      </p:grpSpPr>
      <p:pic>
        <p:nvPicPr>
          <p:cNvPr id="6" name="Google Shape;6;p1" descr="blueprint.png"/>
          <p:cNvPicPr preferRelativeResize="0"/>
          <p:nvPr/>
        </p:nvPicPr>
        <p:blipFill rotWithShape="1">
          <a:blip r:embed="rId9">
            <a:alphaModFix/>
          </a:blip>
          <a:srcRect r="3297" b="3297"/>
          <a:stretch/>
        </p:blipFill>
        <p:spPr>
          <a:xfrm>
            <a:off x="0" y="0"/>
            <a:ext cx="9144000" cy="6858000"/>
          </a:xfrm>
          <a:prstGeom prst="rect">
            <a:avLst/>
          </a:prstGeom>
          <a:noFill/>
          <a:ln>
            <a:noFill/>
          </a:ln>
        </p:spPr>
      </p:pic>
      <p:sp>
        <p:nvSpPr>
          <p:cNvPr id="7" name="Google Shape;7;p1"/>
          <p:cNvSpPr/>
          <p:nvPr/>
        </p:nvSpPr>
        <p:spPr>
          <a:xfrm>
            <a:off x="128400" y="128397"/>
            <a:ext cx="8889600" cy="6593700"/>
          </a:xfrm>
          <a:prstGeom prst="rect">
            <a:avLst/>
          </a:prstGeom>
          <a:no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title"/>
          </p:nvPr>
        </p:nvSpPr>
        <p:spPr>
          <a:xfrm>
            <a:off x="404330" y="658442"/>
            <a:ext cx="8229600" cy="551400"/>
          </a:xfrm>
          <a:prstGeom prst="rect">
            <a:avLst/>
          </a:prstGeom>
          <a:noFill/>
          <a:ln>
            <a:noFill/>
          </a:ln>
        </p:spPr>
        <p:txBody>
          <a:bodyPr spcFirstLastPara="1" wrap="square" lIns="91425" tIns="91425" rIns="91425" bIns="91425" anchor="t" anchorCtr="0"/>
          <a:lstStyle>
            <a:lvl1pPr lvl="0">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1pPr>
            <a:lvl2pPr lvl="1">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2pPr>
            <a:lvl3pPr lvl="2">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3pPr>
            <a:lvl4pPr lvl="3">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4pPr>
            <a:lvl5pPr lvl="4">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5pPr>
            <a:lvl6pPr lvl="5">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6pPr>
            <a:lvl7pPr lvl="6">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7pPr>
            <a:lvl8pPr lvl="7">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8pPr>
            <a:lvl9pPr lvl="8">
              <a:spcBef>
                <a:spcPts val="0"/>
              </a:spcBef>
              <a:spcAft>
                <a:spcPts val="0"/>
              </a:spcAft>
              <a:buClr>
                <a:srgbClr val="FFFFFF"/>
              </a:buClr>
              <a:buSzPts val="2200"/>
              <a:buFont typeface="Cousine"/>
              <a:buNone/>
              <a:defRPr sz="2200">
                <a:solidFill>
                  <a:srgbClr val="FFFFFF"/>
                </a:solidFill>
                <a:latin typeface="Cousine"/>
                <a:ea typeface="Cousine"/>
                <a:cs typeface="Cousine"/>
                <a:sym typeface="Cousine"/>
              </a:defRPr>
            </a:lvl9pPr>
          </a:lstStyle>
          <a:p>
            <a:endParaRPr/>
          </a:p>
        </p:txBody>
      </p:sp>
      <p:sp>
        <p:nvSpPr>
          <p:cNvPr id="9" name="Google Shape;9;p1"/>
          <p:cNvSpPr txBox="1">
            <a:spLocks noGrp="1"/>
          </p:cNvSpPr>
          <p:nvPr>
            <p:ph type="body" idx="1"/>
          </p:nvPr>
        </p:nvSpPr>
        <p:spPr>
          <a:xfrm>
            <a:off x="457200" y="1500000"/>
            <a:ext cx="8229600" cy="4851900"/>
          </a:xfrm>
          <a:prstGeom prst="rect">
            <a:avLst/>
          </a:prstGeom>
          <a:noFill/>
          <a:ln>
            <a:noFill/>
          </a:ln>
        </p:spPr>
        <p:txBody>
          <a:bodyPr spcFirstLastPara="1" wrap="square" lIns="91425" tIns="91425" rIns="91425" bIns="91425" anchor="t" anchorCtr="0"/>
          <a:lstStyle>
            <a:lvl1pPr marL="457200" lvl="0" indent="-419100">
              <a:spcBef>
                <a:spcPts val="600"/>
              </a:spcBef>
              <a:spcAft>
                <a:spcPts val="0"/>
              </a:spcAft>
              <a:buClr>
                <a:srgbClr val="FFFFFF"/>
              </a:buClr>
              <a:buSzPts val="3000"/>
              <a:buFont typeface="Cousine"/>
              <a:buChar char="▪"/>
              <a:defRPr sz="3000">
                <a:solidFill>
                  <a:srgbClr val="FFFFFF"/>
                </a:solidFill>
                <a:latin typeface="Cousine"/>
                <a:ea typeface="Cousine"/>
                <a:cs typeface="Cousine"/>
                <a:sym typeface="Cousine"/>
              </a:defRPr>
            </a:lvl1pPr>
            <a:lvl2pPr marL="914400" lvl="1" indent="-381000">
              <a:spcBef>
                <a:spcPts val="0"/>
              </a:spcBef>
              <a:spcAft>
                <a:spcPts val="0"/>
              </a:spcAft>
              <a:buClr>
                <a:srgbClr val="FFFFFF"/>
              </a:buClr>
              <a:buSzPts val="2400"/>
              <a:buFont typeface="Cousine"/>
              <a:buChar char="▫"/>
              <a:defRPr sz="2400">
                <a:solidFill>
                  <a:srgbClr val="FFFFFF"/>
                </a:solidFill>
                <a:latin typeface="Cousine"/>
                <a:ea typeface="Cousine"/>
                <a:cs typeface="Cousine"/>
                <a:sym typeface="Cousine"/>
              </a:defRPr>
            </a:lvl2pPr>
            <a:lvl3pPr marL="1371600" lvl="2" indent="-381000">
              <a:spcBef>
                <a:spcPts val="0"/>
              </a:spcBef>
              <a:spcAft>
                <a:spcPts val="0"/>
              </a:spcAft>
              <a:buClr>
                <a:srgbClr val="FFFFFF"/>
              </a:buClr>
              <a:buSzPts val="2400"/>
              <a:buFont typeface="Cousine"/>
              <a:buChar char="■"/>
              <a:defRPr sz="2400">
                <a:solidFill>
                  <a:srgbClr val="FFFFFF"/>
                </a:solidFill>
                <a:latin typeface="Cousine"/>
                <a:ea typeface="Cousine"/>
                <a:cs typeface="Cousine"/>
                <a:sym typeface="Cousine"/>
              </a:defRPr>
            </a:lvl3pPr>
            <a:lvl4pPr marL="1828800" lvl="3"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4pPr>
            <a:lvl5pPr marL="2286000" lvl="4"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5pPr>
            <a:lvl6pPr marL="2743200" lvl="5"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6pPr>
            <a:lvl7pPr marL="3200400" lvl="6"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7pPr>
            <a:lvl8pPr marL="3657600" lvl="7"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8pPr>
            <a:lvl9pPr marL="4114800" lvl="8" indent="-342900">
              <a:spcBef>
                <a:spcPts val="0"/>
              </a:spcBef>
              <a:spcAft>
                <a:spcPts val="0"/>
              </a:spcAft>
              <a:buClr>
                <a:srgbClr val="FFFFFF"/>
              </a:buClr>
              <a:buSzPts val="1800"/>
              <a:buFont typeface="Cousine"/>
              <a:buChar char="■"/>
              <a:defRPr sz="1800">
                <a:solidFill>
                  <a:srgbClr val="FFFFFF"/>
                </a:solidFill>
                <a:latin typeface="Cousine"/>
                <a:ea typeface="Cousine"/>
                <a:cs typeface="Cousine"/>
                <a:sym typeface="Cousine"/>
              </a:defRPr>
            </a:lvl9pPr>
          </a:lstStyle>
          <a:p>
            <a:endParaRPr/>
          </a:p>
        </p:txBody>
      </p:sp>
      <p:sp>
        <p:nvSpPr>
          <p:cNvPr id="10" name="Google Shape;10;p1"/>
          <p:cNvSpPr txBox="1">
            <a:spLocks noGrp="1"/>
          </p:cNvSpPr>
          <p:nvPr>
            <p:ph type="sldNum" idx="12"/>
          </p:nvPr>
        </p:nvSpPr>
        <p:spPr>
          <a:xfrm>
            <a:off x="8523157" y="6391956"/>
            <a:ext cx="461100" cy="389100"/>
          </a:xfrm>
          <a:prstGeom prst="rect">
            <a:avLst/>
          </a:prstGeom>
          <a:noFill/>
          <a:ln>
            <a:noFill/>
          </a:ln>
        </p:spPr>
        <p:txBody>
          <a:bodyPr spcFirstLastPara="1" wrap="square" lIns="91425" tIns="91425" rIns="91425" bIns="91425" anchor="t" anchorCtr="0">
            <a:noAutofit/>
          </a:bodyPr>
          <a:lstStyle>
            <a:lvl1pPr lvl="0" algn="r">
              <a:buNone/>
              <a:defRPr sz="1000">
                <a:solidFill>
                  <a:srgbClr val="FFFFFF"/>
                </a:solidFill>
                <a:latin typeface="Cousine"/>
                <a:ea typeface="Cousine"/>
                <a:cs typeface="Cousine"/>
                <a:sym typeface="Cousine"/>
              </a:defRPr>
            </a:lvl1pPr>
            <a:lvl2pPr lvl="1" algn="r">
              <a:buNone/>
              <a:defRPr sz="1000">
                <a:solidFill>
                  <a:srgbClr val="FFFFFF"/>
                </a:solidFill>
                <a:latin typeface="Cousine"/>
                <a:ea typeface="Cousine"/>
                <a:cs typeface="Cousine"/>
                <a:sym typeface="Cousine"/>
              </a:defRPr>
            </a:lvl2pPr>
            <a:lvl3pPr lvl="2" algn="r">
              <a:buNone/>
              <a:defRPr sz="1000">
                <a:solidFill>
                  <a:srgbClr val="FFFFFF"/>
                </a:solidFill>
                <a:latin typeface="Cousine"/>
                <a:ea typeface="Cousine"/>
                <a:cs typeface="Cousine"/>
                <a:sym typeface="Cousine"/>
              </a:defRPr>
            </a:lvl3pPr>
            <a:lvl4pPr lvl="3" algn="r">
              <a:buNone/>
              <a:defRPr sz="1000">
                <a:solidFill>
                  <a:srgbClr val="FFFFFF"/>
                </a:solidFill>
                <a:latin typeface="Cousine"/>
                <a:ea typeface="Cousine"/>
                <a:cs typeface="Cousine"/>
                <a:sym typeface="Cousine"/>
              </a:defRPr>
            </a:lvl4pPr>
            <a:lvl5pPr lvl="4" algn="r">
              <a:buNone/>
              <a:defRPr sz="1000">
                <a:solidFill>
                  <a:srgbClr val="FFFFFF"/>
                </a:solidFill>
                <a:latin typeface="Cousine"/>
                <a:ea typeface="Cousine"/>
                <a:cs typeface="Cousine"/>
                <a:sym typeface="Cousine"/>
              </a:defRPr>
            </a:lvl5pPr>
            <a:lvl6pPr lvl="5" algn="r">
              <a:buNone/>
              <a:defRPr sz="1000">
                <a:solidFill>
                  <a:srgbClr val="FFFFFF"/>
                </a:solidFill>
                <a:latin typeface="Cousine"/>
                <a:ea typeface="Cousine"/>
                <a:cs typeface="Cousine"/>
                <a:sym typeface="Cousine"/>
              </a:defRPr>
            </a:lvl6pPr>
            <a:lvl7pPr lvl="6" algn="r">
              <a:buNone/>
              <a:defRPr sz="1000">
                <a:solidFill>
                  <a:srgbClr val="FFFFFF"/>
                </a:solidFill>
                <a:latin typeface="Cousine"/>
                <a:ea typeface="Cousine"/>
                <a:cs typeface="Cousine"/>
                <a:sym typeface="Cousine"/>
              </a:defRPr>
            </a:lvl7pPr>
            <a:lvl8pPr lvl="7" algn="r">
              <a:buNone/>
              <a:defRPr sz="1000">
                <a:solidFill>
                  <a:srgbClr val="FFFFFF"/>
                </a:solidFill>
                <a:latin typeface="Cousine"/>
                <a:ea typeface="Cousine"/>
                <a:cs typeface="Cousine"/>
                <a:sym typeface="Cousine"/>
              </a:defRPr>
            </a:lvl8pPr>
            <a:lvl9pPr lvl="8" algn="r">
              <a:buNone/>
              <a:defRPr sz="1000">
                <a:solidFill>
                  <a:srgbClr val="FFFFFF"/>
                </a:solidFill>
                <a:latin typeface="Cousine"/>
                <a:ea typeface="Cousine"/>
                <a:cs typeface="Cousine"/>
                <a:sym typeface="Cousi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444443154"/>
      </p:ext>
    </p:extLst>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s://www.google.hu/url?sa=t&amp;rct=j&amp;q=&amp;esrc=s&amp;source=web&amp;cd=1&amp;ved=2ahUKEwjHuaPgseHhAhUCtIsKHUanAoMQFjAAegQIBhAB&amp;url=https%3A%2F%2Fwww.compart.com%2Fen%2Funicode%2FU%2B2260&amp;usg=AOvVaw3MOLLrBV89sQf0weXgK-zq" TargetMode="External"/><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1"/>
          <p:cNvSpPr txBox="1">
            <a:spLocks noGrp="1"/>
          </p:cNvSpPr>
          <p:nvPr>
            <p:ph type="ctrTitle"/>
          </p:nvPr>
        </p:nvSpPr>
        <p:spPr>
          <a:xfrm>
            <a:off x="914400" y="4279286"/>
            <a:ext cx="7212600" cy="154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hu-HU" dirty="0"/>
              <a:t>PROGRAMTERVEZÉSI MINTÁK: </a:t>
            </a:r>
            <a:r>
              <a:rPr lang="hu-HU" sz="4400" dirty="0"/>
              <a:t>METRIKÁK</a:t>
            </a:r>
            <a:endParaRPr dirty="0"/>
          </a:p>
        </p:txBody>
      </p:sp>
      <p:sp>
        <p:nvSpPr>
          <p:cNvPr id="3" name="Google Shape;327;p34">
            <a:extLst>
              <a:ext uri="{FF2B5EF4-FFF2-40B4-BE49-F238E27FC236}">
                <a16:creationId xmlns:a16="http://schemas.microsoft.com/office/drawing/2014/main" id="{5F1C20C0-A912-4AC7-A30E-B3A63D502206}"/>
              </a:ext>
            </a:extLst>
          </p:cNvPr>
          <p:cNvSpPr txBox="1">
            <a:spLocks/>
          </p:cNvSpPr>
          <p:nvPr/>
        </p:nvSpPr>
        <p:spPr>
          <a:xfrm>
            <a:off x="5679463" y="5825786"/>
            <a:ext cx="2700966" cy="80115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FFFFFF"/>
              </a:buClr>
              <a:buSzPts val="3000"/>
              <a:buFont typeface="Cousine"/>
              <a:buChar char="▪"/>
              <a:defRPr sz="3000" b="0" i="0" u="none" strike="noStrike" cap="none">
                <a:solidFill>
                  <a:srgbClr val="FFFFFF"/>
                </a:solidFill>
                <a:latin typeface="Cousine"/>
                <a:ea typeface="Cousine"/>
                <a:cs typeface="Cousine"/>
                <a:sym typeface="Cousine"/>
              </a:defRPr>
            </a:lvl1pPr>
            <a:lvl2pPr marL="914400" marR="0" lvl="1"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2pPr>
            <a:lvl3pPr marL="1371600" marR="0" lvl="2"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3pPr>
            <a:lvl4pPr marL="1828800" marR="0" lvl="3"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4pPr>
            <a:lvl5pPr marL="2286000" marR="0" lvl="4"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5pPr>
            <a:lvl6pPr marL="2743200" marR="0" lvl="5"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6pPr>
            <a:lvl7pPr marL="3200400" marR="0" lvl="6"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7pPr>
            <a:lvl8pPr marL="3657600" marR="0" lvl="7"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8pPr>
            <a:lvl9pPr marL="4114800" marR="0" lvl="8"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9pPr>
          </a:lstStyle>
          <a:p>
            <a:pPr marL="0" indent="0">
              <a:buFont typeface="Cousine"/>
              <a:buNone/>
            </a:pPr>
            <a:r>
              <a:rPr lang="hu-HU" sz="1800" dirty="0"/>
              <a:t>Németh Gábor</a:t>
            </a:r>
          </a:p>
          <a:p>
            <a:pPr marL="0" indent="0">
              <a:buFont typeface="Cousine"/>
              <a:buNone/>
            </a:pPr>
            <a:r>
              <a:rPr lang="hu-HU" sz="1800" dirty="0"/>
              <a:t>2019</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2"/>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PROGRAMOK KOMPLEXITÁSÁNAK MÉRÉSE</a:t>
            </a:r>
            <a:endParaRPr dirty="0"/>
          </a:p>
        </p:txBody>
      </p:sp>
      <p:sp>
        <p:nvSpPr>
          <p:cNvPr id="71" name="Google Shape;71;p12"/>
          <p:cNvSpPr txBox="1"/>
          <p:nvPr/>
        </p:nvSpPr>
        <p:spPr>
          <a:xfrm>
            <a:off x="457200" y="1311477"/>
            <a:ext cx="3776700" cy="22071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hu-HU" sz="1600" b="1" i="0" u="none" strike="noStrike" kern="0" cap="none" spc="0" normalizeH="0" baseline="0" noProof="0" dirty="0">
                <a:ln>
                  <a:noFill/>
                </a:ln>
                <a:solidFill>
                  <a:srgbClr val="FFFFFF"/>
                </a:solidFill>
                <a:effectLst/>
                <a:uLnTx/>
                <a:uFillTx/>
                <a:latin typeface="Cousine"/>
                <a:ea typeface="Cousine"/>
                <a:cs typeface="Cousine"/>
                <a:sym typeface="Cousine"/>
              </a:rPr>
              <a:t>KLASSZIKUS METRIKÁK</a:t>
            </a:r>
            <a:endParaRPr kumimoji="0" sz="1600" b="0" i="0" u="none" strike="noStrike" kern="0" cap="none" spc="0" normalizeH="0" baseline="0" noProof="0" dirty="0">
              <a:ln>
                <a:noFill/>
              </a:ln>
              <a:solidFill>
                <a:srgbClr val="FFFFFF"/>
              </a:solidFill>
              <a:effectLst/>
              <a:uLnTx/>
              <a:uFillTx/>
              <a:latin typeface="Cousine"/>
              <a:ea typeface="Cousine"/>
              <a:cs typeface="Cousine"/>
              <a:sym typeface="Cousine"/>
            </a:endParaRP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endPar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endParaRP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rPr>
              <a:t>LOC, Line of </a:t>
            </a:r>
            <a:r>
              <a:rPr kumimoji="0" lang="hu-HU" sz="1600" b="0" i="0" u="none" strike="noStrike" kern="0" cap="none" spc="0" normalizeH="0" baseline="0" noProof="0" dirty="0" err="1">
                <a:ln>
                  <a:noFill/>
                </a:ln>
                <a:solidFill>
                  <a:srgbClr val="FFFFFF"/>
                </a:solidFill>
                <a:effectLst/>
                <a:uLnTx/>
                <a:uFillTx/>
                <a:latin typeface="Cousine"/>
                <a:ea typeface="Cousine"/>
                <a:cs typeface="Cousine"/>
                <a:sym typeface="Cousine"/>
              </a:rPr>
              <a:t>Code</a:t>
            </a:r>
            <a:r>
              <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rPr>
              <a:t> – kódsorok száma</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endPar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endParaRP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rPr>
              <a:t>CP, Comment </a:t>
            </a:r>
            <a:r>
              <a:rPr kumimoji="0" lang="hu-HU" sz="1600" b="0" i="0" u="none" strike="noStrike" kern="0" cap="none" spc="0" normalizeH="0" baseline="0" noProof="0" dirty="0" err="1">
                <a:ln>
                  <a:noFill/>
                </a:ln>
                <a:solidFill>
                  <a:srgbClr val="FFFFFF"/>
                </a:solidFill>
                <a:effectLst/>
                <a:uLnTx/>
                <a:uFillTx/>
                <a:latin typeface="Cousine"/>
                <a:ea typeface="Cousine"/>
                <a:cs typeface="Cousine"/>
                <a:sym typeface="Cousine"/>
              </a:rPr>
              <a:t>Percentage</a:t>
            </a:r>
            <a:r>
              <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rPr>
              <a:t>  - kommentsorok száma osztva a nem üres sorok számával</a:t>
            </a:r>
            <a:endParaRPr kumimoji="0" sz="1600" b="0" i="0" u="none" strike="noStrike" kern="0" cap="none" spc="0" normalizeH="0" baseline="0" noProof="0" dirty="0">
              <a:ln>
                <a:noFill/>
              </a:ln>
              <a:solidFill>
                <a:srgbClr val="FFFFFF"/>
              </a:solidFill>
              <a:effectLst/>
              <a:uLnTx/>
              <a:uFillTx/>
              <a:latin typeface="Cousine"/>
              <a:ea typeface="Cousine"/>
              <a:cs typeface="Cousine"/>
              <a:sym typeface="Cousine"/>
            </a:endParaRPr>
          </a:p>
        </p:txBody>
      </p:sp>
      <p:sp>
        <p:nvSpPr>
          <p:cNvPr id="72" name="Google Shape;72;p12"/>
          <p:cNvSpPr txBox="1"/>
          <p:nvPr/>
        </p:nvSpPr>
        <p:spPr>
          <a:xfrm>
            <a:off x="4744975" y="1311477"/>
            <a:ext cx="3941700" cy="242563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hu-HU" sz="1600" b="1" i="0" u="none" strike="noStrike" kern="0" cap="none" spc="0" normalizeH="0" baseline="0" noProof="0" dirty="0">
                <a:ln>
                  <a:noFill/>
                </a:ln>
                <a:solidFill>
                  <a:srgbClr val="FFFFFF"/>
                </a:solidFill>
                <a:effectLst/>
                <a:uLnTx/>
                <a:uFillTx/>
                <a:latin typeface="Cousine"/>
                <a:ea typeface="Cousine"/>
                <a:cs typeface="Cousine"/>
                <a:sym typeface="Cousine"/>
              </a:rPr>
              <a:t>OO METRIKÁK</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endParaRPr lang="hu-HU" sz="1600" b="1" dirty="0">
              <a:solidFill>
                <a:srgbClr val="FFFFFF"/>
              </a:solidFill>
              <a:latin typeface="Cousine"/>
              <a:ea typeface="Cousine"/>
              <a:cs typeface="Cousine"/>
              <a:sym typeface="Cousine"/>
            </a:endParaRP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hu-HU" sz="1600" b="1" i="0" u="none" strike="noStrike" kern="0" cap="none" spc="0" normalizeH="0" baseline="0" noProof="0" dirty="0">
                <a:ln>
                  <a:noFill/>
                </a:ln>
                <a:solidFill>
                  <a:srgbClr val="FFFFFF"/>
                </a:solidFill>
                <a:effectLst/>
                <a:uLnTx/>
                <a:uFillTx/>
                <a:latin typeface="Cousine"/>
                <a:ea typeface="Cousine"/>
                <a:cs typeface="Cousine"/>
                <a:sym typeface="Cousine"/>
              </a:rPr>
              <a:t>CSATOLÁS METRIKÁI</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endParaRPr lang="hu-HU" sz="1600" b="1" dirty="0">
              <a:solidFill>
                <a:srgbClr val="FFFFFF"/>
              </a:solidFill>
              <a:latin typeface="Cousine"/>
              <a:ea typeface="Cousine"/>
              <a:cs typeface="Cousine"/>
              <a:sym typeface="Cousine"/>
            </a:endParaRP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hu-HU" sz="1600" b="1" i="0" u="none" strike="noStrike" kern="0" cap="none" spc="0" normalizeH="0" baseline="0" noProof="0" dirty="0">
                <a:ln>
                  <a:noFill/>
                </a:ln>
                <a:solidFill>
                  <a:srgbClr val="FFFFFF"/>
                </a:solidFill>
                <a:effectLst/>
                <a:uLnTx/>
                <a:uFillTx/>
                <a:latin typeface="Cousine"/>
                <a:ea typeface="Cousine"/>
                <a:cs typeface="Cousine"/>
                <a:sym typeface="Cousine"/>
              </a:rPr>
              <a:t>KOHÉZIÓ METRIKÁI</a:t>
            </a:r>
            <a:endParaRPr kumimoji="0" sz="1600" b="0" i="0" u="none" strike="noStrike" kern="0" cap="none" spc="0" normalizeH="0" baseline="0" noProof="0" dirty="0">
              <a:ln>
                <a:noFill/>
              </a:ln>
              <a:solidFill>
                <a:srgbClr val="FFFFFF"/>
              </a:solidFill>
              <a:effectLst/>
              <a:uLnTx/>
              <a:uFillTx/>
              <a:latin typeface="Cousine"/>
              <a:ea typeface="Cousine"/>
              <a:cs typeface="Cousine"/>
              <a:sym typeface="Cousine"/>
            </a:endParaRP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endParaRPr kumimoji="0" lang="hu-HU" sz="1600" b="0" i="0" u="none" strike="noStrike" kern="0" cap="none" spc="0" normalizeH="0" baseline="0" noProof="0" dirty="0">
              <a:ln>
                <a:noFill/>
              </a:ln>
              <a:solidFill>
                <a:srgbClr val="FFFFFF"/>
              </a:solidFill>
              <a:effectLst/>
              <a:uLnTx/>
              <a:uFillTx/>
              <a:latin typeface="Cousine"/>
              <a:ea typeface="Cousine"/>
              <a:cs typeface="Cousine"/>
              <a:sym typeface="Cousine"/>
            </a:endParaRPr>
          </a:p>
          <a:p>
            <a:pPr>
              <a:spcBef>
                <a:spcPts val="600"/>
              </a:spcBef>
            </a:pPr>
            <a:r>
              <a:rPr lang="hu-HU" sz="1600" b="1" dirty="0">
                <a:solidFill>
                  <a:srgbClr val="FFFFFF"/>
                </a:solidFill>
                <a:latin typeface="Cousine"/>
                <a:cs typeface="Cousine"/>
                <a:sym typeface="Cousine"/>
              </a:rPr>
              <a:t>CSOMAGMETRIKÁK</a:t>
            </a:r>
          </a:p>
        </p:txBody>
      </p:sp>
      <p:sp>
        <p:nvSpPr>
          <p:cNvPr id="74" name="Google Shape;74;p12"/>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ctrTitle" idx="4294967295"/>
          </p:nvPr>
        </p:nvSpPr>
        <p:spPr>
          <a:xfrm>
            <a:off x="685800" y="3748953"/>
            <a:ext cx="7772400" cy="104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hu-HU" sz="3600" b="1" dirty="0"/>
              <a:t>OO METRIKÁK</a:t>
            </a:r>
            <a:endParaRPr sz="3600" b="1" dirty="0"/>
          </a:p>
        </p:txBody>
      </p:sp>
      <p:grpSp>
        <p:nvGrpSpPr>
          <p:cNvPr id="118" name="Google Shape;118;p17"/>
          <p:cNvGrpSpPr/>
          <p:nvPr/>
        </p:nvGrpSpPr>
        <p:grpSpPr>
          <a:xfrm>
            <a:off x="3030219" y="756050"/>
            <a:ext cx="2931161" cy="2815726"/>
            <a:chOff x="3075562" y="756050"/>
            <a:chExt cx="2931161" cy="2815726"/>
          </a:xfrm>
        </p:grpSpPr>
        <p:sp>
          <p:nvSpPr>
            <p:cNvPr id="119" name="Google Shape;119;p17"/>
            <p:cNvSpPr/>
            <p:nvPr/>
          </p:nvSpPr>
          <p:spPr>
            <a:xfrm>
              <a:off x="3950843" y="1762696"/>
              <a:ext cx="1326900" cy="1326900"/>
            </a:xfrm>
            <a:prstGeom prst="ellipse">
              <a:avLst/>
            </a:prstGeom>
            <a:noFill/>
            <a:ln w="9525"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20;p17"/>
            <p:cNvSpPr/>
            <p:nvPr/>
          </p:nvSpPr>
          <p:spPr>
            <a:xfrm>
              <a:off x="3472643" y="1284496"/>
              <a:ext cx="2283300" cy="2283300"/>
            </a:xfrm>
            <a:prstGeom prst="rect">
              <a:avLst/>
            </a:prstGeom>
            <a:noFill/>
            <a:ln w="9525" cap="flat" cmpd="sng">
              <a:solidFill>
                <a:srgbClr val="FFFFFF"/>
              </a:solidFill>
              <a:prstDash val="dash"/>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17"/>
            <p:cNvSpPr/>
            <p:nvPr/>
          </p:nvSpPr>
          <p:spPr>
            <a:xfrm>
              <a:off x="5883273" y="1280600"/>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2" name="Google Shape;122;p17"/>
            <p:cNvSpPr/>
            <p:nvPr/>
          </p:nvSpPr>
          <p:spPr>
            <a:xfrm rot="-5400000">
              <a:off x="4546838" y="-55875"/>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3" name="Google Shape;123;p17"/>
            <p:cNvSpPr/>
            <p:nvPr/>
          </p:nvSpPr>
          <p:spPr>
            <a:xfrm rot="-5400000">
              <a:off x="3075562" y="756050"/>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24" name="Google Shape;124;p17"/>
            <p:cNvCxnSpPr/>
            <p:nvPr/>
          </p:nvCxnSpPr>
          <p:spPr>
            <a:xfrm>
              <a:off x="3480293" y="1292146"/>
              <a:ext cx="2268000" cy="2268000"/>
            </a:xfrm>
            <a:prstGeom prst="straightConnector1">
              <a:avLst/>
            </a:prstGeom>
            <a:noFill/>
            <a:ln w="9525" cap="flat" cmpd="sng">
              <a:solidFill>
                <a:srgbClr val="FFFFFF"/>
              </a:solidFill>
              <a:prstDash val="dash"/>
              <a:round/>
              <a:headEnd type="none" w="med" len="med"/>
              <a:tailEnd type="none" w="med" len="med"/>
            </a:ln>
          </p:spPr>
        </p:cxnSp>
        <p:cxnSp>
          <p:nvCxnSpPr>
            <p:cNvPr id="125" name="Google Shape;125;p17"/>
            <p:cNvCxnSpPr>
              <a:endCxn id="119" idx="7"/>
            </p:cNvCxnSpPr>
            <p:nvPr/>
          </p:nvCxnSpPr>
          <p:spPr>
            <a:xfrm flipH="1">
              <a:off x="5083423" y="1280516"/>
              <a:ext cx="676500" cy="676500"/>
            </a:xfrm>
            <a:prstGeom prst="straightConnector1">
              <a:avLst/>
            </a:prstGeom>
            <a:noFill/>
            <a:ln w="9525" cap="flat" cmpd="sng">
              <a:solidFill>
                <a:srgbClr val="FFFFFF"/>
              </a:solidFill>
              <a:prstDash val="dash"/>
              <a:round/>
              <a:headEnd type="none" w="med" len="med"/>
              <a:tailEnd type="none" w="med" len="med"/>
            </a:ln>
          </p:spPr>
        </p:cxnSp>
        <p:cxnSp>
          <p:nvCxnSpPr>
            <p:cNvPr id="126" name="Google Shape;126;p17"/>
            <p:cNvCxnSpPr/>
            <p:nvPr/>
          </p:nvCxnSpPr>
          <p:spPr>
            <a:xfrm>
              <a:off x="3345288" y="1288325"/>
              <a:ext cx="0" cy="2283300"/>
            </a:xfrm>
            <a:prstGeom prst="straightConnector1">
              <a:avLst/>
            </a:prstGeom>
            <a:noFill/>
            <a:ln w="9525" cap="flat" cmpd="sng">
              <a:solidFill>
                <a:srgbClr val="FFFFFF"/>
              </a:solidFill>
              <a:prstDash val="solid"/>
              <a:round/>
              <a:headEnd type="triangle" w="sm" len="sm"/>
              <a:tailEnd type="triangle" w="sm" len="sm"/>
            </a:ln>
          </p:spPr>
        </p:cxnSp>
        <p:cxnSp>
          <p:nvCxnSpPr>
            <p:cNvPr id="127" name="Google Shape;127;p17"/>
            <p:cNvCxnSpPr>
              <a:stCxn id="119" idx="3"/>
            </p:cNvCxnSpPr>
            <p:nvPr/>
          </p:nvCxnSpPr>
          <p:spPr>
            <a:xfrm flipH="1">
              <a:off x="3468663" y="2895276"/>
              <a:ext cx="676500" cy="676500"/>
            </a:xfrm>
            <a:prstGeom prst="straightConnector1">
              <a:avLst/>
            </a:prstGeom>
            <a:noFill/>
            <a:ln w="9525" cap="flat" cmpd="sng">
              <a:solidFill>
                <a:srgbClr val="FFFFFF"/>
              </a:solidFill>
              <a:prstDash val="dash"/>
              <a:round/>
              <a:headEnd type="none" w="med" len="med"/>
              <a:tailEnd type="none" w="med" len="med"/>
            </a:ln>
          </p:spPr>
        </p:cxnSp>
      </p:grpSp>
      <p:sp>
        <p:nvSpPr>
          <p:cNvPr id="128" name="Google Shape;128;p17"/>
          <p:cNvSpPr/>
          <p:nvPr/>
        </p:nvSpPr>
        <p:spPr>
          <a:xfrm>
            <a:off x="4177025" y="1997048"/>
            <a:ext cx="789947" cy="797788"/>
          </a:xfrm>
          <a:custGeom>
            <a:avLst/>
            <a:gdLst/>
            <a:ahLst/>
            <a:cxnLst/>
            <a:rect l="l" t="t" r="r" b="b"/>
            <a:pathLst>
              <a:path w="17228" h="17399" extrusionOk="0">
                <a:moveTo>
                  <a:pt x="14162" y="439"/>
                </a:moveTo>
                <a:lnTo>
                  <a:pt x="14478" y="512"/>
                </a:lnTo>
                <a:lnTo>
                  <a:pt x="14794" y="609"/>
                </a:lnTo>
                <a:lnTo>
                  <a:pt x="15111" y="755"/>
                </a:lnTo>
                <a:lnTo>
                  <a:pt x="15403" y="925"/>
                </a:lnTo>
                <a:lnTo>
                  <a:pt x="15670" y="1120"/>
                </a:lnTo>
                <a:lnTo>
                  <a:pt x="15914" y="1315"/>
                </a:lnTo>
                <a:lnTo>
                  <a:pt x="16108" y="1534"/>
                </a:lnTo>
                <a:lnTo>
                  <a:pt x="15987" y="1558"/>
                </a:lnTo>
                <a:lnTo>
                  <a:pt x="15889" y="1607"/>
                </a:lnTo>
                <a:lnTo>
                  <a:pt x="15816" y="1655"/>
                </a:lnTo>
                <a:lnTo>
                  <a:pt x="15792" y="1680"/>
                </a:lnTo>
                <a:lnTo>
                  <a:pt x="15768" y="1728"/>
                </a:lnTo>
                <a:lnTo>
                  <a:pt x="15768" y="1777"/>
                </a:lnTo>
                <a:lnTo>
                  <a:pt x="15792" y="1826"/>
                </a:lnTo>
                <a:lnTo>
                  <a:pt x="15865" y="1850"/>
                </a:lnTo>
                <a:lnTo>
                  <a:pt x="15938" y="1874"/>
                </a:lnTo>
                <a:lnTo>
                  <a:pt x="16230" y="1874"/>
                </a:lnTo>
                <a:lnTo>
                  <a:pt x="16352" y="1850"/>
                </a:lnTo>
                <a:lnTo>
                  <a:pt x="16546" y="2166"/>
                </a:lnTo>
                <a:lnTo>
                  <a:pt x="16254" y="2142"/>
                </a:lnTo>
                <a:lnTo>
                  <a:pt x="16011" y="2142"/>
                </a:lnTo>
                <a:lnTo>
                  <a:pt x="15987" y="2166"/>
                </a:lnTo>
                <a:lnTo>
                  <a:pt x="15987" y="2191"/>
                </a:lnTo>
                <a:lnTo>
                  <a:pt x="16133" y="2312"/>
                </a:lnTo>
                <a:lnTo>
                  <a:pt x="16303" y="2410"/>
                </a:lnTo>
                <a:lnTo>
                  <a:pt x="16473" y="2458"/>
                </a:lnTo>
                <a:lnTo>
                  <a:pt x="16668" y="2507"/>
                </a:lnTo>
                <a:lnTo>
                  <a:pt x="16717" y="2750"/>
                </a:lnTo>
                <a:lnTo>
                  <a:pt x="16741" y="2994"/>
                </a:lnTo>
                <a:lnTo>
                  <a:pt x="16522" y="2872"/>
                </a:lnTo>
                <a:lnTo>
                  <a:pt x="16352" y="2799"/>
                </a:lnTo>
                <a:lnTo>
                  <a:pt x="16181" y="2702"/>
                </a:lnTo>
                <a:lnTo>
                  <a:pt x="16011" y="2653"/>
                </a:lnTo>
                <a:lnTo>
                  <a:pt x="15792" y="2653"/>
                </a:lnTo>
                <a:lnTo>
                  <a:pt x="15768" y="2677"/>
                </a:lnTo>
                <a:lnTo>
                  <a:pt x="15768" y="2702"/>
                </a:lnTo>
                <a:lnTo>
                  <a:pt x="15768" y="2726"/>
                </a:lnTo>
                <a:lnTo>
                  <a:pt x="15889" y="2872"/>
                </a:lnTo>
                <a:lnTo>
                  <a:pt x="16035" y="2994"/>
                </a:lnTo>
                <a:lnTo>
                  <a:pt x="16327" y="3213"/>
                </a:lnTo>
                <a:lnTo>
                  <a:pt x="16522" y="3334"/>
                </a:lnTo>
                <a:lnTo>
                  <a:pt x="16619" y="3407"/>
                </a:lnTo>
                <a:lnTo>
                  <a:pt x="16717" y="3456"/>
                </a:lnTo>
                <a:lnTo>
                  <a:pt x="16692" y="3651"/>
                </a:lnTo>
                <a:lnTo>
                  <a:pt x="16619" y="3845"/>
                </a:lnTo>
                <a:lnTo>
                  <a:pt x="16400" y="3602"/>
                </a:lnTo>
                <a:lnTo>
                  <a:pt x="16133" y="3407"/>
                </a:lnTo>
                <a:lnTo>
                  <a:pt x="15987" y="3310"/>
                </a:lnTo>
                <a:lnTo>
                  <a:pt x="15841" y="3237"/>
                </a:lnTo>
                <a:lnTo>
                  <a:pt x="15695" y="3188"/>
                </a:lnTo>
                <a:lnTo>
                  <a:pt x="15524" y="3164"/>
                </a:lnTo>
                <a:lnTo>
                  <a:pt x="15476" y="3188"/>
                </a:lnTo>
                <a:lnTo>
                  <a:pt x="15476" y="3213"/>
                </a:lnTo>
                <a:lnTo>
                  <a:pt x="15476" y="3237"/>
                </a:lnTo>
                <a:lnTo>
                  <a:pt x="15500" y="3261"/>
                </a:lnTo>
                <a:lnTo>
                  <a:pt x="15597" y="3359"/>
                </a:lnTo>
                <a:lnTo>
                  <a:pt x="15695" y="3432"/>
                </a:lnTo>
                <a:lnTo>
                  <a:pt x="15987" y="3699"/>
                </a:lnTo>
                <a:lnTo>
                  <a:pt x="16230" y="3918"/>
                </a:lnTo>
                <a:lnTo>
                  <a:pt x="16449" y="4162"/>
                </a:lnTo>
                <a:lnTo>
                  <a:pt x="16473" y="4186"/>
                </a:lnTo>
                <a:lnTo>
                  <a:pt x="16254" y="4526"/>
                </a:lnTo>
                <a:lnTo>
                  <a:pt x="16206" y="4453"/>
                </a:lnTo>
                <a:lnTo>
                  <a:pt x="16133" y="4380"/>
                </a:lnTo>
                <a:lnTo>
                  <a:pt x="15962" y="4259"/>
                </a:lnTo>
                <a:lnTo>
                  <a:pt x="15646" y="4040"/>
                </a:lnTo>
                <a:lnTo>
                  <a:pt x="15403" y="3821"/>
                </a:lnTo>
                <a:lnTo>
                  <a:pt x="15159" y="3626"/>
                </a:lnTo>
                <a:lnTo>
                  <a:pt x="15111" y="3626"/>
                </a:lnTo>
                <a:lnTo>
                  <a:pt x="15062" y="3651"/>
                </a:lnTo>
                <a:lnTo>
                  <a:pt x="15013" y="3724"/>
                </a:lnTo>
                <a:lnTo>
                  <a:pt x="15013" y="3821"/>
                </a:lnTo>
                <a:lnTo>
                  <a:pt x="15013" y="3894"/>
                </a:lnTo>
                <a:lnTo>
                  <a:pt x="15038" y="3991"/>
                </a:lnTo>
                <a:lnTo>
                  <a:pt x="15135" y="4137"/>
                </a:lnTo>
                <a:lnTo>
                  <a:pt x="15257" y="4283"/>
                </a:lnTo>
                <a:lnTo>
                  <a:pt x="15427" y="4453"/>
                </a:lnTo>
                <a:lnTo>
                  <a:pt x="15622" y="4599"/>
                </a:lnTo>
                <a:lnTo>
                  <a:pt x="15816" y="4745"/>
                </a:lnTo>
                <a:lnTo>
                  <a:pt x="15914" y="4818"/>
                </a:lnTo>
                <a:lnTo>
                  <a:pt x="16011" y="4843"/>
                </a:lnTo>
                <a:lnTo>
                  <a:pt x="15792" y="5135"/>
                </a:lnTo>
                <a:lnTo>
                  <a:pt x="14867" y="4162"/>
                </a:lnTo>
                <a:lnTo>
                  <a:pt x="13967" y="3213"/>
                </a:lnTo>
                <a:lnTo>
                  <a:pt x="13505" y="2750"/>
                </a:lnTo>
                <a:lnTo>
                  <a:pt x="13018" y="2288"/>
                </a:lnTo>
                <a:lnTo>
                  <a:pt x="12531" y="1850"/>
                </a:lnTo>
                <a:lnTo>
                  <a:pt x="12021" y="1461"/>
                </a:lnTo>
                <a:lnTo>
                  <a:pt x="12021" y="1388"/>
                </a:lnTo>
                <a:lnTo>
                  <a:pt x="12118" y="1315"/>
                </a:lnTo>
                <a:lnTo>
                  <a:pt x="12215" y="1242"/>
                </a:lnTo>
                <a:lnTo>
                  <a:pt x="12385" y="1047"/>
                </a:lnTo>
                <a:lnTo>
                  <a:pt x="12629" y="852"/>
                </a:lnTo>
                <a:lnTo>
                  <a:pt x="12921" y="682"/>
                </a:lnTo>
                <a:lnTo>
                  <a:pt x="13213" y="560"/>
                </a:lnTo>
                <a:lnTo>
                  <a:pt x="13505" y="463"/>
                </a:lnTo>
                <a:lnTo>
                  <a:pt x="13675" y="439"/>
                </a:lnTo>
                <a:close/>
                <a:moveTo>
                  <a:pt x="11753" y="1704"/>
                </a:moveTo>
                <a:lnTo>
                  <a:pt x="11826" y="1850"/>
                </a:lnTo>
                <a:lnTo>
                  <a:pt x="11948" y="1972"/>
                </a:lnTo>
                <a:lnTo>
                  <a:pt x="12093" y="2069"/>
                </a:lnTo>
                <a:lnTo>
                  <a:pt x="12385" y="2288"/>
                </a:lnTo>
                <a:lnTo>
                  <a:pt x="12677" y="2531"/>
                </a:lnTo>
                <a:lnTo>
                  <a:pt x="12945" y="2823"/>
                </a:lnTo>
                <a:lnTo>
                  <a:pt x="13480" y="3383"/>
                </a:lnTo>
                <a:lnTo>
                  <a:pt x="14478" y="4453"/>
                </a:lnTo>
                <a:lnTo>
                  <a:pt x="15500" y="5500"/>
                </a:lnTo>
                <a:lnTo>
                  <a:pt x="15111" y="5962"/>
                </a:lnTo>
                <a:lnTo>
                  <a:pt x="14600" y="5500"/>
                </a:lnTo>
                <a:lnTo>
                  <a:pt x="14113" y="5013"/>
                </a:lnTo>
                <a:lnTo>
                  <a:pt x="13213" y="4016"/>
                </a:lnTo>
                <a:lnTo>
                  <a:pt x="12750" y="3529"/>
                </a:lnTo>
                <a:lnTo>
                  <a:pt x="12264" y="3018"/>
                </a:lnTo>
                <a:lnTo>
                  <a:pt x="11777" y="2556"/>
                </a:lnTo>
                <a:lnTo>
                  <a:pt x="11266" y="2093"/>
                </a:lnTo>
                <a:lnTo>
                  <a:pt x="11753" y="1704"/>
                </a:lnTo>
                <a:close/>
                <a:moveTo>
                  <a:pt x="13724" y="5232"/>
                </a:moveTo>
                <a:lnTo>
                  <a:pt x="14235" y="5767"/>
                </a:lnTo>
                <a:lnTo>
                  <a:pt x="14794" y="6278"/>
                </a:lnTo>
                <a:lnTo>
                  <a:pt x="14575" y="6497"/>
                </a:lnTo>
                <a:lnTo>
                  <a:pt x="14259" y="6278"/>
                </a:lnTo>
                <a:lnTo>
                  <a:pt x="13967" y="6035"/>
                </a:lnTo>
                <a:lnTo>
                  <a:pt x="13699" y="5792"/>
                </a:lnTo>
                <a:lnTo>
                  <a:pt x="13432" y="5573"/>
                </a:lnTo>
                <a:lnTo>
                  <a:pt x="13724" y="5232"/>
                </a:lnTo>
                <a:close/>
                <a:moveTo>
                  <a:pt x="13261" y="5767"/>
                </a:moveTo>
                <a:lnTo>
                  <a:pt x="13359" y="5913"/>
                </a:lnTo>
                <a:lnTo>
                  <a:pt x="13456" y="6059"/>
                </a:lnTo>
                <a:lnTo>
                  <a:pt x="13724" y="6303"/>
                </a:lnTo>
                <a:lnTo>
                  <a:pt x="13991" y="6546"/>
                </a:lnTo>
                <a:lnTo>
                  <a:pt x="14137" y="6668"/>
                </a:lnTo>
                <a:lnTo>
                  <a:pt x="14308" y="6765"/>
                </a:lnTo>
                <a:lnTo>
                  <a:pt x="14235" y="6814"/>
                </a:lnTo>
                <a:lnTo>
                  <a:pt x="14137" y="6692"/>
                </a:lnTo>
                <a:lnTo>
                  <a:pt x="13991" y="6595"/>
                </a:lnTo>
                <a:lnTo>
                  <a:pt x="13699" y="6400"/>
                </a:lnTo>
                <a:lnTo>
                  <a:pt x="13359" y="6230"/>
                </a:lnTo>
                <a:lnTo>
                  <a:pt x="13188" y="6132"/>
                </a:lnTo>
                <a:lnTo>
                  <a:pt x="13042" y="6011"/>
                </a:lnTo>
                <a:lnTo>
                  <a:pt x="13261" y="5767"/>
                </a:lnTo>
                <a:close/>
                <a:moveTo>
                  <a:pt x="13018" y="6059"/>
                </a:moveTo>
                <a:lnTo>
                  <a:pt x="13188" y="6303"/>
                </a:lnTo>
                <a:lnTo>
                  <a:pt x="13286" y="6424"/>
                </a:lnTo>
                <a:lnTo>
                  <a:pt x="13407" y="6522"/>
                </a:lnTo>
                <a:lnTo>
                  <a:pt x="14040" y="7008"/>
                </a:lnTo>
                <a:lnTo>
                  <a:pt x="13699" y="7349"/>
                </a:lnTo>
                <a:lnTo>
                  <a:pt x="13675" y="7325"/>
                </a:lnTo>
                <a:lnTo>
                  <a:pt x="13505" y="7227"/>
                </a:lnTo>
                <a:lnTo>
                  <a:pt x="13334" y="7106"/>
                </a:lnTo>
                <a:lnTo>
                  <a:pt x="13018" y="6838"/>
                </a:lnTo>
                <a:lnTo>
                  <a:pt x="12799" y="6668"/>
                </a:lnTo>
                <a:lnTo>
                  <a:pt x="12702" y="6595"/>
                </a:lnTo>
                <a:lnTo>
                  <a:pt x="12580" y="6546"/>
                </a:lnTo>
                <a:lnTo>
                  <a:pt x="12799" y="6303"/>
                </a:lnTo>
                <a:lnTo>
                  <a:pt x="13018" y="6059"/>
                </a:lnTo>
                <a:close/>
                <a:moveTo>
                  <a:pt x="12385" y="6716"/>
                </a:moveTo>
                <a:lnTo>
                  <a:pt x="12483" y="6838"/>
                </a:lnTo>
                <a:lnTo>
                  <a:pt x="12580" y="6935"/>
                </a:lnTo>
                <a:lnTo>
                  <a:pt x="12799" y="7130"/>
                </a:lnTo>
                <a:lnTo>
                  <a:pt x="13091" y="7398"/>
                </a:lnTo>
                <a:lnTo>
                  <a:pt x="13407" y="7617"/>
                </a:lnTo>
                <a:lnTo>
                  <a:pt x="13018" y="8006"/>
                </a:lnTo>
                <a:lnTo>
                  <a:pt x="12921" y="8079"/>
                </a:lnTo>
                <a:lnTo>
                  <a:pt x="12823" y="7909"/>
                </a:lnTo>
                <a:lnTo>
                  <a:pt x="12653" y="7763"/>
                </a:lnTo>
                <a:lnTo>
                  <a:pt x="12312" y="7495"/>
                </a:lnTo>
                <a:lnTo>
                  <a:pt x="12093" y="7325"/>
                </a:lnTo>
                <a:lnTo>
                  <a:pt x="11972" y="7252"/>
                </a:lnTo>
                <a:lnTo>
                  <a:pt x="11850" y="7179"/>
                </a:lnTo>
                <a:lnTo>
                  <a:pt x="12385" y="6716"/>
                </a:lnTo>
                <a:close/>
                <a:moveTo>
                  <a:pt x="11631" y="7373"/>
                </a:moveTo>
                <a:lnTo>
                  <a:pt x="11729" y="7471"/>
                </a:lnTo>
                <a:lnTo>
                  <a:pt x="11850" y="7568"/>
                </a:lnTo>
                <a:lnTo>
                  <a:pt x="12093" y="7738"/>
                </a:lnTo>
                <a:lnTo>
                  <a:pt x="12434" y="8055"/>
                </a:lnTo>
                <a:lnTo>
                  <a:pt x="12556" y="8201"/>
                </a:lnTo>
                <a:lnTo>
                  <a:pt x="12702" y="8322"/>
                </a:lnTo>
                <a:lnTo>
                  <a:pt x="11948" y="9150"/>
                </a:lnTo>
                <a:lnTo>
                  <a:pt x="11680" y="8906"/>
                </a:lnTo>
                <a:lnTo>
                  <a:pt x="11364" y="8687"/>
                </a:lnTo>
                <a:lnTo>
                  <a:pt x="11072" y="8444"/>
                </a:lnTo>
                <a:lnTo>
                  <a:pt x="10780" y="8201"/>
                </a:lnTo>
                <a:lnTo>
                  <a:pt x="11096" y="7860"/>
                </a:lnTo>
                <a:lnTo>
                  <a:pt x="11193" y="7957"/>
                </a:lnTo>
                <a:lnTo>
                  <a:pt x="11291" y="8030"/>
                </a:lnTo>
                <a:lnTo>
                  <a:pt x="11461" y="8176"/>
                </a:lnTo>
                <a:lnTo>
                  <a:pt x="11777" y="8493"/>
                </a:lnTo>
                <a:lnTo>
                  <a:pt x="11972" y="8614"/>
                </a:lnTo>
                <a:lnTo>
                  <a:pt x="12166" y="8736"/>
                </a:lnTo>
                <a:lnTo>
                  <a:pt x="12288" y="8736"/>
                </a:lnTo>
                <a:lnTo>
                  <a:pt x="12337" y="8712"/>
                </a:lnTo>
                <a:lnTo>
                  <a:pt x="12361" y="8639"/>
                </a:lnTo>
                <a:lnTo>
                  <a:pt x="12361" y="8566"/>
                </a:lnTo>
                <a:lnTo>
                  <a:pt x="12337" y="8493"/>
                </a:lnTo>
                <a:lnTo>
                  <a:pt x="12118" y="8322"/>
                </a:lnTo>
                <a:lnTo>
                  <a:pt x="11899" y="8152"/>
                </a:lnTo>
                <a:lnTo>
                  <a:pt x="11461" y="7811"/>
                </a:lnTo>
                <a:lnTo>
                  <a:pt x="11291" y="7690"/>
                </a:lnTo>
                <a:lnTo>
                  <a:pt x="11631" y="7373"/>
                </a:lnTo>
                <a:close/>
                <a:moveTo>
                  <a:pt x="10634" y="8371"/>
                </a:moveTo>
                <a:lnTo>
                  <a:pt x="10731" y="8541"/>
                </a:lnTo>
                <a:lnTo>
                  <a:pt x="10853" y="8687"/>
                </a:lnTo>
                <a:lnTo>
                  <a:pt x="10974" y="8809"/>
                </a:lnTo>
                <a:lnTo>
                  <a:pt x="11145" y="8931"/>
                </a:lnTo>
                <a:lnTo>
                  <a:pt x="11461" y="9150"/>
                </a:lnTo>
                <a:lnTo>
                  <a:pt x="11753" y="9369"/>
                </a:lnTo>
                <a:lnTo>
                  <a:pt x="11461" y="9685"/>
                </a:lnTo>
                <a:lnTo>
                  <a:pt x="11145" y="9442"/>
                </a:lnTo>
                <a:lnTo>
                  <a:pt x="10828" y="9198"/>
                </a:lnTo>
                <a:lnTo>
                  <a:pt x="10585" y="8955"/>
                </a:lnTo>
                <a:lnTo>
                  <a:pt x="10463" y="8833"/>
                </a:lnTo>
                <a:lnTo>
                  <a:pt x="10317" y="8736"/>
                </a:lnTo>
                <a:lnTo>
                  <a:pt x="10634" y="8371"/>
                </a:lnTo>
                <a:close/>
                <a:moveTo>
                  <a:pt x="10196" y="8931"/>
                </a:moveTo>
                <a:lnTo>
                  <a:pt x="10269" y="9052"/>
                </a:lnTo>
                <a:lnTo>
                  <a:pt x="10366" y="9198"/>
                </a:lnTo>
                <a:lnTo>
                  <a:pt x="10609" y="9417"/>
                </a:lnTo>
                <a:lnTo>
                  <a:pt x="10901" y="9709"/>
                </a:lnTo>
                <a:lnTo>
                  <a:pt x="11072" y="9831"/>
                </a:lnTo>
                <a:lnTo>
                  <a:pt x="11242" y="9953"/>
                </a:lnTo>
                <a:lnTo>
                  <a:pt x="10415" y="10853"/>
                </a:lnTo>
                <a:lnTo>
                  <a:pt x="10317" y="10707"/>
                </a:lnTo>
                <a:lnTo>
                  <a:pt x="10196" y="10585"/>
                </a:lnTo>
                <a:lnTo>
                  <a:pt x="9904" y="10366"/>
                </a:lnTo>
                <a:lnTo>
                  <a:pt x="9636" y="10172"/>
                </a:lnTo>
                <a:lnTo>
                  <a:pt x="9466" y="10074"/>
                </a:lnTo>
                <a:lnTo>
                  <a:pt x="9320" y="10001"/>
                </a:lnTo>
                <a:lnTo>
                  <a:pt x="9563" y="9709"/>
                </a:lnTo>
                <a:lnTo>
                  <a:pt x="9782" y="9880"/>
                </a:lnTo>
                <a:lnTo>
                  <a:pt x="10001" y="10026"/>
                </a:lnTo>
                <a:lnTo>
                  <a:pt x="10244" y="10245"/>
                </a:lnTo>
                <a:lnTo>
                  <a:pt x="10390" y="10366"/>
                </a:lnTo>
                <a:lnTo>
                  <a:pt x="10536" y="10464"/>
                </a:lnTo>
                <a:lnTo>
                  <a:pt x="10609" y="10488"/>
                </a:lnTo>
                <a:lnTo>
                  <a:pt x="10658" y="10464"/>
                </a:lnTo>
                <a:lnTo>
                  <a:pt x="10731" y="10439"/>
                </a:lnTo>
                <a:lnTo>
                  <a:pt x="10780" y="10391"/>
                </a:lnTo>
                <a:lnTo>
                  <a:pt x="10804" y="10342"/>
                </a:lnTo>
                <a:lnTo>
                  <a:pt x="10828" y="10269"/>
                </a:lnTo>
                <a:lnTo>
                  <a:pt x="10804" y="10220"/>
                </a:lnTo>
                <a:lnTo>
                  <a:pt x="10755" y="10147"/>
                </a:lnTo>
                <a:lnTo>
                  <a:pt x="10220" y="9734"/>
                </a:lnTo>
                <a:lnTo>
                  <a:pt x="10001" y="9563"/>
                </a:lnTo>
                <a:lnTo>
                  <a:pt x="9904" y="9490"/>
                </a:lnTo>
                <a:lnTo>
                  <a:pt x="9782" y="9442"/>
                </a:lnTo>
                <a:lnTo>
                  <a:pt x="10196" y="8931"/>
                </a:lnTo>
                <a:close/>
                <a:moveTo>
                  <a:pt x="9125" y="10245"/>
                </a:moveTo>
                <a:lnTo>
                  <a:pt x="9247" y="10342"/>
                </a:lnTo>
                <a:lnTo>
                  <a:pt x="9368" y="10415"/>
                </a:lnTo>
                <a:lnTo>
                  <a:pt x="9612" y="10585"/>
                </a:lnTo>
                <a:lnTo>
                  <a:pt x="9904" y="10829"/>
                </a:lnTo>
                <a:lnTo>
                  <a:pt x="10050" y="10950"/>
                </a:lnTo>
                <a:lnTo>
                  <a:pt x="10220" y="11048"/>
                </a:lnTo>
                <a:lnTo>
                  <a:pt x="9685" y="11583"/>
                </a:lnTo>
                <a:lnTo>
                  <a:pt x="9685" y="11534"/>
                </a:lnTo>
                <a:lnTo>
                  <a:pt x="9660" y="11437"/>
                </a:lnTo>
                <a:lnTo>
                  <a:pt x="9587" y="11364"/>
                </a:lnTo>
                <a:lnTo>
                  <a:pt x="9417" y="11218"/>
                </a:lnTo>
                <a:lnTo>
                  <a:pt x="9222" y="11023"/>
                </a:lnTo>
                <a:lnTo>
                  <a:pt x="9028" y="10853"/>
                </a:lnTo>
                <a:lnTo>
                  <a:pt x="8906" y="10756"/>
                </a:lnTo>
                <a:lnTo>
                  <a:pt x="8736" y="10683"/>
                </a:lnTo>
                <a:lnTo>
                  <a:pt x="8833" y="10585"/>
                </a:lnTo>
                <a:lnTo>
                  <a:pt x="9125" y="10245"/>
                </a:lnTo>
                <a:close/>
                <a:moveTo>
                  <a:pt x="8468" y="10926"/>
                </a:moveTo>
                <a:lnTo>
                  <a:pt x="8687" y="11096"/>
                </a:lnTo>
                <a:lnTo>
                  <a:pt x="8930" y="11291"/>
                </a:lnTo>
                <a:lnTo>
                  <a:pt x="9052" y="11437"/>
                </a:lnTo>
                <a:lnTo>
                  <a:pt x="9198" y="11583"/>
                </a:lnTo>
                <a:lnTo>
                  <a:pt x="9271" y="11656"/>
                </a:lnTo>
                <a:lnTo>
                  <a:pt x="9344" y="11705"/>
                </a:lnTo>
                <a:lnTo>
                  <a:pt x="9441" y="11753"/>
                </a:lnTo>
                <a:lnTo>
                  <a:pt x="9539" y="11753"/>
                </a:lnTo>
                <a:lnTo>
                  <a:pt x="8468" y="12824"/>
                </a:lnTo>
                <a:lnTo>
                  <a:pt x="8152" y="12532"/>
                </a:lnTo>
                <a:lnTo>
                  <a:pt x="7811" y="12240"/>
                </a:lnTo>
                <a:lnTo>
                  <a:pt x="7470" y="11899"/>
                </a:lnTo>
                <a:lnTo>
                  <a:pt x="7349" y="11826"/>
                </a:lnTo>
                <a:lnTo>
                  <a:pt x="7738" y="11534"/>
                </a:lnTo>
                <a:lnTo>
                  <a:pt x="7860" y="11705"/>
                </a:lnTo>
                <a:lnTo>
                  <a:pt x="8006" y="11875"/>
                </a:lnTo>
                <a:lnTo>
                  <a:pt x="8371" y="12264"/>
                </a:lnTo>
                <a:lnTo>
                  <a:pt x="8517" y="12434"/>
                </a:lnTo>
                <a:lnTo>
                  <a:pt x="8590" y="12483"/>
                </a:lnTo>
                <a:lnTo>
                  <a:pt x="8687" y="12507"/>
                </a:lnTo>
                <a:lnTo>
                  <a:pt x="8736" y="12507"/>
                </a:lnTo>
                <a:lnTo>
                  <a:pt x="8809" y="12483"/>
                </a:lnTo>
                <a:lnTo>
                  <a:pt x="8833" y="12434"/>
                </a:lnTo>
                <a:lnTo>
                  <a:pt x="8857" y="12386"/>
                </a:lnTo>
                <a:lnTo>
                  <a:pt x="8857" y="12289"/>
                </a:lnTo>
                <a:lnTo>
                  <a:pt x="8809" y="12191"/>
                </a:lnTo>
                <a:lnTo>
                  <a:pt x="8760" y="12094"/>
                </a:lnTo>
                <a:lnTo>
                  <a:pt x="8663" y="11997"/>
                </a:lnTo>
                <a:lnTo>
                  <a:pt x="8492" y="11826"/>
                </a:lnTo>
                <a:lnTo>
                  <a:pt x="8322" y="11680"/>
                </a:lnTo>
                <a:lnTo>
                  <a:pt x="8152" y="11510"/>
                </a:lnTo>
                <a:lnTo>
                  <a:pt x="7957" y="11364"/>
                </a:lnTo>
                <a:lnTo>
                  <a:pt x="8468" y="10926"/>
                </a:lnTo>
                <a:close/>
                <a:moveTo>
                  <a:pt x="11047" y="2312"/>
                </a:moveTo>
                <a:lnTo>
                  <a:pt x="11120" y="2434"/>
                </a:lnTo>
                <a:lnTo>
                  <a:pt x="11218" y="2531"/>
                </a:lnTo>
                <a:lnTo>
                  <a:pt x="11437" y="2750"/>
                </a:lnTo>
                <a:lnTo>
                  <a:pt x="11850" y="3213"/>
                </a:lnTo>
                <a:lnTo>
                  <a:pt x="11826" y="3213"/>
                </a:lnTo>
                <a:lnTo>
                  <a:pt x="11193" y="3748"/>
                </a:lnTo>
                <a:lnTo>
                  <a:pt x="10609" y="4283"/>
                </a:lnTo>
                <a:lnTo>
                  <a:pt x="10025" y="4867"/>
                </a:lnTo>
                <a:lnTo>
                  <a:pt x="9490" y="5500"/>
                </a:lnTo>
                <a:lnTo>
                  <a:pt x="9174" y="5865"/>
                </a:lnTo>
                <a:lnTo>
                  <a:pt x="8857" y="6254"/>
                </a:lnTo>
                <a:lnTo>
                  <a:pt x="8517" y="6595"/>
                </a:lnTo>
                <a:lnTo>
                  <a:pt x="8176" y="6935"/>
                </a:lnTo>
                <a:lnTo>
                  <a:pt x="7373" y="7617"/>
                </a:lnTo>
                <a:lnTo>
                  <a:pt x="6984" y="7933"/>
                </a:lnTo>
                <a:lnTo>
                  <a:pt x="6594" y="8274"/>
                </a:lnTo>
                <a:lnTo>
                  <a:pt x="6229" y="8639"/>
                </a:lnTo>
                <a:lnTo>
                  <a:pt x="5864" y="9004"/>
                </a:lnTo>
                <a:lnTo>
                  <a:pt x="5183" y="9782"/>
                </a:lnTo>
                <a:lnTo>
                  <a:pt x="4502" y="10537"/>
                </a:lnTo>
                <a:lnTo>
                  <a:pt x="4137" y="10902"/>
                </a:lnTo>
                <a:lnTo>
                  <a:pt x="3772" y="11242"/>
                </a:lnTo>
                <a:lnTo>
                  <a:pt x="3115" y="11802"/>
                </a:lnTo>
                <a:lnTo>
                  <a:pt x="2799" y="12118"/>
                </a:lnTo>
                <a:lnTo>
                  <a:pt x="2507" y="12434"/>
                </a:lnTo>
                <a:lnTo>
                  <a:pt x="2263" y="12702"/>
                </a:lnTo>
                <a:lnTo>
                  <a:pt x="2166" y="12848"/>
                </a:lnTo>
                <a:lnTo>
                  <a:pt x="2069" y="13018"/>
                </a:lnTo>
                <a:lnTo>
                  <a:pt x="1850" y="12824"/>
                </a:lnTo>
                <a:lnTo>
                  <a:pt x="1460" y="12459"/>
                </a:lnTo>
                <a:lnTo>
                  <a:pt x="1266" y="12264"/>
                </a:lnTo>
                <a:lnTo>
                  <a:pt x="1047" y="12118"/>
                </a:lnTo>
                <a:lnTo>
                  <a:pt x="1047" y="12070"/>
                </a:lnTo>
                <a:lnTo>
                  <a:pt x="1193" y="11997"/>
                </a:lnTo>
                <a:lnTo>
                  <a:pt x="1339" y="11924"/>
                </a:lnTo>
                <a:lnTo>
                  <a:pt x="1460" y="11826"/>
                </a:lnTo>
                <a:lnTo>
                  <a:pt x="1582" y="11705"/>
                </a:lnTo>
                <a:lnTo>
                  <a:pt x="2020" y="11218"/>
                </a:lnTo>
                <a:lnTo>
                  <a:pt x="2385" y="10853"/>
                </a:lnTo>
                <a:lnTo>
                  <a:pt x="2774" y="10537"/>
                </a:lnTo>
                <a:lnTo>
                  <a:pt x="3577" y="9880"/>
                </a:lnTo>
                <a:lnTo>
                  <a:pt x="3942" y="9539"/>
                </a:lnTo>
                <a:lnTo>
                  <a:pt x="4307" y="9198"/>
                </a:lnTo>
                <a:lnTo>
                  <a:pt x="5037" y="8468"/>
                </a:lnTo>
                <a:lnTo>
                  <a:pt x="5718" y="7738"/>
                </a:lnTo>
                <a:lnTo>
                  <a:pt x="6400" y="7008"/>
                </a:lnTo>
                <a:lnTo>
                  <a:pt x="7081" y="6303"/>
                </a:lnTo>
                <a:lnTo>
                  <a:pt x="7787" y="5621"/>
                </a:lnTo>
                <a:lnTo>
                  <a:pt x="8468" y="4940"/>
                </a:lnTo>
                <a:lnTo>
                  <a:pt x="9149" y="4259"/>
                </a:lnTo>
                <a:lnTo>
                  <a:pt x="10074" y="3261"/>
                </a:lnTo>
                <a:lnTo>
                  <a:pt x="10561" y="2775"/>
                </a:lnTo>
                <a:lnTo>
                  <a:pt x="11047" y="2312"/>
                </a:lnTo>
                <a:close/>
                <a:moveTo>
                  <a:pt x="7154" y="11997"/>
                </a:moveTo>
                <a:lnTo>
                  <a:pt x="7203" y="12094"/>
                </a:lnTo>
                <a:lnTo>
                  <a:pt x="7251" y="12167"/>
                </a:lnTo>
                <a:lnTo>
                  <a:pt x="7422" y="12386"/>
                </a:lnTo>
                <a:lnTo>
                  <a:pt x="7592" y="12580"/>
                </a:lnTo>
                <a:lnTo>
                  <a:pt x="7884" y="12872"/>
                </a:lnTo>
                <a:lnTo>
                  <a:pt x="8030" y="12994"/>
                </a:lnTo>
                <a:lnTo>
                  <a:pt x="8200" y="13091"/>
                </a:lnTo>
                <a:lnTo>
                  <a:pt x="7835" y="13481"/>
                </a:lnTo>
                <a:lnTo>
                  <a:pt x="7811" y="13432"/>
                </a:lnTo>
                <a:lnTo>
                  <a:pt x="7787" y="13408"/>
                </a:lnTo>
                <a:lnTo>
                  <a:pt x="7616" y="13262"/>
                </a:lnTo>
                <a:lnTo>
                  <a:pt x="7446" y="13140"/>
                </a:lnTo>
                <a:lnTo>
                  <a:pt x="7251" y="13018"/>
                </a:lnTo>
                <a:lnTo>
                  <a:pt x="7057" y="12872"/>
                </a:lnTo>
                <a:lnTo>
                  <a:pt x="6716" y="12580"/>
                </a:lnTo>
                <a:lnTo>
                  <a:pt x="6643" y="12532"/>
                </a:lnTo>
                <a:lnTo>
                  <a:pt x="6594" y="12507"/>
                </a:lnTo>
                <a:lnTo>
                  <a:pt x="6862" y="12240"/>
                </a:lnTo>
                <a:lnTo>
                  <a:pt x="7154" y="11997"/>
                </a:lnTo>
                <a:close/>
                <a:moveTo>
                  <a:pt x="6424" y="12702"/>
                </a:moveTo>
                <a:lnTo>
                  <a:pt x="6448" y="12775"/>
                </a:lnTo>
                <a:lnTo>
                  <a:pt x="6473" y="12848"/>
                </a:lnTo>
                <a:lnTo>
                  <a:pt x="6667" y="13043"/>
                </a:lnTo>
                <a:lnTo>
                  <a:pt x="6862" y="13213"/>
                </a:lnTo>
                <a:lnTo>
                  <a:pt x="7032" y="13359"/>
                </a:lnTo>
                <a:lnTo>
                  <a:pt x="7227" y="13481"/>
                </a:lnTo>
                <a:lnTo>
                  <a:pt x="7446" y="13602"/>
                </a:lnTo>
                <a:lnTo>
                  <a:pt x="7568" y="13627"/>
                </a:lnTo>
                <a:lnTo>
                  <a:pt x="7689" y="13627"/>
                </a:lnTo>
                <a:lnTo>
                  <a:pt x="7470" y="13846"/>
                </a:lnTo>
                <a:lnTo>
                  <a:pt x="7300" y="14040"/>
                </a:lnTo>
                <a:lnTo>
                  <a:pt x="7276" y="14016"/>
                </a:lnTo>
                <a:lnTo>
                  <a:pt x="6911" y="13797"/>
                </a:lnTo>
                <a:lnTo>
                  <a:pt x="6570" y="13554"/>
                </a:lnTo>
                <a:lnTo>
                  <a:pt x="6302" y="13335"/>
                </a:lnTo>
                <a:lnTo>
                  <a:pt x="6035" y="13164"/>
                </a:lnTo>
                <a:lnTo>
                  <a:pt x="6108" y="13043"/>
                </a:lnTo>
                <a:lnTo>
                  <a:pt x="6424" y="12702"/>
                </a:lnTo>
                <a:close/>
                <a:moveTo>
                  <a:pt x="5889" y="13335"/>
                </a:moveTo>
                <a:lnTo>
                  <a:pt x="5962" y="13456"/>
                </a:lnTo>
                <a:lnTo>
                  <a:pt x="6059" y="13578"/>
                </a:lnTo>
                <a:lnTo>
                  <a:pt x="6278" y="13797"/>
                </a:lnTo>
                <a:lnTo>
                  <a:pt x="6643" y="14089"/>
                </a:lnTo>
                <a:lnTo>
                  <a:pt x="6813" y="14211"/>
                </a:lnTo>
                <a:lnTo>
                  <a:pt x="7032" y="14308"/>
                </a:lnTo>
                <a:lnTo>
                  <a:pt x="6692" y="14673"/>
                </a:lnTo>
                <a:lnTo>
                  <a:pt x="6619" y="14624"/>
                </a:lnTo>
                <a:lnTo>
                  <a:pt x="6497" y="14600"/>
                </a:lnTo>
                <a:lnTo>
                  <a:pt x="6375" y="14527"/>
                </a:lnTo>
                <a:lnTo>
                  <a:pt x="6254" y="14454"/>
                </a:lnTo>
                <a:lnTo>
                  <a:pt x="6132" y="14381"/>
                </a:lnTo>
                <a:lnTo>
                  <a:pt x="5913" y="14186"/>
                </a:lnTo>
                <a:lnTo>
                  <a:pt x="5718" y="14016"/>
                </a:lnTo>
                <a:lnTo>
                  <a:pt x="5597" y="13943"/>
                </a:lnTo>
                <a:lnTo>
                  <a:pt x="5451" y="13846"/>
                </a:lnTo>
                <a:lnTo>
                  <a:pt x="5889" y="13335"/>
                </a:lnTo>
                <a:close/>
                <a:moveTo>
                  <a:pt x="12191" y="3553"/>
                </a:moveTo>
                <a:lnTo>
                  <a:pt x="12653" y="4040"/>
                </a:lnTo>
                <a:lnTo>
                  <a:pt x="13432" y="4916"/>
                </a:lnTo>
                <a:lnTo>
                  <a:pt x="13164" y="5208"/>
                </a:lnTo>
                <a:lnTo>
                  <a:pt x="12896" y="5500"/>
                </a:lnTo>
                <a:lnTo>
                  <a:pt x="12361" y="6108"/>
                </a:lnTo>
                <a:lnTo>
                  <a:pt x="12045" y="6424"/>
                </a:lnTo>
                <a:lnTo>
                  <a:pt x="11729" y="6716"/>
                </a:lnTo>
                <a:lnTo>
                  <a:pt x="11388" y="7008"/>
                </a:lnTo>
                <a:lnTo>
                  <a:pt x="11047" y="7300"/>
                </a:lnTo>
                <a:lnTo>
                  <a:pt x="10731" y="7617"/>
                </a:lnTo>
                <a:lnTo>
                  <a:pt x="10415" y="7957"/>
                </a:lnTo>
                <a:lnTo>
                  <a:pt x="9806" y="8687"/>
                </a:lnTo>
                <a:lnTo>
                  <a:pt x="9247" y="9417"/>
                </a:lnTo>
                <a:lnTo>
                  <a:pt x="8638" y="10147"/>
                </a:lnTo>
                <a:lnTo>
                  <a:pt x="8346" y="10464"/>
                </a:lnTo>
                <a:lnTo>
                  <a:pt x="8006" y="10756"/>
                </a:lnTo>
                <a:lnTo>
                  <a:pt x="7324" y="11340"/>
                </a:lnTo>
                <a:lnTo>
                  <a:pt x="6643" y="11899"/>
                </a:lnTo>
                <a:lnTo>
                  <a:pt x="6302" y="12191"/>
                </a:lnTo>
                <a:lnTo>
                  <a:pt x="6010" y="12532"/>
                </a:lnTo>
                <a:lnTo>
                  <a:pt x="5475" y="13164"/>
                </a:lnTo>
                <a:lnTo>
                  <a:pt x="4940" y="13773"/>
                </a:lnTo>
                <a:lnTo>
                  <a:pt x="4672" y="14016"/>
                </a:lnTo>
                <a:lnTo>
                  <a:pt x="4404" y="14235"/>
                </a:lnTo>
                <a:lnTo>
                  <a:pt x="4137" y="14454"/>
                </a:lnTo>
                <a:lnTo>
                  <a:pt x="4015" y="14600"/>
                </a:lnTo>
                <a:lnTo>
                  <a:pt x="3918" y="14722"/>
                </a:lnTo>
                <a:lnTo>
                  <a:pt x="3480" y="14284"/>
                </a:lnTo>
                <a:lnTo>
                  <a:pt x="3042" y="13846"/>
                </a:lnTo>
                <a:lnTo>
                  <a:pt x="2361" y="13262"/>
                </a:lnTo>
                <a:lnTo>
                  <a:pt x="2482" y="13164"/>
                </a:lnTo>
                <a:lnTo>
                  <a:pt x="2604" y="13043"/>
                </a:lnTo>
                <a:lnTo>
                  <a:pt x="2774" y="12799"/>
                </a:lnTo>
                <a:lnTo>
                  <a:pt x="3066" y="12507"/>
                </a:lnTo>
                <a:lnTo>
                  <a:pt x="3358" y="12216"/>
                </a:lnTo>
                <a:lnTo>
                  <a:pt x="3967" y="11680"/>
                </a:lnTo>
                <a:lnTo>
                  <a:pt x="4380" y="11315"/>
                </a:lnTo>
                <a:lnTo>
                  <a:pt x="4745" y="10950"/>
                </a:lnTo>
                <a:lnTo>
                  <a:pt x="5475" y="10172"/>
                </a:lnTo>
                <a:lnTo>
                  <a:pt x="6181" y="9393"/>
                </a:lnTo>
                <a:lnTo>
                  <a:pt x="6546" y="9004"/>
                </a:lnTo>
                <a:lnTo>
                  <a:pt x="6935" y="8614"/>
                </a:lnTo>
                <a:lnTo>
                  <a:pt x="7324" y="8274"/>
                </a:lnTo>
                <a:lnTo>
                  <a:pt x="7714" y="7933"/>
                </a:lnTo>
                <a:lnTo>
                  <a:pt x="8517" y="7276"/>
                </a:lnTo>
                <a:lnTo>
                  <a:pt x="8857" y="6935"/>
                </a:lnTo>
                <a:lnTo>
                  <a:pt x="9198" y="6595"/>
                </a:lnTo>
                <a:lnTo>
                  <a:pt x="9514" y="6205"/>
                </a:lnTo>
                <a:lnTo>
                  <a:pt x="9831" y="5840"/>
                </a:lnTo>
                <a:lnTo>
                  <a:pt x="10171" y="5427"/>
                </a:lnTo>
                <a:lnTo>
                  <a:pt x="10488" y="5062"/>
                </a:lnTo>
                <a:lnTo>
                  <a:pt x="10853" y="4697"/>
                </a:lnTo>
                <a:lnTo>
                  <a:pt x="11242" y="4356"/>
                </a:lnTo>
                <a:lnTo>
                  <a:pt x="11729" y="3967"/>
                </a:lnTo>
                <a:lnTo>
                  <a:pt x="11972" y="3772"/>
                </a:lnTo>
                <a:lnTo>
                  <a:pt x="12191" y="3553"/>
                </a:lnTo>
                <a:close/>
                <a:moveTo>
                  <a:pt x="5232" y="14065"/>
                </a:moveTo>
                <a:lnTo>
                  <a:pt x="5353" y="14186"/>
                </a:lnTo>
                <a:lnTo>
                  <a:pt x="5451" y="14308"/>
                </a:lnTo>
                <a:lnTo>
                  <a:pt x="5645" y="14454"/>
                </a:lnTo>
                <a:lnTo>
                  <a:pt x="5816" y="14624"/>
                </a:lnTo>
                <a:lnTo>
                  <a:pt x="5986" y="14770"/>
                </a:lnTo>
                <a:lnTo>
                  <a:pt x="6181" y="14892"/>
                </a:lnTo>
                <a:lnTo>
                  <a:pt x="6375" y="14989"/>
                </a:lnTo>
                <a:lnTo>
                  <a:pt x="6108" y="15281"/>
                </a:lnTo>
                <a:lnTo>
                  <a:pt x="5937" y="15452"/>
                </a:lnTo>
                <a:lnTo>
                  <a:pt x="5937" y="15403"/>
                </a:lnTo>
                <a:lnTo>
                  <a:pt x="5889" y="15354"/>
                </a:lnTo>
                <a:lnTo>
                  <a:pt x="5597" y="15038"/>
                </a:lnTo>
                <a:lnTo>
                  <a:pt x="5280" y="14746"/>
                </a:lnTo>
                <a:lnTo>
                  <a:pt x="5086" y="14576"/>
                </a:lnTo>
                <a:lnTo>
                  <a:pt x="4964" y="14503"/>
                </a:lnTo>
                <a:lnTo>
                  <a:pt x="4867" y="14430"/>
                </a:lnTo>
                <a:lnTo>
                  <a:pt x="5037" y="14284"/>
                </a:lnTo>
                <a:lnTo>
                  <a:pt x="5232" y="14065"/>
                </a:lnTo>
                <a:close/>
                <a:moveTo>
                  <a:pt x="852" y="15476"/>
                </a:moveTo>
                <a:lnTo>
                  <a:pt x="974" y="15598"/>
                </a:lnTo>
                <a:lnTo>
                  <a:pt x="1412" y="16036"/>
                </a:lnTo>
                <a:lnTo>
                  <a:pt x="1363" y="16011"/>
                </a:lnTo>
                <a:lnTo>
                  <a:pt x="1290" y="15987"/>
                </a:lnTo>
                <a:lnTo>
                  <a:pt x="852" y="15476"/>
                </a:lnTo>
                <a:close/>
                <a:moveTo>
                  <a:pt x="4575" y="14673"/>
                </a:moveTo>
                <a:lnTo>
                  <a:pt x="4696" y="14795"/>
                </a:lnTo>
                <a:lnTo>
                  <a:pt x="4818" y="14892"/>
                </a:lnTo>
                <a:lnTo>
                  <a:pt x="5037" y="15087"/>
                </a:lnTo>
                <a:lnTo>
                  <a:pt x="5329" y="15354"/>
                </a:lnTo>
                <a:lnTo>
                  <a:pt x="5597" y="15622"/>
                </a:lnTo>
                <a:lnTo>
                  <a:pt x="5670" y="15671"/>
                </a:lnTo>
                <a:lnTo>
                  <a:pt x="5718" y="15671"/>
                </a:lnTo>
                <a:lnTo>
                  <a:pt x="5378" y="15987"/>
                </a:lnTo>
                <a:lnTo>
                  <a:pt x="5232" y="16109"/>
                </a:lnTo>
                <a:lnTo>
                  <a:pt x="5183" y="16060"/>
                </a:lnTo>
                <a:lnTo>
                  <a:pt x="5110" y="16036"/>
                </a:lnTo>
                <a:lnTo>
                  <a:pt x="4088" y="14916"/>
                </a:lnTo>
                <a:lnTo>
                  <a:pt x="4210" y="14868"/>
                </a:lnTo>
                <a:lnTo>
                  <a:pt x="4331" y="14819"/>
                </a:lnTo>
                <a:lnTo>
                  <a:pt x="4453" y="14746"/>
                </a:lnTo>
                <a:lnTo>
                  <a:pt x="4575" y="14673"/>
                </a:lnTo>
                <a:close/>
                <a:moveTo>
                  <a:pt x="755" y="16230"/>
                </a:moveTo>
                <a:lnTo>
                  <a:pt x="1071" y="16498"/>
                </a:lnTo>
                <a:lnTo>
                  <a:pt x="1071" y="16522"/>
                </a:lnTo>
                <a:lnTo>
                  <a:pt x="998" y="16474"/>
                </a:lnTo>
                <a:lnTo>
                  <a:pt x="925" y="16449"/>
                </a:lnTo>
                <a:lnTo>
                  <a:pt x="852" y="16376"/>
                </a:lnTo>
                <a:lnTo>
                  <a:pt x="755" y="16230"/>
                </a:lnTo>
                <a:close/>
                <a:moveTo>
                  <a:pt x="1047" y="12532"/>
                </a:moveTo>
                <a:lnTo>
                  <a:pt x="1168" y="12678"/>
                </a:lnTo>
                <a:lnTo>
                  <a:pt x="1314" y="12824"/>
                </a:lnTo>
                <a:lnTo>
                  <a:pt x="1582" y="13067"/>
                </a:lnTo>
                <a:lnTo>
                  <a:pt x="2166" y="13602"/>
                </a:lnTo>
                <a:lnTo>
                  <a:pt x="2750" y="14113"/>
                </a:lnTo>
                <a:lnTo>
                  <a:pt x="3018" y="14357"/>
                </a:lnTo>
                <a:lnTo>
                  <a:pt x="3261" y="14600"/>
                </a:lnTo>
                <a:lnTo>
                  <a:pt x="3723" y="15135"/>
                </a:lnTo>
                <a:lnTo>
                  <a:pt x="4185" y="15646"/>
                </a:lnTo>
                <a:lnTo>
                  <a:pt x="4672" y="16157"/>
                </a:lnTo>
                <a:lnTo>
                  <a:pt x="4404" y="16230"/>
                </a:lnTo>
                <a:lnTo>
                  <a:pt x="4112" y="16303"/>
                </a:lnTo>
                <a:lnTo>
                  <a:pt x="3553" y="16376"/>
                </a:lnTo>
                <a:lnTo>
                  <a:pt x="2969" y="16425"/>
                </a:lnTo>
                <a:lnTo>
                  <a:pt x="2409" y="16498"/>
                </a:lnTo>
                <a:lnTo>
                  <a:pt x="2288" y="16522"/>
                </a:lnTo>
                <a:lnTo>
                  <a:pt x="2263" y="16474"/>
                </a:lnTo>
                <a:lnTo>
                  <a:pt x="2142" y="16230"/>
                </a:lnTo>
                <a:lnTo>
                  <a:pt x="1996" y="16011"/>
                </a:lnTo>
                <a:lnTo>
                  <a:pt x="1801" y="15792"/>
                </a:lnTo>
                <a:lnTo>
                  <a:pt x="1606" y="15598"/>
                </a:lnTo>
                <a:lnTo>
                  <a:pt x="1168" y="15233"/>
                </a:lnTo>
                <a:lnTo>
                  <a:pt x="730" y="14892"/>
                </a:lnTo>
                <a:lnTo>
                  <a:pt x="779" y="14600"/>
                </a:lnTo>
                <a:lnTo>
                  <a:pt x="925" y="13262"/>
                </a:lnTo>
                <a:lnTo>
                  <a:pt x="1047" y="12532"/>
                </a:lnTo>
                <a:close/>
                <a:moveTo>
                  <a:pt x="1436" y="16644"/>
                </a:moveTo>
                <a:lnTo>
                  <a:pt x="1533" y="16717"/>
                </a:lnTo>
                <a:lnTo>
                  <a:pt x="1387" y="16741"/>
                </a:lnTo>
                <a:lnTo>
                  <a:pt x="1436" y="16644"/>
                </a:lnTo>
                <a:close/>
                <a:moveTo>
                  <a:pt x="536" y="16741"/>
                </a:moveTo>
                <a:lnTo>
                  <a:pt x="584" y="16766"/>
                </a:lnTo>
                <a:lnTo>
                  <a:pt x="609" y="16766"/>
                </a:lnTo>
                <a:lnTo>
                  <a:pt x="682" y="16814"/>
                </a:lnTo>
                <a:lnTo>
                  <a:pt x="779" y="16839"/>
                </a:lnTo>
                <a:lnTo>
                  <a:pt x="876" y="16839"/>
                </a:lnTo>
                <a:lnTo>
                  <a:pt x="974" y="16814"/>
                </a:lnTo>
                <a:lnTo>
                  <a:pt x="974" y="16839"/>
                </a:lnTo>
                <a:lnTo>
                  <a:pt x="755" y="16887"/>
                </a:lnTo>
                <a:lnTo>
                  <a:pt x="511" y="16936"/>
                </a:lnTo>
                <a:lnTo>
                  <a:pt x="536" y="16741"/>
                </a:lnTo>
                <a:close/>
                <a:moveTo>
                  <a:pt x="13967" y="1"/>
                </a:moveTo>
                <a:lnTo>
                  <a:pt x="13602" y="25"/>
                </a:lnTo>
                <a:lnTo>
                  <a:pt x="13261" y="74"/>
                </a:lnTo>
                <a:lnTo>
                  <a:pt x="12945" y="195"/>
                </a:lnTo>
                <a:lnTo>
                  <a:pt x="12629" y="341"/>
                </a:lnTo>
                <a:lnTo>
                  <a:pt x="12337" y="560"/>
                </a:lnTo>
                <a:lnTo>
                  <a:pt x="12021" y="828"/>
                </a:lnTo>
                <a:lnTo>
                  <a:pt x="11875" y="974"/>
                </a:lnTo>
                <a:lnTo>
                  <a:pt x="11826" y="1071"/>
                </a:lnTo>
                <a:lnTo>
                  <a:pt x="11777" y="1169"/>
                </a:lnTo>
                <a:lnTo>
                  <a:pt x="11704" y="1193"/>
                </a:lnTo>
                <a:lnTo>
                  <a:pt x="11339" y="1485"/>
                </a:lnTo>
                <a:lnTo>
                  <a:pt x="10999" y="1777"/>
                </a:lnTo>
                <a:lnTo>
                  <a:pt x="10317" y="2385"/>
                </a:lnTo>
                <a:lnTo>
                  <a:pt x="9685" y="3042"/>
                </a:lnTo>
                <a:lnTo>
                  <a:pt x="9052" y="3699"/>
                </a:lnTo>
                <a:lnTo>
                  <a:pt x="8395" y="4405"/>
                </a:lnTo>
                <a:lnTo>
                  <a:pt x="7714" y="5086"/>
                </a:lnTo>
                <a:lnTo>
                  <a:pt x="7032" y="5743"/>
                </a:lnTo>
                <a:lnTo>
                  <a:pt x="6351" y="6449"/>
                </a:lnTo>
                <a:lnTo>
                  <a:pt x="4964" y="7933"/>
                </a:lnTo>
                <a:lnTo>
                  <a:pt x="4258" y="8663"/>
                </a:lnTo>
                <a:lnTo>
                  <a:pt x="3894" y="9004"/>
                </a:lnTo>
                <a:lnTo>
                  <a:pt x="3529" y="9344"/>
                </a:lnTo>
                <a:lnTo>
                  <a:pt x="2190" y="10537"/>
                </a:lnTo>
                <a:lnTo>
                  <a:pt x="1558" y="11145"/>
                </a:lnTo>
                <a:lnTo>
                  <a:pt x="925" y="11778"/>
                </a:lnTo>
                <a:lnTo>
                  <a:pt x="876" y="11753"/>
                </a:lnTo>
                <a:lnTo>
                  <a:pt x="803" y="11778"/>
                </a:lnTo>
                <a:lnTo>
                  <a:pt x="755" y="11802"/>
                </a:lnTo>
                <a:lnTo>
                  <a:pt x="706" y="11851"/>
                </a:lnTo>
                <a:lnTo>
                  <a:pt x="609" y="12118"/>
                </a:lnTo>
                <a:lnTo>
                  <a:pt x="511" y="12386"/>
                </a:lnTo>
                <a:lnTo>
                  <a:pt x="463" y="12702"/>
                </a:lnTo>
                <a:lnTo>
                  <a:pt x="414" y="12994"/>
                </a:lnTo>
                <a:lnTo>
                  <a:pt x="365" y="13627"/>
                </a:lnTo>
                <a:lnTo>
                  <a:pt x="292" y="14211"/>
                </a:lnTo>
                <a:lnTo>
                  <a:pt x="98" y="15646"/>
                </a:lnTo>
                <a:lnTo>
                  <a:pt x="25" y="16376"/>
                </a:lnTo>
                <a:lnTo>
                  <a:pt x="0" y="16717"/>
                </a:lnTo>
                <a:lnTo>
                  <a:pt x="0" y="17082"/>
                </a:lnTo>
                <a:lnTo>
                  <a:pt x="0" y="17155"/>
                </a:lnTo>
                <a:lnTo>
                  <a:pt x="25" y="17204"/>
                </a:lnTo>
                <a:lnTo>
                  <a:pt x="122" y="17277"/>
                </a:lnTo>
                <a:lnTo>
                  <a:pt x="219" y="17325"/>
                </a:lnTo>
                <a:lnTo>
                  <a:pt x="341" y="17325"/>
                </a:lnTo>
                <a:lnTo>
                  <a:pt x="438" y="17350"/>
                </a:lnTo>
                <a:lnTo>
                  <a:pt x="560" y="17374"/>
                </a:lnTo>
                <a:lnTo>
                  <a:pt x="803" y="17398"/>
                </a:lnTo>
                <a:lnTo>
                  <a:pt x="1047" y="17350"/>
                </a:lnTo>
                <a:lnTo>
                  <a:pt x="1339" y="17301"/>
                </a:lnTo>
                <a:lnTo>
                  <a:pt x="1874" y="17131"/>
                </a:lnTo>
                <a:lnTo>
                  <a:pt x="2312" y="17009"/>
                </a:lnTo>
                <a:lnTo>
                  <a:pt x="2677" y="16936"/>
                </a:lnTo>
                <a:lnTo>
                  <a:pt x="3018" y="16887"/>
                </a:lnTo>
                <a:lnTo>
                  <a:pt x="3723" y="16839"/>
                </a:lnTo>
                <a:lnTo>
                  <a:pt x="4088" y="16790"/>
                </a:lnTo>
                <a:lnTo>
                  <a:pt x="4429" y="16741"/>
                </a:lnTo>
                <a:lnTo>
                  <a:pt x="4769" y="16644"/>
                </a:lnTo>
                <a:lnTo>
                  <a:pt x="5110" y="16522"/>
                </a:lnTo>
                <a:lnTo>
                  <a:pt x="5159" y="16498"/>
                </a:lnTo>
                <a:lnTo>
                  <a:pt x="5207" y="16449"/>
                </a:lnTo>
                <a:lnTo>
                  <a:pt x="5353" y="16401"/>
                </a:lnTo>
                <a:lnTo>
                  <a:pt x="5499" y="16328"/>
                </a:lnTo>
                <a:lnTo>
                  <a:pt x="5645" y="16255"/>
                </a:lnTo>
                <a:lnTo>
                  <a:pt x="5791" y="16133"/>
                </a:lnTo>
                <a:lnTo>
                  <a:pt x="6035" y="15890"/>
                </a:lnTo>
                <a:lnTo>
                  <a:pt x="6254" y="15671"/>
                </a:lnTo>
                <a:lnTo>
                  <a:pt x="6959" y="14965"/>
                </a:lnTo>
                <a:lnTo>
                  <a:pt x="7641" y="14284"/>
                </a:lnTo>
                <a:lnTo>
                  <a:pt x="9101" y="12824"/>
                </a:lnTo>
                <a:lnTo>
                  <a:pt x="10536" y="11364"/>
                </a:lnTo>
                <a:lnTo>
                  <a:pt x="11218" y="10658"/>
                </a:lnTo>
                <a:lnTo>
                  <a:pt x="11875" y="9904"/>
                </a:lnTo>
                <a:lnTo>
                  <a:pt x="12531" y="9174"/>
                </a:lnTo>
                <a:lnTo>
                  <a:pt x="13213" y="8444"/>
                </a:lnTo>
                <a:lnTo>
                  <a:pt x="13870" y="7811"/>
                </a:lnTo>
                <a:lnTo>
                  <a:pt x="14527" y="7179"/>
                </a:lnTo>
                <a:lnTo>
                  <a:pt x="15184" y="6522"/>
                </a:lnTo>
                <a:lnTo>
                  <a:pt x="15500" y="6205"/>
                </a:lnTo>
                <a:lnTo>
                  <a:pt x="15816" y="5840"/>
                </a:lnTo>
                <a:lnTo>
                  <a:pt x="15889" y="5792"/>
                </a:lnTo>
                <a:lnTo>
                  <a:pt x="15987" y="5767"/>
                </a:lnTo>
                <a:lnTo>
                  <a:pt x="16060" y="5694"/>
                </a:lnTo>
                <a:lnTo>
                  <a:pt x="16108" y="5621"/>
                </a:lnTo>
                <a:lnTo>
                  <a:pt x="16133" y="5524"/>
                </a:lnTo>
                <a:lnTo>
                  <a:pt x="16376" y="5208"/>
                </a:lnTo>
                <a:lnTo>
                  <a:pt x="16595" y="4891"/>
                </a:lnTo>
                <a:lnTo>
                  <a:pt x="16814" y="4551"/>
                </a:lnTo>
                <a:lnTo>
                  <a:pt x="16984" y="4210"/>
                </a:lnTo>
                <a:lnTo>
                  <a:pt x="17106" y="3845"/>
                </a:lnTo>
                <a:lnTo>
                  <a:pt x="17203" y="3480"/>
                </a:lnTo>
                <a:lnTo>
                  <a:pt x="17228" y="3140"/>
                </a:lnTo>
                <a:lnTo>
                  <a:pt x="17203" y="2799"/>
                </a:lnTo>
                <a:lnTo>
                  <a:pt x="17130" y="2458"/>
                </a:lnTo>
                <a:lnTo>
                  <a:pt x="17009" y="2142"/>
                </a:lnTo>
                <a:lnTo>
                  <a:pt x="16863" y="1826"/>
                </a:lnTo>
                <a:lnTo>
                  <a:pt x="16668" y="1534"/>
                </a:lnTo>
                <a:lnTo>
                  <a:pt x="16449" y="1266"/>
                </a:lnTo>
                <a:lnTo>
                  <a:pt x="16230" y="998"/>
                </a:lnTo>
                <a:lnTo>
                  <a:pt x="15962" y="779"/>
                </a:lnTo>
                <a:lnTo>
                  <a:pt x="15670" y="560"/>
                </a:lnTo>
                <a:lnTo>
                  <a:pt x="15354" y="390"/>
                </a:lnTo>
                <a:lnTo>
                  <a:pt x="15013" y="244"/>
                </a:lnTo>
                <a:lnTo>
                  <a:pt x="14673" y="122"/>
                </a:lnTo>
                <a:lnTo>
                  <a:pt x="14332" y="49"/>
                </a:lnTo>
                <a:lnTo>
                  <a:pt x="1396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17"/>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3688354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OO METRIKÁK/DIT</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Depth</a:t>
            </a:r>
            <a:r>
              <a:rPr lang="hu-HU" dirty="0"/>
              <a:t> of </a:t>
            </a:r>
            <a:r>
              <a:rPr lang="hu-HU" dirty="0" err="1"/>
              <a:t>Inheritance</a:t>
            </a:r>
            <a:r>
              <a:rPr lang="hu-HU" dirty="0"/>
              <a:t> </a:t>
            </a:r>
            <a:r>
              <a:rPr lang="hu-HU" dirty="0" err="1"/>
              <a:t>Tree</a:t>
            </a:r>
            <a:endParaRPr lang="hu-HU" dirty="0"/>
          </a:p>
          <a:p>
            <a:pPr lvl="1" indent="-419100">
              <a:spcBef>
                <a:spcPts val="600"/>
              </a:spcBef>
              <a:buSzPts val="3000"/>
              <a:buChar char="▪"/>
            </a:pPr>
            <a:r>
              <a:rPr lang="hu-HU" dirty="0"/>
              <a:t>egy az osztály helyzetét adja meg az öröklődési hierarchiában</a:t>
            </a:r>
          </a:p>
          <a:p>
            <a:pPr lvl="1" indent="-419100">
              <a:spcBef>
                <a:spcPts val="600"/>
              </a:spcBef>
              <a:buSzPts val="3000"/>
              <a:buChar char="▪"/>
            </a:pPr>
            <a:r>
              <a:rPr lang="hu-HU" dirty="0"/>
              <a:t>minél mélyebben található</a:t>
            </a:r>
          </a:p>
          <a:p>
            <a:pPr lvl="2" indent="-419100">
              <a:spcBef>
                <a:spcPts val="600"/>
              </a:spcBef>
              <a:buSzPts val="3000"/>
              <a:buChar char="▪"/>
            </a:pPr>
            <a:r>
              <a:rPr lang="hu-HU" dirty="0"/>
              <a:t>annál több metódust örököl</a:t>
            </a:r>
          </a:p>
          <a:p>
            <a:pPr lvl="2" indent="-419100">
              <a:spcBef>
                <a:spcPts val="600"/>
              </a:spcBef>
              <a:buSzPts val="3000"/>
              <a:buChar char="▪"/>
            </a:pPr>
            <a:r>
              <a:rPr lang="hu-HU" dirty="0"/>
              <a:t>egyre bonyolultabb, nehezebben megjósolható a viselkedése</a:t>
            </a:r>
          </a:p>
          <a:p>
            <a:pPr lvl="2" indent="-419100">
              <a:spcBef>
                <a:spcPts val="600"/>
              </a:spcBef>
              <a:buSzPts val="3000"/>
              <a:buChar char="▪"/>
            </a:pPr>
            <a:r>
              <a:rPr lang="hu-HU" dirty="0"/>
              <a:t>nagyobb komplexitás </a:t>
            </a:r>
          </a:p>
          <a:p>
            <a:pPr lvl="2" indent="-419100">
              <a:spcBef>
                <a:spcPts val="600"/>
              </a:spcBef>
              <a:buSzPts val="3000"/>
              <a:buChar char="▪"/>
            </a:pPr>
            <a:r>
              <a:rPr lang="hu-HU" dirty="0"/>
              <a:t>jobb </a:t>
            </a:r>
            <a:r>
              <a:rPr lang="hu-HU" dirty="0" err="1"/>
              <a:t>újrafelhasznosítás</a:t>
            </a: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OO METRIKÁK/NOC</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Number</a:t>
            </a:r>
            <a:r>
              <a:rPr lang="hu-HU" dirty="0"/>
              <a:t> of </a:t>
            </a:r>
            <a:r>
              <a:rPr lang="hu-HU" dirty="0" err="1"/>
              <a:t>Children</a:t>
            </a:r>
            <a:endParaRPr lang="hu-HU" dirty="0"/>
          </a:p>
          <a:p>
            <a:pPr lvl="1" indent="-419100">
              <a:spcBef>
                <a:spcPts val="600"/>
              </a:spcBef>
              <a:buSzPts val="3000"/>
              <a:buChar char="▪"/>
            </a:pPr>
            <a:r>
              <a:rPr lang="hu-HU" dirty="0"/>
              <a:t>direkt leszármazottak száma</a:t>
            </a:r>
          </a:p>
          <a:p>
            <a:pPr lvl="1" indent="-419100">
              <a:spcBef>
                <a:spcPts val="600"/>
              </a:spcBef>
              <a:buSzPts val="3000"/>
              <a:buChar char="▪"/>
            </a:pPr>
            <a:r>
              <a:rPr lang="hu-HU" dirty="0"/>
              <a:t>kód </a:t>
            </a:r>
            <a:r>
              <a:rPr lang="hu-HU" dirty="0" err="1"/>
              <a:t>újrafelhasználását</a:t>
            </a:r>
            <a:r>
              <a:rPr lang="hu-HU" dirty="0"/>
              <a:t> méri</a:t>
            </a:r>
          </a:p>
          <a:p>
            <a:pPr lvl="2" indent="-419100">
              <a:spcBef>
                <a:spcPts val="600"/>
              </a:spcBef>
              <a:buSzPts val="3000"/>
              <a:buChar char="▪"/>
            </a:pPr>
            <a:r>
              <a:rPr lang="hu-HU" dirty="0"/>
              <a:t>Ősosztály befolyásol(hat)ja a gyermekei viselkedését</a:t>
            </a:r>
          </a:p>
          <a:p>
            <a:pPr lvl="2" indent="-419100">
              <a:spcBef>
                <a:spcPts val="600"/>
              </a:spcBef>
              <a:buSzPts val="3000"/>
              <a:buChar char="▪"/>
            </a:pPr>
            <a:r>
              <a:rPr lang="hu-HU" dirty="0"/>
              <a:t>ősosztály módosul – sok teszt kellhet</a:t>
            </a: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3806549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OO METRIKÁK/NOM</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Number</a:t>
            </a:r>
            <a:r>
              <a:rPr lang="hu-HU" dirty="0"/>
              <a:t> of </a:t>
            </a:r>
            <a:r>
              <a:rPr lang="hu-HU" dirty="0" err="1"/>
              <a:t>Methods</a:t>
            </a:r>
            <a:endParaRPr lang="hu-HU" dirty="0"/>
          </a:p>
          <a:p>
            <a:pPr lvl="1" indent="-419100">
              <a:spcBef>
                <a:spcPts val="600"/>
              </a:spcBef>
              <a:buSzPts val="3000"/>
              <a:buChar char="▪"/>
            </a:pPr>
            <a:r>
              <a:rPr lang="hu-HU" dirty="0"/>
              <a:t>osztály metódusainak (publikus, védett, privát) a száma</a:t>
            </a:r>
          </a:p>
          <a:p>
            <a:pPr lvl="1" indent="-419100">
              <a:spcBef>
                <a:spcPts val="600"/>
              </a:spcBef>
              <a:buSzPts val="3000"/>
              <a:buChar char="▪"/>
            </a:pPr>
            <a:r>
              <a:rPr lang="hu-HU" dirty="0"/>
              <a:t>osztály komplexitását méri annak felelőségeinek a fényében</a:t>
            </a:r>
          </a:p>
          <a:p>
            <a:pPr lvl="1" indent="-419100">
              <a:spcBef>
                <a:spcPts val="600"/>
              </a:spcBef>
              <a:buSzPts val="3000"/>
              <a:buChar char="▪"/>
            </a:pPr>
            <a:r>
              <a:rPr lang="hu-HU" dirty="0"/>
              <a:t>nem tesz különbséget egyszerű és bonyolult metódusok között</a:t>
            </a: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1953411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ctrTitle" idx="4294967295"/>
          </p:nvPr>
        </p:nvSpPr>
        <p:spPr>
          <a:xfrm>
            <a:off x="685800" y="3748953"/>
            <a:ext cx="7772400" cy="104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hu-HU" sz="3600" b="1" dirty="0"/>
              <a:t>CSATOLÁS MÉRŐSZÁMAI</a:t>
            </a:r>
            <a:endParaRPr sz="3600" b="1" dirty="0"/>
          </a:p>
        </p:txBody>
      </p:sp>
      <p:grpSp>
        <p:nvGrpSpPr>
          <p:cNvPr id="118" name="Google Shape;118;p17"/>
          <p:cNvGrpSpPr/>
          <p:nvPr/>
        </p:nvGrpSpPr>
        <p:grpSpPr>
          <a:xfrm>
            <a:off x="3030219" y="756050"/>
            <a:ext cx="2931161" cy="2815726"/>
            <a:chOff x="3075562" y="756050"/>
            <a:chExt cx="2931161" cy="2815726"/>
          </a:xfrm>
        </p:grpSpPr>
        <p:sp>
          <p:nvSpPr>
            <p:cNvPr id="119" name="Google Shape;119;p17"/>
            <p:cNvSpPr/>
            <p:nvPr/>
          </p:nvSpPr>
          <p:spPr>
            <a:xfrm>
              <a:off x="3950843" y="1762696"/>
              <a:ext cx="1326900" cy="1326900"/>
            </a:xfrm>
            <a:prstGeom prst="ellipse">
              <a:avLst/>
            </a:prstGeom>
            <a:noFill/>
            <a:ln w="9525"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20;p17"/>
            <p:cNvSpPr/>
            <p:nvPr/>
          </p:nvSpPr>
          <p:spPr>
            <a:xfrm>
              <a:off x="3472643" y="1284496"/>
              <a:ext cx="2283300" cy="2283300"/>
            </a:xfrm>
            <a:prstGeom prst="rect">
              <a:avLst/>
            </a:prstGeom>
            <a:noFill/>
            <a:ln w="9525" cap="flat" cmpd="sng">
              <a:solidFill>
                <a:srgbClr val="FFFFFF"/>
              </a:solidFill>
              <a:prstDash val="dash"/>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17"/>
            <p:cNvSpPr/>
            <p:nvPr/>
          </p:nvSpPr>
          <p:spPr>
            <a:xfrm>
              <a:off x="5883273" y="1280600"/>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2" name="Google Shape;122;p17"/>
            <p:cNvSpPr/>
            <p:nvPr/>
          </p:nvSpPr>
          <p:spPr>
            <a:xfrm rot="-5400000">
              <a:off x="4546838" y="-55875"/>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3" name="Google Shape;123;p17"/>
            <p:cNvSpPr/>
            <p:nvPr/>
          </p:nvSpPr>
          <p:spPr>
            <a:xfrm rot="-5400000">
              <a:off x="3075562" y="756050"/>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24" name="Google Shape;124;p17"/>
            <p:cNvCxnSpPr/>
            <p:nvPr/>
          </p:nvCxnSpPr>
          <p:spPr>
            <a:xfrm>
              <a:off x="3480293" y="1292146"/>
              <a:ext cx="2268000" cy="2268000"/>
            </a:xfrm>
            <a:prstGeom prst="straightConnector1">
              <a:avLst/>
            </a:prstGeom>
            <a:noFill/>
            <a:ln w="9525" cap="flat" cmpd="sng">
              <a:solidFill>
                <a:srgbClr val="FFFFFF"/>
              </a:solidFill>
              <a:prstDash val="dash"/>
              <a:round/>
              <a:headEnd type="none" w="med" len="med"/>
              <a:tailEnd type="none" w="med" len="med"/>
            </a:ln>
          </p:spPr>
        </p:cxnSp>
        <p:cxnSp>
          <p:nvCxnSpPr>
            <p:cNvPr id="125" name="Google Shape;125;p17"/>
            <p:cNvCxnSpPr>
              <a:endCxn id="119" idx="7"/>
            </p:cNvCxnSpPr>
            <p:nvPr/>
          </p:nvCxnSpPr>
          <p:spPr>
            <a:xfrm flipH="1">
              <a:off x="5083423" y="1280516"/>
              <a:ext cx="676500" cy="676500"/>
            </a:xfrm>
            <a:prstGeom prst="straightConnector1">
              <a:avLst/>
            </a:prstGeom>
            <a:noFill/>
            <a:ln w="9525" cap="flat" cmpd="sng">
              <a:solidFill>
                <a:srgbClr val="FFFFFF"/>
              </a:solidFill>
              <a:prstDash val="dash"/>
              <a:round/>
              <a:headEnd type="none" w="med" len="med"/>
              <a:tailEnd type="none" w="med" len="med"/>
            </a:ln>
          </p:spPr>
        </p:cxnSp>
        <p:cxnSp>
          <p:nvCxnSpPr>
            <p:cNvPr id="126" name="Google Shape;126;p17"/>
            <p:cNvCxnSpPr/>
            <p:nvPr/>
          </p:nvCxnSpPr>
          <p:spPr>
            <a:xfrm>
              <a:off x="3345288" y="1288325"/>
              <a:ext cx="0" cy="2283300"/>
            </a:xfrm>
            <a:prstGeom prst="straightConnector1">
              <a:avLst/>
            </a:prstGeom>
            <a:noFill/>
            <a:ln w="9525" cap="flat" cmpd="sng">
              <a:solidFill>
                <a:srgbClr val="FFFFFF"/>
              </a:solidFill>
              <a:prstDash val="solid"/>
              <a:round/>
              <a:headEnd type="triangle" w="sm" len="sm"/>
              <a:tailEnd type="triangle" w="sm" len="sm"/>
            </a:ln>
          </p:spPr>
        </p:cxnSp>
        <p:cxnSp>
          <p:nvCxnSpPr>
            <p:cNvPr id="127" name="Google Shape;127;p17"/>
            <p:cNvCxnSpPr>
              <a:stCxn id="119" idx="3"/>
            </p:cNvCxnSpPr>
            <p:nvPr/>
          </p:nvCxnSpPr>
          <p:spPr>
            <a:xfrm flipH="1">
              <a:off x="3468663" y="2895276"/>
              <a:ext cx="676500" cy="676500"/>
            </a:xfrm>
            <a:prstGeom prst="straightConnector1">
              <a:avLst/>
            </a:prstGeom>
            <a:noFill/>
            <a:ln w="9525" cap="flat" cmpd="sng">
              <a:solidFill>
                <a:srgbClr val="FFFFFF"/>
              </a:solidFill>
              <a:prstDash val="dash"/>
              <a:round/>
              <a:headEnd type="none" w="med" len="med"/>
              <a:tailEnd type="none" w="med" len="med"/>
            </a:ln>
          </p:spPr>
        </p:cxnSp>
      </p:grpSp>
      <p:sp>
        <p:nvSpPr>
          <p:cNvPr id="128" name="Google Shape;128;p17"/>
          <p:cNvSpPr/>
          <p:nvPr/>
        </p:nvSpPr>
        <p:spPr>
          <a:xfrm>
            <a:off x="4177025" y="1997048"/>
            <a:ext cx="789947" cy="797788"/>
          </a:xfrm>
          <a:custGeom>
            <a:avLst/>
            <a:gdLst/>
            <a:ahLst/>
            <a:cxnLst/>
            <a:rect l="l" t="t" r="r" b="b"/>
            <a:pathLst>
              <a:path w="17228" h="17399" extrusionOk="0">
                <a:moveTo>
                  <a:pt x="14162" y="439"/>
                </a:moveTo>
                <a:lnTo>
                  <a:pt x="14478" y="512"/>
                </a:lnTo>
                <a:lnTo>
                  <a:pt x="14794" y="609"/>
                </a:lnTo>
                <a:lnTo>
                  <a:pt x="15111" y="755"/>
                </a:lnTo>
                <a:lnTo>
                  <a:pt x="15403" y="925"/>
                </a:lnTo>
                <a:lnTo>
                  <a:pt x="15670" y="1120"/>
                </a:lnTo>
                <a:lnTo>
                  <a:pt x="15914" y="1315"/>
                </a:lnTo>
                <a:lnTo>
                  <a:pt x="16108" y="1534"/>
                </a:lnTo>
                <a:lnTo>
                  <a:pt x="15987" y="1558"/>
                </a:lnTo>
                <a:lnTo>
                  <a:pt x="15889" y="1607"/>
                </a:lnTo>
                <a:lnTo>
                  <a:pt x="15816" y="1655"/>
                </a:lnTo>
                <a:lnTo>
                  <a:pt x="15792" y="1680"/>
                </a:lnTo>
                <a:lnTo>
                  <a:pt x="15768" y="1728"/>
                </a:lnTo>
                <a:lnTo>
                  <a:pt x="15768" y="1777"/>
                </a:lnTo>
                <a:lnTo>
                  <a:pt x="15792" y="1826"/>
                </a:lnTo>
                <a:lnTo>
                  <a:pt x="15865" y="1850"/>
                </a:lnTo>
                <a:lnTo>
                  <a:pt x="15938" y="1874"/>
                </a:lnTo>
                <a:lnTo>
                  <a:pt x="16230" y="1874"/>
                </a:lnTo>
                <a:lnTo>
                  <a:pt x="16352" y="1850"/>
                </a:lnTo>
                <a:lnTo>
                  <a:pt x="16546" y="2166"/>
                </a:lnTo>
                <a:lnTo>
                  <a:pt x="16254" y="2142"/>
                </a:lnTo>
                <a:lnTo>
                  <a:pt x="16011" y="2142"/>
                </a:lnTo>
                <a:lnTo>
                  <a:pt x="15987" y="2166"/>
                </a:lnTo>
                <a:lnTo>
                  <a:pt x="15987" y="2191"/>
                </a:lnTo>
                <a:lnTo>
                  <a:pt x="16133" y="2312"/>
                </a:lnTo>
                <a:lnTo>
                  <a:pt x="16303" y="2410"/>
                </a:lnTo>
                <a:lnTo>
                  <a:pt x="16473" y="2458"/>
                </a:lnTo>
                <a:lnTo>
                  <a:pt x="16668" y="2507"/>
                </a:lnTo>
                <a:lnTo>
                  <a:pt x="16717" y="2750"/>
                </a:lnTo>
                <a:lnTo>
                  <a:pt x="16741" y="2994"/>
                </a:lnTo>
                <a:lnTo>
                  <a:pt x="16522" y="2872"/>
                </a:lnTo>
                <a:lnTo>
                  <a:pt x="16352" y="2799"/>
                </a:lnTo>
                <a:lnTo>
                  <a:pt x="16181" y="2702"/>
                </a:lnTo>
                <a:lnTo>
                  <a:pt x="16011" y="2653"/>
                </a:lnTo>
                <a:lnTo>
                  <a:pt x="15792" y="2653"/>
                </a:lnTo>
                <a:lnTo>
                  <a:pt x="15768" y="2677"/>
                </a:lnTo>
                <a:lnTo>
                  <a:pt x="15768" y="2702"/>
                </a:lnTo>
                <a:lnTo>
                  <a:pt x="15768" y="2726"/>
                </a:lnTo>
                <a:lnTo>
                  <a:pt x="15889" y="2872"/>
                </a:lnTo>
                <a:lnTo>
                  <a:pt x="16035" y="2994"/>
                </a:lnTo>
                <a:lnTo>
                  <a:pt x="16327" y="3213"/>
                </a:lnTo>
                <a:lnTo>
                  <a:pt x="16522" y="3334"/>
                </a:lnTo>
                <a:lnTo>
                  <a:pt x="16619" y="3407"/>
                </a:lnTo>
                <a:lnTo>
                  <a:pt x="16717" y="3456"/>
                </a:lnTo>
                <a:lnTo>
                  <a:pt x="16692" y="3651"/>
                </a:lnTo>
                <a:lnTo>
                  <a:pt x="16619" y="3845"/>
                </a:lnTo>
                <a:lnTo>
                  <a:pt x="16400" y="3602"/>
                </a:lnTo>
                <a:lnTo>
                  <a:pt x="16133" y="3407"/>
                </a:lnTo>
                <a:lnTo>
                  <a:pt x="15987" y="3310"/>
                </a:lnTo>
                <a:lnTo>
                  <a:pt x="15841" y="3237"/>
                </a:lnTo>
                <a:lnTo>
                  <a:pt x="15695" y="3188"/>
                </a:lnTo>
                <a:lnTo>
                  <a:pt x="15524" y="3164"/>
                </a:lnTo>
                <a:lnTo>
                  <a:pt x="15476" y="3188"/>
                </a:lnTo>
                <a:lnTo>
                  <a:pt x="15476" y="3213"/>
                </a:lnTo>
                <a:lnTo>
                  <a:pt x="15476" y="3237"/>
                </a:lnTo>
                <a:lnTo>
                  <a:pt x="15500" y="3261"/>
                </a:lnTo>
                <a:lnTo>
                  <a:pt x="15597" y="3359"/>
                </a:lnTo>
                <a:lnTo>
                  <a:pt x="15695" y="3432"/>
                </a:lnTo>
                <a:lnTo>
                  <a:pt x="15987" y="3699"/>
                </a:lnTo>
                <a:lnTo>
                  <a:pt x="16230" y="3918"/>
                </a:lnTo>
                <a:lnTo>
                  <a:pt x="16449" y="4162"/>
                </a:lnTo>
                <a:lnTo>
                  <a:pt x="16473" y="4186"/>
                </a:lnTo>
                <a:lnTo>
                  <a:pt x="16254" y="4526"/>
                </a:lnTo>
                <a:lnTo>
                  <a:pt x="16206" y="4453"/>
                </a:lnTo>
                <a:lnTo>
                  <a:pt x="16133" y="4380"/>
                </a:lnTo>
                <a:lnTo>
                  <a:pt x="15962" y="4259"/>
                </a:lnTo>
                <a:lnTo>
                  <a:pt x="15646" y="4040"/>
                </a:lnTo>
                <a:lnTo>
                  <a:pt x="15403" y="3821"/>
                </a:lnTo>
                <a:lnTo>
                  <a:pt x="15159" y="3626"/>
                </a:lnTo>
                <a:lnTo>
                  <a:pt x="15111" y="3626"/>
                </a:lnTo>
                <a:lnTo>
                  <a:pt x="15062" y="3651"/>
                </a:lnTo>
                <a:lnTo>
                  <a:pt x="15013" y="3724"/>
                </a:lnTo>
                <a:lnTo>
                  <a:pt x="15013" y="3821"/>
                </a:lnTo>
                <a:lnTo>
                  <a:pt x="15013" y="3894"/>
                </a:lnTo>
                <a:lnTo>
                  <a:pt x="15038" y="3991"/>
                </a:lnTo>
                <a:lnTo>
                  <a:pt x="15135" y="4137"/>
                </a:lnTo>
                <a:lnTo>
                  <a:pt x="15257" y="4283"/>
                </a:lnTo>
                <a:lnTo>
                  <a:pt x="15427" y="4453"/>
                </a:lnTo>
                <a:lnTo>
                  <a:pt x="15622" y="4599"/>
                </a:lnTo>
                <a:lnTo>
                  <a:pt x="15816" y="4745"/>
                </a:lnTo>
                <a:lnTo>
                  <a:pt x="15914" y="4818"/>
                </a:lnTo>
                <a:lnTo>
                  <a:pt x="16011" y="4843"/>
                </a:lnTo>
                <a:lnTo>
                  <a:pt x="15792" y="5135"/>
                </a:lnTo>
                <a:lnTo>
                  <a:pt x="14867" y="4162"/>
                </a:lnTo>
                <a:lnTo>
                  <a:pt x="13967" y="3213"/>
                </a:lnTo>
                <a:lnTo>
                  <a:pt x="13505" y="2750"/>
                </a:lnTo>
                <a:lnTo>
                  <a:pt x="13018" y="2288"/>
                </a:lnTo>
                <a:lnTo>
                  <a:pt x="12531" y="1850"/>
                </a:lnTo>
                <a:lnTo>
                  <a:pt x="12021" y="1461"/>
                </a:lnTo>
                <a:lnTo>
                  <a:pt x="12021" y="1388"/>
                </a:lnTo>
                <a:lnTo>
                  <a:pt x="12118" y="1315"/>
                </a:lnTo>
                <a:lnTo>
                  <a:pt x="12215" y="1242"/>
                </a:lnTo>
                <a:lnTo>
                  <a:pt x="12385" y="1047"/>
                </a:lnTo>
                <a:lnTo>
                  <a:pt x="12629" y="852"/>
                </a:lnTo>
                <a:lnTo>
                  <a:pt x="12921" y="682"/>
                </a:lnTo>
                <a:lnTo>
                  <a:pt x="13213" y="560"/>
                </a:lnTo>
                <a:lnTo>
                  <a:pt x="13505" y="463"/>
                </a:lnTo>
                <a:lnTo>
                  <a:pt x="13675" y="439"/>
                </a:lnTo>
                <a:close/>
                <a:moveTo>
                  <a:pt x="11753" y="1704"/>
                </a:moveTo>
                <a:lnTo>
                  <a:pt x="11826" y="1850"/>
                </a:lnTo>
                <a:lnTo>
                  <a:pt x="11948" y="1972"/>
                </a:lnTo>
                <a:lnTo>
                  <a:pt x="12093" y="2069"/>
                </a:lnTo>
                <a:lnTo>
                  <a:pt x="12385" y="2288"/>
                </a:lnTo>
                <a:lnTo>
                  <a:pt x="12677" y="2531"/>
                </a:lnTo>
                <a:lnTo>
                  <a:pt x="12945" y="2823"/>
                </a:lnTo>
                <a:lnTo>
                  <a:pt x="13480" y="3383"/>
                </a:lnTo>
                <a:lnTo>
                  <a:pt x="14478" y="4453"/>
                </a:lnTo>
                <a:lnTo>
                  <a:pt x="15500" y="5500"/>
                </a:lnTo>
                <a:lnTo>
                  <a:pt x="15111" y="5962"/>
                </a:lnTo>
                <a:lnTo>
                  <a:pt x="14600" y="5500"/>
                </a:lnTo>
                <a:lnTo>
                  <a:pt x="14113" y="5013"/>
                </a:lnTo>
                <a:lnTo>
                  <a:pt x="13213" y="4016"/>
                </a:lnTo>
                <a:lnTo>
                  <a:pt x="12750" y="3529"/>
                </a:lnTo>
                <a:lnTo>
                  <a:pt x="12264" y="3018"/>
                </a:lnTo>
                <a:lnTo>
                  <a:pt x="11777" y="2556"/>
                </a:lnTo>
                <a:lnTo>
                  <a:pt x="11266" y="2093"/>
                </a:lnTo>
                <a:lnTo>
                  <a:pt x="11753" y="1704"/>
                </a:lnTo>
                <a:close/>
                <a:moveTo>
                  <a:pt x="13724" y="5232"/>
                </a:moveTo>
                <a:lnTo>
                  <a:pt x="14235" y="5767"/>
                </a:lnTo>
                <a:lnTo>
                  <a:pt x="14794" y="6278"/>
                </a:lnTo>
                <a:lnTo>
                  <a:pt x="14575" y="6497"/>
                </a:lnTo>
                <a:lnTo>
                  <a:pt x="14259" y="6278"/>
                </a:lnTo>
                <a:lnTo>
                  <a:pt x="13967" y="6035"/>
                </a:lnTo>
                <a:lnTo>
                  <a:pt x="13699" y="5792"/>
                </a:lnTo>
                <a:lnTo>
                  <a:pt x="13432" y="5573"/>
                </a:lnTo>
                <a:lnTo>
                  <a:pt x="13724" y="5232"/>
                </a:lnTo>
                <a:close/>
                <a:moveTo>
                  <a:pt x="13261" y="5767"/>
                </a:moveTo>
                <a:lnTo>
                  <a:pt x="13359" y="5913"/>
                </a:lnTo>
                <a:lnTo>
                  <a:pt x="13456" y="6059"/>
                </a:lnTo>
                <a:lnTo>
                  <a:pt x="13724" y="6303"/>
                </a:lnTo>
                <a:lnTo>
                  <a:pt x="13991" y="6546"/>
                </a:lnTo>
                <a:lnTo>
                  <a:pt x="14137" y="6668"/>
                </a:lnTo>
                <a:lnTo>
                  <a:pt x="14308" y="6765"/>
                </a:lnTo>
                <a:lnTo>
                  <a:pt x="14235" y="6814"/>
                </a:lnTo>
                <a:lnTo>
                  <a:pt x="14137" y="6692"/>
                </a:lnTo>
                <a:lnTo>
                  <a:pt x="13991" y="6595"/>
                </a:lnTo>
                <a:lnTo>
                  <a:pt x="13699" y="6400"/>
                </a:lnTo>
                <a:lnTo>
                  <a:pt x="13359" y="6230"/>
                </a:lnTo>
                <a:lnTo>
                  <a:pt x="13188" y="6132"/>
                </a:lnTo>
                <a:lnTo>
                  <a:pt x="13042" y="6011"/>
                </a:lnTo>
                <a:lnTo>
                  <a:pt x="13261" y="5767"/>
                </a:lnTo>
                <a:close/>
                <a:moveTo>
                  <a:pt x="13018" y="6059"/>
                </a:moveTo>
                <a:lnTo>
                  <a:pt x="13188" y="6303"/>
                </a:lnTo>
                <a:lnTo>
                  <a:pt x="13286" y="6424"/>
                </a:lnTo>
                <a:lnTo>
                  <a:pt x="13407" y="6522"/>
                </a:lnTo>
                <a:lnTo>
                  <a:pt x="14040" y="7008"/>
                </a:lnTo>
                <a:lnTo>
                  <a:pt x="13699" y="7349"/>
                </a:lnTo>
                <a:lnTo>
                  <a:pt x="13675" y="7325"/>
                </a:lnTo>
                <a:lnTo>
                  <a:pt x="13505" y="7227"/>
                </a:lnTo>
                <a:lnTo>
                  <a:pt x="13334" y="7106"/>
                </a:lnTo>
                <a:lnTo>
                  <a:pt x="13018" y="6838"/>
                </a:lnTo>
                <a:lnTo>
                  <a:pt x="12799" y="6668"/>
                </a:lnTo>
                <a:lnTo>
                  <a:pt x="12702" y="6595"/>
                </a:lnTo>
                <a:lnTo>
                  <a:pt x="12580" y="6546"/>
                </a:lnTo>
                <a:lnTo>
                  <a:pt x="12799" y="6303"/>
                </a:lnTo>
                <a:lnTo>
                  <a:pt x="13018" y="6059"/>
                </a:lnTo>
                <a:close/>
                <a:moveTo>
                  <a:pt x="12385" y="6716"/>
                </a:moveTo>
                <a:lnTo>
                  <a:pt x="12483" y="6838"/>
                </a:lnTo>
                <a:lnTo>
                  <a:pt x="12580" y="6935"/>
                </a:lnTo>
                <a:lnTo>
                  <a:pt x="12799" y="7130"/>
                </a:lnTo>
                <a:lnTo>
                  <a:pt x="13091" y="7398"/>
                </a:lnTo>
                <a:lnTo>
                  <a:pt x="13407" y="7617"/>
                </a:lnTo>
                <a:lnTo>
                  <a:pt x="13018" y="8006"/>
                </a:lnTo>
                <a:lnTo>
                  <a:pt x="12921" y="8079"/>
                </a:lnTo>
                <a:lnTo>
                  <a:pt x="12823" y="7909"/>
                </a:lnTo>
                <a:lnTo>
                  <a:pt x="12653" y="7763"/>
                </a:lnTo>
                <a:lnTo>
                  <a:pt x="12312" y="7495"/>
                </a:lnTo>
                <a:lnTo>
                  <a:pt x="12093" y="7325"/>
                </a:lnTo>
                <a:lnTo>
                  <a:pt x="11972" y="7252"/>
                </a:lnTo>
                <a:lnTo>
                  <a:pt x="11850" y="7179"/>
                </a:lnTo>
                <a:lnTo>
                  <a:pt x="12385" y="6716"/>
                </a:lnTo>
                <a:close/>
                <a:moveTo>
                  <a:pt x="11631" y="7373"/>
                </a:moveTo>
                <a:lnTo>
                  <a:pt x="11729" y="7471"/>
                </a:lnTo>
                <a:lnTo>
                  <a:pt x="11850" y="7568"/>
                </a:lnTo>
                <a:lnTo>
                  <a:pt x="12093" y="7738"/>
                </a:lnTo>
                <a:lnTo>
                  <a:pt x="12434" y="8055"/>
                </a:lnTo>
                <a:lnTo>
                  <a:pt x="12556" y="8201"/>
                </a:lnTo>
                <a:lnTo>
                  <a:pt x="12702" y="8322"/>
                </a:lnTo>
                <a:lnTo>
                  <a:pt x="11948" y="9150"/>
                </a:lnTo>
                <a:lnTo>
                  <a:pt x="11680" y="8906"/>
                </a:lnTo>
                <a:lnTo>
                  <a:pt x="11364" y="8687"/>
                </a:lnTo>
                <a:lnTo>
                  <a:pt x="11072" y="8444"/>
                </a:lnTo>
                <a:lnTo>
                  <a:pt x="10780" y="8201"/>
                </a:lnTo>
                <a:lnTo>
                  <a:pt x="11096" y="7860"/>
                </a:lnTo>
                <a:lnTo>
                  <a:pt x="11193" y="7957"/>
                </a:lnTo>
                <a:lnTo>
                  <a:pt x="11291" y="8030"/>
                </a:lnTo>
                <a:lnTo>
                  <a:pt x="11461" y="8176"/>
                </a:lnTo>
                <a:lnTo>
                  <a:pt x="11777" y="8493"/>
                </a:lnTo>
                <a:lnTo>
                  <a:pt x="11972" y="8614"/>
                </a:lnTo>
                <a:lnTo>
                  <a:pt x="12166" y="8736"/>
                </a:lnTo>
                <a:lnTo>
                  <a:pt x="12288" y="8736"/>
                </a:lnTo>
                <a:lnTo>
                  <a:pt x="12337" y="8712"/>
                </a:lnTo>
                <a:lnTo>
                  <a:pt x="12361" y="8639"/>
                </a:lnTo>
                <a:lnTo>
                  <a:pt x="12361" y="8566"/>
                </a:lnTo>
                <a:lnTo>
                  <a:pt x="12337" y="8493"/>
                </a:lnTo>
                <a:lnTo>
                  <a:pt x="12118" y="8322"/>
                </a:lnTo>
                <a:lnTo>
                  <a:pt x="11899" y="8152"/>
                </a:lnTo>
                <a:lnTo>
                  <a:pt x="11461" y="7811"/>
                </a:lnTo>
                <a:lnTo>
                  <a:pt x="11291" y="7690"/>
                </a:lnTo>
                <a:lnTo>
                  <a:pt x="11631" y="7373"/>
                </a:lnTo>
                <a:close/>
                <a:moveTo>
                  <a:pt x="10634" y="8371"/>
                </a:moveTo>
                <a:lnTo>
                  <a:pt x="10731" y="8541"/>
                </a:lnTo>
                <a:lnTo>
                  <a:pt x="10853" y="8687"/>
                </a:lnTo>
                <a:lnTo>
                  <a:pt x="10974" y="8809"/>
                </a:lnTo>
                <a:lnTo>
                  <a:pt x="11145" y="8931"/>
                </a:lnTo>
                <a:lnTo>
                  <a:pt x="11461" y="9150"/>
                </a:lnTo>
                <a:lnTo>
                  <a:pt x="11753" y="9369"/>
                </a:lnTo>
                <a:lnTo>
                  <a:pt x="11461" y="9685"/>
                </a:lnTo>
                <a:lnTo>
                  <a:pt x="11145" y="9442"/>
                </a:lnTo>
                <a:lnTo>
                  <a:pt x="10828" y="9198"/>
                </a:lnTo>
                <a:lnTo>
                  <a:pt x="10585" y="8955"/>
                </a:lnTo>
                <a:lnTo>
                  <a:pt x="10463" y="8833"/>
                </a:lnTo>
                <a:lnTo>
                  <a:pt x="10317" y="8736"/>
                </a:lnTo>
                <a:lnTo>
                  <a:pt x="10634" y="8371"/>
                </a:lnTo>
                <a:close/>
                <a:moveTo>
                  <a:pt x="10196" y="8931"/>
                </a:moveTo>
                <a:lnTo>
                  <a:pt x="10269" y="9052"/>
                </a:lnTo>
                <a:lnTo>
                  <a:pt x="10366" y="9198"/>
                </a:lnTo>
                <a:lnTo>
                  <a:pt x="10609" y="9417"/>
                </a:lnTo>
                <a:lnTo>
                  <a:pt x="10901" y="9709"/>
                </a:lnTo>
                <a:lnTo>
                  <a:pt x="11072" y="9831"/>
                </a:lnTo>
                <a:lnTo>
                  <a:pt x="11242" y="9953"/>
                </a:lnTo>
                <a:lnTo>
                  <a:pt x="10415" y="10853"/>
                </a:lnTo>
                <a:lnTo>
                  <a:pt x="10317" y="10707"/>
                </a:lnTo>
                <a:lnTo>
                  <a:pt x="10196" y="10585"/>
                </a:lnTo>
                <a:lnTo>
                  <a:pt x="9904" y="10366"/>
                </a:lnTo>
                <a:lnTo>
                  <a:pt x="9636" y="10172"/>
                </a:lnTo>
                <a:lnTo>
                  <a:pt x="9466" y="10074"/>
                </a:lnTo>
                <a:lnTo>
                  <a:pt x="9320" y="10001"/>
                </a:lnTo>
                <a:lnTo>
                  <a:pt x="9563" y="9709"/>
                </a:lnTo>
                <a:lnTo>
                  <a:pt x="9782" y="9880"/>
                </a:lnTo>
                <a:lnTo>
                  <a:pt x="10001" y="10026"/>
                </a:lnTo>
                <a:lnTo>
                  <a:pt x="10244" y="10245"/>
                </a:lnTo>
                <a:lnTo>
                  <a:pt x="10390" y="10366"/>
                </a:lnTo>
                <a:lnTo>
                  <a:pt x="10536" y="10464"/>
                </a:lnTo>
                <a:lnTo>
                  <a:pt x="10609" y="10488"/>
                </a:lnTo>
                <a:lnTo>
                  <a:pt x="10658" y="10464"/>
                </a:lnTo>
                <a:lnTo>
                  <a:pt x="10731" y="10439"/>
                </a:lnTo>
                <a:lnTo>
                  <a:pt x="10780" y="10391"/>
                </a:lnTo>
                <a:lnTo>
                  <a:pt x="10804" y="10342"/>
                </a:lnTo>
                <a:lnTo>
                  <a:pt x="10828" y="10269"/>
                </a:lnTo>
                <a:lnTo>
                  <a:pt x="10804" y="10220"/>
                </a:lnTo>
                <a:lnTo>
                  <a:pt x="10755" y="10147"/>
                </a:lnTo>
                <a:lnTo>
                  <a:pt x="10220" y="9734"/>
                </a:lnTo>
                <a:lnTo>
                  <a:pt x="10001" y="9563"/>
                </a:lnTo>
                <a:lnTo>
                  <a:pt x="9904" y="9490"/>
                </a:lnTo>
                <a:lnTo>
                  <a:pt x="9782" y="9442"/>
                </a:lnTo>
                <a:lnTo>
                  <a:pt x="10196" y="8931"/>
                </a:lnTo>
                <a:close/>
                <a:moveTo>
                  <a:pt x="9125" y="10245"/>
                </a:moveTo>
                <a:lnTo>
                  <a:pt x="9247" y="10342"/>
                </a:lnTo>
                <a:lnTo>
                  <a:pt x="9368" y="10415"/>
                </a:lnTo>
                <a:lnTo>
                  <a:pt x="9612" y="10585"/>
                </a:lnTo>
                <a:lnTo>
                  <a:pt x="9904" y="10829"/>
                </a:lnTo>
                <a:lnTo>
                  <a:pt x="10050" y="10950"/>
                </a:lnTo>
                <a:lnTo>
                  <a:pt x="10220" y="11048"/>
                </a:lnTo>
                <a:lnTo>
                  <a:pt x="9685" y="11583"/>
                </a:lnTo>
                <a:lnTo>
                  <a:pt x="9685" y="11534"/>
                </a:lnTo>
                <a:lnTo>
                  <a:pt x="9660" y="11437"/>
                </a:lnTo>
                <a:lnTo>
                  <a:pt x="9587" y="11364"/>
                </a:lnTo>
                <a:lnTo>
                  <a:pt x="9417" y="11218"/>
                </a:lnTo>
                <a:lnTo>
                  <a:pt x="9222" y="11023"/>
                </a:lnTo>
                <a:lnTo>
                  <a:pt x="9028" y="10853"/>
                </a:lnTo>
                <a:lnTo>
                  <a:pt x="8906" y="10756"/>
                </a:lnTo>
                <a:lnTo>
                  <a:pt x="8736" y="10683"/>
                </a:lnTo>
                <a:lnTo>
                  <a:pt x="8833" y="10585"/>
                </a:lnTo>
                <a:lnTo>
                  <a:pt x="9125" y="10245"/>
                </a:lnTo>
                <a:close/>
                <a:moveTo>
                  <a:pt x="8468" y="10926"/>
                </a:moveTo>
                <a:lnTo>
                  <a:pt x="8687" y="11096"/>
                </a:lnTo>
                <a:lnTo>
                  <a:pt x="8930" y="11291"/>
                </a:lnTo>
                <a:lnTo>
                  <a:pt x="9052" y="11437"/>
                </a:lnTo>
                <a:lnTo>
                  <a:pt x="9198" y="11583"/>
                </a:lnTo>
                <a:lnTo>
                  <a:pt x="9271" y="11656"/>
                </a:lnTo>
                <a:lnTo>
                  <a:pt x="9344" y="11705"/>
                </a:lnTo>
                <a:lnTo>
                  <a:pt x="9441" y="11753"/>
                </a:lnTo>
                <a:lnTo>
                  <a:pt x="9539" y="11753"/>
                </a:lnTo>
                <a:lnTo>
                  <a:pt x="8468" y="12824"/>
                </a:lnTo>
                <a:lnTo>
                  <a:pt x="8152" y="12532"/>
                </a:lnTo>
                <a:lnTo>
                  <a:pt x="7811" y="12240"/>
                </a:lnTo>
                <a:lnTo>
                  <a:pt x="7470" y="11899"/>
                </a:lnTo>
                <a:lnTo>
                  <a:pt x="7349" y="11826"/>
                </a:lnTo>
                <a:lnTo>
                  <a:pt x="7738" y="11534"/>
                </a:lnTo>
                <a:lnTo>
                  <a:pt x="7860" y="11705"/>
                </a:lnTo>
                <a:lnTo>
                  <a:pt x="8006" y="11875"/>
                </a:lnTo>
                <a:lnTo>
                  <a:pt x="8371" y="12264"/>
                </a:lnTo>
                <a:lnTo>
                  <a:pt x="8517" y="12434"/>
                </a:lnTo>
                <a:lnTo>
                  <a:pt x="8590" y="12483"/>
                </a:lnTo>
                <a:lnTo>
                  <a:pt x="8687" y="12507"/>
                </a:lnTo>
                <a:lnTo>
                  <a:pt x="8736" y="12507"/>
                </a:lnTo>
                <a:lnTo>
                  <a:pt x="8809" y="12483"/>
                </a:lnTo>
                <a:lnTo>
                  <a:pt x="8833" y="12434"/>
                </a:lnTo>
                <a:lnTo>
                  <a:pt x="8857" y="12386"/>
                </a:lnTo>
                <a:lnTo>
                  <a:pt x="8857" y="12289"/>
                </a:lnTo>
                <a:lnTo>
                  <a:pt x="8809" y="12191"/>
                </a:lnTo>
                <a:lnTo>
                  <a:pt x="8760" y="12094"/>
                </a:lnTo>
                <a:lnTo>
                  <a:pt x="8663" y="11997"/>
                </a:lnTo>
                <a:lnTo>
                  <a:pt x="8492" y="11826"/>
                </a:lnTo>
                <a:lnTo>
                  <a:pt x="8322" y="11680"/>
                </a:lnTo>
                <a:lnTo>
                  <a:pt x="8152" y="11510"/>
                </a:lnTo>
                <a:lnTo>
                  <a:pt x="7957" y="11364"/>
                </a:lnTo>
                <a:lnTo>
                  <a:pt x="8468" y="10926"/>
                </a:lnTo>
                <a:close/>
                <a:moveTo>
                  <a:pt x="11047" y="2312"/>
                </a:moveTo>
                <a:lnTo>
                  <a:pt x="11120" y="2434"/>
                </a:lnTo>
                <a:lnTo>
                  <a:pt x="11218" y="2531"/>
                </a:lnTo>
                <a:lnTo>
                  <a:pt x="11437" y="2750"/>
                </a:lnTo>
                <a:lnTo>
                  <a:pt x="11850" y="3213"/>
                </a:lnTo>
                <a:lnTo>
                  <a:pt x="11826" y="3213"/>
                </a:lnTo>
                <a:lnTo>
                  <a:pt x="11193" y="3748"/>
                </a:lnTo>
                <a:lnTo>
                  <a:pt x="10609" y="4283"/>
                </a:lnTo>
                <a:lnTo>
                  <a:pt x="10025" y="4867"/>
                </a:lnTo>
                <a:lnTo>
                  <a:pt x="9490" y="5500"/>
                </a:lnTo>
                <a:lnTo>
                  <a:pt x="9174" y="5865"/>
                </a:lnTo>
                <a:lnTo>
                  <a:pt x="8857" y="6254"/>
                </a:lnTo>
                <a:lnTo>
                  <a:pt x="8517" y="6595"/>
                </a:lnTo>
                <a:lnTo>
                  <a:pt x="8176" y="6935"/>
                </a:lnTo>
                <a:lnTo>
                  <a:pt x="7373" y="7617"/>
                </a:lnTo>
                <a:lnTo>
                  <a:pt x="6984" y="7933"/>
                </a:lnTo>
                <a:lnTo>
                  <a:pt x="6594" y="8274"/>
                </a:lnTo>
                <a:lnTo>
                  <a:pt x="6229" y="8639"/>
                </a:lnTo>
                <a:lnTo>
                  <a:pt x="5864" y="9004"/>
                </a:lnTo>
                <a:lnTo>
                  <a:pt x="5183" y="9782"/>
                </a:lnTo>
                <a:lnTo>
                  <a:pt x="4502" y="10537"/>
                </a:lnTo>
                <a:lnTo>
                  <a:pt x="4137" y="10902"/>
                </a:lnTo>
                <a:lnTo>
                  <a:pt x="3772" y="11242"/>
                </a:lnTo>
                <a:lnTo>
                  <a:pt x="3115" y="11802"/>
                </a:lnTo>
                <a:lnTo>
                  <a:pt x="2799" y="12118"/>
                </a:lnTo>
                <a:lnTo>
                  <a:pt x="2507" y="12434"/>
                </a:lnTo>
                <a:lnTo>
                  <a:pt x="2263" y="12702"/>
                </a:lnTo>
                <a:lnTo>
                  <a:pt x="2166" y="12848"/>
                </a:lnTo>
                <a:lnTo>
                  <a:pt x="2069" y="13018"/>
                </a:lnTo>
                <a:lnTo>
                  <a:pt x="1850" y="12824"/>
                </a:lnTo>
                <a:lnTo>
                  <a:pt x="1460" y="12459"/>
                </a:lnTo>
                <a:lnTo>
                  <a:pt x="1266" y="12264"/>
                </a:lnTo>
                <a:lnTo>
                  <a:pt x="1047" y="12118"/>
                </a:lnTo>
                <a:lnTo>
                  <a:pt x="1047" y="12070"/>
                </a:lnTo>
                <a:lnTo>
                  <a:pt x="1193" y="11997"/>
                </a:lnTo>
                <a:lnTo>
                  <a:pt x="1339" y="11924"/>
                </a:lnTo>
                <a:lnTo>
                  <a:pt x="1460" y="11826"/>
                </a:lnTo>
                <a:lnTo>
                  <a:pt x="1582" y="11705"/>
                </a:lnTo>
                <a:lnTo>
                  <a:pt x="2020" y="11218"/>
                </a:lnTo>
                <a:lnTo>
                  <a:pt x="2385" y="10853"/>
                </a:lnTo>
                <a:lnTo>
                  <a:pt x="2774" y="10537"/>
                </a:lnTo>
                <a:lnTo>
                  <a:pt x="3577" y="9880"/>
                </a:lnTo>
                <a:lnTo>
                  <a:pt x="3942" y="9539"/>
                </a:lnTo>
                <a:lnTo>
                  <a:pt x="4307" y="9198"/>
                </a:lnTo>
                <a:lnTo>
                  <a:pt x="5037" y="8468"/>
                </a:lnTo>
                <a:lnTo>
                  <a:pt x="5718" y="7738"/>
                </a:lnTo>
                <a:lnTo>
                  <a:pt x="6400" y="7008"/>
                </a:lnTo>
                <a:lnTo>
                  <a:pt x="7081" y="6303"/>
                </a:lnTo>
                <a:lnTo>
                  <a:pt x="7787" y="5621"/>
                </a:lnTo>
                <a:lnTo>
                  <a:pt x="8468" y="4940"/>
                </a:lnTo>
                <a:lnTo>
                  <a:pt x="9149" y="4259"/>
                </a:lnTo>
                <a:lnTo>
                  <a:pt x="10074" y="3261"/>
                </a:lnTo>
                <a:lnTo>
                  <a:pt x="10561" y="2775"/>
                </a:lnTo>
                <a:lnTo>
                  <a:pt x="11047" y="2312"/>
                </a:lnTo>
                <a:close/>
                <a:moveTo>
                  <a:pt x="7154" y="11997"/>
                </a:moveTo>
                <a:lnTo>
                  <a:pt x="7203" y="12094"/>
                </a:lnTo>
                <a:lnTo>
                  <a:pt x="7251" y="12167"/>
                </a:lnTo>
                <a:lnTo>
                  <a:pt x="7422" y="12386"/>
                </a:lnTo>
                <a:lnTo>
                  <a:pt x="7592" y="12580"/>
                </a:lnTo>
                <a:lnTo>
                  <a:pt x="7884" y="12872"/>
                </a:lnTo>
                <a:lnTo>
                  <a:pt x="8030" y="12994"/>
                </a:lnTo>
                <a:lnTo>
                  <a:pt x="8200" y="13091"/>
                </a:lnTo>
                <a:lnTo>
                  <a:pt x="7835" y="13481"/>
                </a:lnTo>
                <a:lnTo>
                  <a:pt x="7811" y="13432"/>
                </a:lnTo>
                <a:lnTo>
                  <a:pt x="7787" y="13408"/>
                </a:lnTo>
                <a:lnTo>
                  <a:pt x="7616" y="13262"/>
                </a:lnTo>
                <a:lnTo>
                  <a:pt x="7446" y="13140"/>
                </a:lnTo>
                <a:lnTo>
                  <a:pt x="7251" y="13018"/>
                </a:lnTo>
                <a:lnTo>
                  <a:pt x="7057" y="12872"/>
                </a:lnTo>
                <a:lnTo>
                  <a:pt x="6716" y="12580"/>
                </a:lnTo>
                <a:lnTo>
                  <a:pt x="6643" y="12532"/>
                </a:lnTo>
                <a:lnTo>
                  <a:pt x="6594" y="12507"/>
                </a:lnTo>
                <a:lnTo>
                  <a:pt x="6862" y="12240"/>
                </a:lnTo>
                <a:lnTo>
                  <a:pt x="7154" y="11997"/>
                </a:lnTo>
                <a:close/>
                <a:moveTo>
                  <a:pt x="6424" y="12702"/>
                </a:moveTo>
                <a:lnTo>
                  <a:pt x="6448" y="12775"/>
                </a:lnTo>
                <a:lnTo>
                  <a:pt x="6473" y="12848"/>
                </a:lnTo>
                <a:lnTo>
                  <a:pt x="6667" y="13043"/>
                </a:lnTo>
                <a:lnTo>
                  <a:pt x="6862" y="13213"/>
                </a:lnTo>
                <a:lnTo>
                  <a:pt x="7032" y="13359"/>
                </a:lnTo>
                <a:lnTo>
                  <a:pt x="7227" y="13481"/>
                </a:lnTo>
                <a:lnTo>
                  <a:pt x="7446" y="13602"/>
                </a:lnTo>
                <a:lnTo>
                  <a:pt x="7568" y="13627"/>
                </a:lnTo>
                <a:lnTo>
                  <a:pt x="7689" y="13627"/>
                </a:lnTo>
                <a:lnTo>
                  <a:pt x="7470" y="13846"/>
                </a:lnTo>
                <a:lnTo>
                  <a:pt x="7300" y="14040"/>
                </a:lnTo>
                <a:lnTo>
                  <a:pt x="7276" y="14016"/>
                </a:lnTo>
                <a:lnTo>
                  <a:pt x="6911" y="13797"/>
                </a:lnTo>
                <a:lnTo>
                  <a:pt x="6570" y="13554"/>
                </a:lnTo>
                <a:lnTo>
                  <a:pt x="6302" y="13335"/>
                </a:lnTo>
                <a:lnTo>
                  <a:pt x="6035" y="13164"/>
                </a:lnTo>
                <a:lnTo>
                  <a:pt x="6108" y="13043"/>
                </a:lnTo>
                <a:lnTo>
                  <a:pt x="6424" y="12702"/>
                </a:lnTo>
                <a:close/>
                <a:moveTo>
                  <a:pt x="5889" y="13335"/>
                </a:moveTo>
                <a:lnTo>
                  <a:pt x="5962" y="13456"/>
                </a:lnTo>
                <a:lnTo>
                  <a:pt x="6059" y="13578"/>
                </a:lnTo>
                <a:lnTo>
                  <a:pt x="6278" y="13797"/>
                </a:lnTo>
                <a:lnTo>
                  <a:pt x="6643" y="14089"/>
                </a:lnTo>
                <a:lnTo>
                  <a:pt x="6813" y="14211"/>
                </a:lnTo>
                <a:lnTo>
                  <a:pt x="7032" y="14308"/>
                </a:lnTo>
                <a:lnTo>
                  <a:pt x="6692" y="14673"/>
                </a:lnTo>
                <a:lnTo>
                  <a:pt x="6619" y="14624"/>
                </a:lnTo>
                <a:lnTo>
                  <a:pt x="6497" y="14600"/>
                </a:lnTo>
                <a:lnTo>
                  <a:pt x="6375" y="14527"/>
                </a:lnTo>
                <a:lnTo>
                  <a:pt x="6254" y="14454"/>
                </a:lnTo>
                <a:lnTo>
                  <a:pt x="6132" y="14381"/>
                </a:lnTo>
                <a:lnTo>
                  <a:pt x="5913" y="14186"/>
                </a:lnTo>
                <a:lnTo>
                  <a:pt x="5718" y="14016"/>
                </a:lnTo>
                <a:lnTo>
                  <a:pt x="5597" y="13943"/>
                </a:lnTo>
                <a:lnTo>
                  <a:pt x="5451" y="13846"/>
                </a:lnTo>
                <a:lnTo>
                  <a:pt x="5889" y="13335"/>
                </a:lnTo>
                <a:close/>
                <a:moveTo>
                  <a:pt x="12191" y="3553"/>
                </a:moveTo>
                <a:lnTo>
                  <a:pt x="12653" y="4040"/>
                </a:lnTo>
                <a:lnTo>
                  <a:pt x="13432" y="4916"/>
                </a:lnTo>
                <a:lnTo>
                  <a:pt x="13164" y="5208"/>
                </a:lnTo>
                <a:lnTo>
                  <a:pt x="12896" y="5500"/>
                </a:lnTo>
                <a:lnTo>
                  <a:pt x="12361" y="6108"/>
                </a:lnTo>
                <a:lnTo>
                  <a:pt x="12045" y="6424"/>
                </a:lnTo>
                <a:lnTo>
                  <a:pt x="11729" y="6716"/>
                </a:lnTo>
                <a:lnTo>
                  <a:pt x="11388" y="7008"/>
                </a:lnTo>
                <a:lnTo>
                  <a:pt x="11047" y="7300"/>
                </a:lnTo>
                <a:lnTo>
                  <a:pt x="10731" y="7617"/>
                </a:lnTo>
                <a:lnTo>
                  <a:pt x="10415" y="7957"/>
                </a:lnTo>
                <a:lnTo>
                  <a:pt x="9806" y="8687"/>
                </a:lnTo>
                <a:lnTo>
                  <a:pt x="9247" y="9417"/>
                </a:lnTo>
                <a:lnTo>
                  <a:pt x="8638" y="10147"/>
                </a:lnTo>
                <a:lnTo>
                  <a:pt x="8346" y="10464"/>
                </a:lnTo>
                <a:lnTo>
                  <a:pt x="8006" y="10756"/>
                </a:lnTo>
                <a:lnTo>
                  <a:pt x="7324" y="11340"/>
                </a:lnTo>
                <a:lnTo>
                  <a:pt x="6643" y="11899"/>
                </a:lnTo>
                <a:lnTo>
                  <a:pt x="6302" y="12191"/>
                </a:lnTo>
                <a:lnTo>
                  <a:pt x="6010" y="12532"/>
                </a:lnTo>
                <a:lnTo>
                  <a:pt x="5475" y="13164"/>
                </a:lnTo>
                <a:lnTo>
                  <a:pt x="4940" y="13773"/>
                </a:lnTo>
                <a:lnTo>
                  <a:pt x="4672" y="14016"/>
                </a:lnTo>
                <a:lnTo>
                  <a:pt x="4404" y="14235"/>
                </a:lnTo>
                <a:lnTo>
                  <a:pt x="4137" y="14454"/>
                </a:lnTo>
                <a:lnTo>
                  <a:pt x="4015" y="14600"/>
                </a:lnTo>
                <a:lnTo>
                  <a:pt x="3918" y="14722"/>
                </a:lnTo>
                <a:lnTo>
                  <a:pt x="3480" y="14284"/>
                </a:lnTo>
                <a:lnTo>
                  <a:pt x="3042" y="13846"/>
                </a:lnTo>
                <a:lnTo>
                  <a:pt x="2361" y="13262"/>
                </a:lnTo>
                <a:lnTo>
                  <a:pt x="2482" y="13164"/>
                </a:lnTo>
                <a:lnTo>
                  <a:pt x="2604" y="13043"/>
                </a:lnTo>
                <a:lnTo>
                  <a:pt x="2774" y="12799"/>
                </a:lnTo>
                <a:lnTo>
                  <a:pt x="3066" y="12507"/>
                </a:lnTo>
                <a:lnTo>
                  <a:pt x="3358" y="12216"/>
                </a:lnTo>
                <a:lnTo>
                  <a:pt x="3967" y="11680"/>
                </a:lnTo>
                <a:lnTo>
                  <a:pt x="4380" y="11315"/>
                </a:lnTo>
                <a:lnTo>
                  <a:pt x="4745" y="10950"/>
                </a:lnTo>
                <a:lnTo>
                  <a:pt x="5475" y="10172"/>
                </a:lnTo>
                <a:lnTo>
                  <a:pt x="6181" y="9393"/>
                </a:lnTo>
                <a:lnTo>
                  <a:pt x="6546" y="9004"/>
                </a:lnTo>
                <a:lnTo>
                  <a:pt x="6935" y="8614"/>
                </a:lnTo>
                <a:lnTo>
                  <a:pt x="7324" y="8274"/>
                </a:lnTo>
                <a:lnTo>
                  <a:pt x="7714" y="7933"/>
                </a:lnTo>
                <a:lnTo>
                  <a:pt x="8517" y="7276"/>
                </a:lnTo>
                <a:lnTo>
                  <a:pt x="8857" y="6935"/>
                </a:lnTo>
                <a:lnTo>
                  <a:pt x="9198" y="6595"/>
                </a:lnTo>
                <a:lnTo>
                  <a:pt x="9514" y="6205"/>
                </a:lnTo>
                <a:lnTo>
                  <a:pt x="9831" y="5840"/>
                </a:lnTo>
                <a:lnTo>
                  <a:pt x="10171" y="5427"/>
                </a:lnTo>
                <a:lnTo>
                  <a:pt x="10488" y="5062"/>
                </a:lnTo>
                <a:lnTo>
                  <a:pt x="10853" y="4697"/>
                </a:lnTo>
                <a:lnTo>
                  <a:pt x="11242" y="4356"/>
                </a:lnTo>
                <a:lnTo>
                  <a:pt x="11729" y="3967"/>
                </a:lnTo>
                <a:lnTo>
                  <a:pt x="11972" y="3772"/>
                </a:lnTo>
                <a:lnTo>
                  <a:pt x="12191" y="3553"/>
                </a:lnTo>
                <a:close/>
                <a:moveTo>
                  <a:pt x="5232" y="14065"/>
                </a:moveTo>
                <a:lnTo>
                  <a:pt x="5353" y="14186"/>
                </a:lnTo>
                <a:lnTo>
                  <a:pt x="5451" y="14308"/>
                </a:lnTo>
                <a:lnTo>
                  <a:pt x="5645" y="14454"/>
                </a:lnTo>
                <a:lnTo>
                  <a:pt x="5816" y="14624"/>
                </a:lnTo>
                <a:lnTo>
                  <a:pt x="5986" y="14770"/>
                </a:lnTo>
                <a:lnTo>
                  <a:pt x="6181" y="14892"/>
                </a:lnTo>
                <a:lnTo>
                  <a:pt x="6375" y="14989"/>
                </a:lnTo>
                <a:lnTo>
                  <a:pt x="6108" y="15281"/>
                </a:lnTo>
                <a:lnTo>
                  <a:pt x="5937" y="15452"/>
                </a:lnTo>
                <a:lnTo>
                  <a:pt x="5937" y="15403"/>
                </a:lnTo>
                <a:lnTo>
                  <a:pt x="5889" y="15354"/>
                </a:lnTo>
                <a:lnTo>
                  <a:pt x="5597" y="15038"/>
                </a:lnTo>
                <a:lnTo>
                  <a:pt x="5280" y="14746"/>
                </a:lnTo>
                <a:lnTo>
                  <a:pt x="5086" y="14576"/>
                </a:lnTo>
                <a:lnTo>
                  <a:pt x="4964" y="14503"/>
                </a:lnTo>
                <a:lnTo>
                  <a:pt x="4867" y="14430"/>
                </a:lnTo>
                <a:lnTo>
                  <a:pt x="5037" y="14284"/>
                </a:lnTo>
                <a:lnTo>
                  <a:pt x="5232" y="14065"/>
                </a:lnTo>
                <a:close/>
                <a:moveTo>
                  <a:pt x="852" y="15476"/>
                </a:moveTo>
                <a:lnTo>
                  <a:pt x="974" y="15598"/>
                </a:lnTo>
                <a:lnTo>
                  <a:pt x="1412" y="16036"/>
                </a:lnTo>
                <a:lnTo>
                  <a:pt x="1363" y="16011"/>
                </a:lnTo>
                <a:lnTo>
                  <a:pt x="1290" y="15987"/>
                </a:lnTo>
                <a:lnTo>
                  <a:pt x="852" y="15476"/>
                </a:lnTo>
                <a:close/>
                <a:moveTo>
                  <a:pt x="4575" y="14673"/>
                </a:moveTo>
                <a:lnTo>
                  <a:pt x="4696" y="14795"/>
                </a:lnTo>
                <a:lnTo>
                  <a:pt x="4818" y="14892"/>
                </a:lnTo>
                <a:lnTo>
                  <a:pt x="5037" y="15087"/>
                </a:lnTo>
                <a:lnTo>
                  <a:pt x="5329" y="15354"/>
                </a:lnTo>
                <a:lnTo>
                  <a:pt x="5597" y="15622"/>
                </a:lnTo>
                <a:lnTo>
                  <a:pt x="5670" y="15671"/>
                </a:lnTo>
                <a:lnTo>
                  <a:pt x="5718" y="15671"/>
                </a:lnTo>
                <a:lnTo>
                  <a:pt x="5378" y="15987"/>
                </a:lnTo>
                <a:lnTo>
                  <a:pt x="5232" y="16109"/>
                </a:lnTo>
                <a:lnTo>
                  <a:pt x="5183" y="16060"/>
                </a:lnTo>
                <a:lnTo>
                  <a:pt x="5110" y="16036"/>
                </a:lnTo>
                <a:lnTo>
                  <a:pt x="4088" y="14916"/>
                </a:lnTo>
                <a:lnTo>
                  <a:pt x="4210" y="14868"/>
                </a:lnTo>
                <a:lnTo>
                  <a:pt x="4331" y="14819"/>
                </a:lnTo>
                <a:lnTo>
                  <a:pt x="4453" y="14746"/>
                </a:lnTo>
                <a:lnTo>
                  <a:pt x="4575" y="14673"/>
                </a:lnTo>
                <a:close/>
                <a:moveTo>
                  <a:pt x="755" y="16230"/>
                </a:moveTo>
                <a:lnTo>
                  <a:pt x="1071" y="16498"/>
                </a:lnTo>
                <a:lnTo>
                  <a:pt x="1071" y="16522"/>
                </a:lnTo>
                <a:lnTo>
                  <a:pt x="998" y="16474"/>
                </a:lnTo>
                <a:lnTo>
                  <a:pt x="925" y="16449"/>
                </a:lnTo>
                <a:lnTo>
                  <a:pt x="852" y="16376"/>
                </a:lnTo>
                <a:lnTo>
                  <a:pt x="755" y="16230"/>
                </a:lnTo>
                <a:close/>
                <a:moveTo>
                  <a:pt x="1047" y="12532"/>
                </a:moveTo>
                <a:lnTo>
                  <a:pt x="1168" y="12678"/>
                </a:lnTo>
                <a:lnTo>
                  <a:pt x="1314" y="12824"/>
                </a:lnTo>
                <a:lnTo>
                  <a:pt x="1582" y="13067"/>
                </a:lnTo>
                <a:lnTo>
                  <a:pt x="2166" y="13602"/>
                </a:lnTo>
                <a:lnTo>
                  <a:pt x="2750" y="14113"/>
                </a:lnTo>
                <a:lnTo>
                  <a:pt x="3018" y="14357"/>
                </a:lnTo>
                <a:lnTo>
                  <a:pt x="3261" y="14600"/>
                </a:lnTo>
                <a:lnTo>
                  <a:pt x="3723" y="15135"/>
                </a:lnTo>
                <a:lnTo>
                  <a:pt x="4185" y="15646"/>
                </a:lnTo>
                <a:lnTo>
                  <a:pt x="4672" y="16157"/>
                </a:lnTo>
                <a:lnTo>
                  <a:pt x="4404" y="16230"/>
                </a:lnTo>
                <a:lnTo>
                  <a:pt x="4112" y="16303"/>
                </a:lnTo>
                <a:lnTo>
                  <a:pt x="3553" y="16376"/>
                </a:lnTo>
                <a:lnTo>
                  <a:pt x="2969" y="16425"/>
                </a:lnTo>
                <a:lnTo>
                  <a:pt x="2409" y="16498"/>
                </a:lnTo>
                <a:lnTo>
                  <a:pt x="2288" y="16522"/>
                </a:lnTo>
                <a:lnTo>
                  <a:pt x="2263" y="16474"/>
                </a:lnTo>
                <a:lnTo>
                  <a:pt x="2142" y="16230"/>
                </a:lnTo>
                <a:lnTo>
                  <a:pt x="1996" y="16011"/>
                </a:lnTo>
                <a:lnTo>
                  <a:pt x="1801" y="15792"/>
                </a:lnTo>
                <a:lnTo>
                  <a:pt x="1606" y="15598"/>
                </a:lnTo>
                <a:lnTo>
                  <a:pt x="1168" y="15233"/>
                </a:lnTo>
                <a:lnTo>
                  <a:pt x="730" y="14892"/>
                </a:lnTo>
                <a:lnTo>
                  <a:pt x="779" y="14600"/>
                </a:lnTo>
                <a:lnTo>
                  <a:pt x="925" y="13262"/>
                </a:lnTo>
                <a:lnTo>
                  <a:pt x="1047" y="12532"/>
                </a:lnTo>
                <a:close/>
                <a:moveTo>
                  <a:pt x="1436" y="16644"/>
                </a:moveTo>
                <a:lnTo>
                  <a:pt x="1533" y="16717"/>
                </a:lnTo>
                <a:lnTo>
                  <a:pt x="1387" y="16741"/>
                </a:lnTo>
                <a:lnTo>
                  <a:pt x="1436" y="16644"/>
                </a:lnTo>
                <a:close/>
                <a:moveTo>
                  <a:pt x="536" y="16741"/>
                </a:moveTo>
                <a:lnTo>
                  <a:pt x="584" y="16766"/>
                </a:lnTo>
                <a:lnTo>
                  <a:pt x="609" y="16766"/>
                </a:lnTo>
                <a:lnTo>
                  <a:pt x="682" y="16814"/>
                </a:lnTo>
                <a:lnTo>
                  <a:pt x="779" y="16839"/>
                </a:lnTo>
                <a:lnTo>
                  <a:pt x="876" y="16839"/>
                </a:lnTo>
                <a:lnTo>
                  <a:pt x="974" y="16814"/>
                </a:lnTo>
                <a:lnTo>
                  <a:pt x="974" y="16839"/>
                </a:lnTo>
                <a:lnTo>
                  <a:pt x="755" y="16887"/>
                </a:lnTo>
                <a:lnTo>
                  <a:pt x="511" y="16936"/>
                </a:lnTo>
                <a:lnTo>
                  <a:pt x="536" y="16741"/>
                </a:lnTo>
                <a:close/>
                <a:moveTo>
                  <a:pt x="13967" y="1"/>
                </a:moveTo>
                <a:lnTo>
                  <a:pt x="13602" y="25"/>
                </a:lnTo>
                <a:lnTo>
                  <a:pt x="13261" y="74"/>
                </a:lnTo>
                <a:lnTo>
                  <a:pt x="12945" y="195"/>
                </a:lnTo>
                <a:lnTo>
                  <a:pt x="12629" y="341"/>
                </a:lnTo>
                <a:lnTo>
                  <a:pt x="12337" y="560"/>
                </a:lnTo>
                <a:lnTo>
                  <a:pt x="12021" y="828"/>
                </a:lnTo>
                <a:lnTo>
                  <a:pt x="11875" y="974"/>
                </a:lnTo>
                <a:lnTo>
                  <a:pt x="11826" y="1071"/>
                </a:lnTo>
                <a:lnTo>
                  <a:pt x="11777" y="1169"/>
                </a:lnTo>
                <a:lnTo>
                  <a:pt x="11704" y="1193"/>
                </a:lnTo>
                <a:lnTo>
                  <a:pt x="11339" y="1485"/>
                </a:lnTo>
                <a:lnTo>
                  <a:pt x="10999" y="1777"/>
                </a:lnTo>
                <a:lnTo>
                  <a:pt x="10317" y="2385"/>
                </a:lnTo>
                <a:lnTo>
                  <a:pt x="9685" y="3042"/>
                </a:lnTo>
                <a:lnTo>
                  <a:pt x="9052" y="3699"/>
                </a:lnTo>
                <a:lnTo>
                  <a:pt x="8395" y="4405"/>
                </a:lnTo>
                <a:lnTo>
                  <a:pt x="7714" y="5086"/>
                </a:lnTo>
                <a:lnTo>
                  <a:pt x="7032" y="5743"/>
                </a:lnTo>
                <a:lnTo>
                  <a:pt x="6351" y="6449"/>
                </a:lnTo>
                <a:lnTo>
                  <a:pt x="4964" y="7933"/>
                </a:lnTo>
                <a:lnTo>
                  <a:pt x="4258" y="8663"/>
                </a:lnTo>
                <a:lnTo>
                  <a:pt x="3894" y="9004"/>
                </a:lnTo>
                <a:lnTo>
                  <a:pt x="3529" y="9344"/>
                </a:lnTo>
                <a:lnTo>
                  <a:pt x="2190" y="10537"/>
                </a:lnTo>
                <a:lnTo>
                  <a:pt x="1558" y="11145"/>
                </a:lnTo>
                <a:lnTo>
                  <a:pt x="925" y="11778"/>
                </a:lnTo>
                <a:lnTo>
                  <a:pt x="876" y="11753"/>
                </a:lnTo>
                <a:lnTo>
                  <a:pt x="803" y="11778"/>
                </a:lnTo>
                <a:lnTo>
                  <a:pt x="755" y="11802"/>
                </a:lnTo>
                <a:lnTo>
                  <a:pt x="706" y="11851"/>
                </a:lnTo>
                <a:lnTo>
                  <a:pt x="609" y="12118"/>
                </a:lnTo>
                <a:lnTo>
                  <a:pt x="511" y="12386"/>
                </a:lnTo>
                <a:lnTo>
                  <a:pt x="463" y="12702"/>
                </a:lnTo>
                <a:lnTo>
                  <a:pt x="414" y="12994"/>
                </a:lnTo>
                <a:lnTo>
                  <a:pt x="365" y="13627"/>
                </a:lnTo>
                <a:lnTo>
                  <a:pt x="292" y="14211"/>
                </a:lnTo>
                <a:lnTo>
                  <a:pt x="98" y="15646"/>
                </a:lnTo>
                <a:lnTo>
                  <a:pt x="25" y="16376"/>
                </a:lnTo>
                <a:lnTo>
                  <a:pt x="0" y="16717"/>
                </a:lnTo>
                <a:lnTo>
                  <a:pt x="0" y="17082"/>
                </a:lnTo>
                <a:lnTo>
                  <a:pt x="0" y="17155"/>
                </a:lnTo>
                <a:lnTo>
                  <a:pt x="25" y="17204"/>
                </a:lnTo>
                <a:lnTo>
                  <a:pt x="122" y="17277"/>
                </a:lnTo>
                <a:lnTo>
                  <a:pt x="219" y="17325"/>
                </a:lnTo>
                <a:lnTo>
                  <a:pt x="341" y="17325"/>
                </a:lnTo>
                <a:lnTo>
                  <a:pt x="438" y="17350"/>
                </a:lnTo>
                <a:lnTo>
                  <a:pt x="560" y="17374"/>
                </a:lnTo>
                <a:lnTo>
                  <a:pt x="803" y="17398"/>
                </a:lnTo>
                <a:lnTo>
                  <a:pt x="1047" y="17350"/>
                </a:lnTo>
                <a:lnTo>
                  <a:pt x="1339" y="17301"/>
                </a:lnTo>
                <a:lnTo>
                  <a:pt x="1874" y="17131"/>
                </a:lnTo>
                <a:lnTo>
                  <a:pt x="2312" y="17009"/>
                </a:lnTo>
                <a:lnTo>
                  <a:pt x="2677" y="16936"/>
                </a:lnTo>
                <a:lnTo>
                  <a:pt x="3018" y="16887"/>
                </a:lnTo>
                <a:lnTo>
                  <a:pt x="3723" y="16839"/>
                </a:lnTo>
                <a:lnTo>
                  <a:pt x="4088" y="16790"/>
                </a:lnTo>
                <a:lnTo>
                  <a:pt x="4429" y="16741"/>
                </a:lnTo>
                <a:lnTo>
                  <a:pt x="4769" y="16644"/>
                </a:lnTo>
                <a:lnTo>
                  <a:pt x="5110" y="16522"/>
                </a:lnTo>
                <a:lnTo>
                  <a:pt x="5159" y="16498"/>
                </a:lnTo>
                <a:lnTo>
                  <a:pt x="5207" y="16449"/>
                </a:lnTo>
                <a:lnTo>
                  <a:pt x="5353" y="16401"/>
                </a:lnTo>
                <a:lnTo>
                  <a:pt x="5499" y="16328"/>
                </a:lnTo>
                <a:lnTo>
                  <a:pt x="5645" y="16255"/>
                </a:lnTo>
                <a:lnTo>
                  <a:pt x="5791" y="16133"/>
                </a:lnTo>
                <a:lnTo>
                  <a:pt x="6035" y="15890"/>
                </a:lnTo>
                <a:lnTo>
                  <a:pt x="6254" y="15671"/>
                </a:lnTo>
                <a:lnTo>
                  <a:pt x="6959" y="14965"/>
                </a:lnTo>
                <a:lnTo>
                  <a:pt x="7641" y="14284"/>
                </a:lnTo>
                <a:lnTo>
                  <a:pt x="9101" y="12824"/>
                </a:lnTo>
                <a:lnTo>
                  <a:pt x="10536" y="11364"/>
                </a:lnTo>
                <a:lnTo>
                  <a:pt x="11218" y="10658"/>
                </a:lnTo>
                <a:lnTo>
                  <a:pt x="11875" y="9904"/>
                </a:lnTo>
                <a:lnTo>
                  <a:pt x="12531" y="9174"/>
                </a:lnTo>
                <a:lnTo>
                  <a:pt x="13213" y="8444"/>
                </a:lnTo>
                <a:lnTo>
                  <a:pt x="13870" y="7811"/>
                </a:lnTo>
                <a:lnTo>
                  <a:pt x="14527" y="7179"/>
                </a:lnTo>
                <a:lnTo>
                  <a:pt x="15184" y="6522"/>
                </a:lnTo>
                <a:lnTo>
                  <a:pt x="15500" y="6205"/>
                </a:lnTo>
                <a:lnTo>
                  <a:pt x="15816" y="5840"/>
                </a:lnTo>
                <a:lnTo>
                  <a:pt x="15889" y="5792"/>
                </a:lnTo>
                <a:lnTo>
                  <a:pt x="15987" y="5767"/>
                </a:lnTo>
                <a:lnTo>
                  <a:pt x="16060" y="5694"/>
                </a:lnTo>
                <a:lnTo>
                  <a:pt x="16108" y="5621"/>
                </a:lnTo>
                <a:lnTo>
                  <a:pt x="16133" y="5524"/>
                </a:lnTo>
                <a:lnTo>
                  <a:pt x="16376" y="5208"/>
                </a:lnTo>
                <a:lnTo>
                  <a:pt x="16595" y="4891"/>
                </a:lnTo>
                <a:lnTo>
                  <a:pt x="16814" y="4551"/>
                </a:lnTo>
                <a:lnTo>
                  <a:pt x="16984" y="4210"/>
                </a:lnTo>
                <a:lnTo>
                  <a:pt x="17106" y="3845"/>
                </a:lnTo>
                <a:lnTo>
                  <a:pt x="17203" y="3480"/>
                </a:lnTo>
                <a:lnTo>
                  <a:pt x="17228" y="3140"/>
                </a:lnTo>
                <a:lnTo>
                  <a:pt x="17203" y="2799"/>
                </a:lnTo>
                <a:lnTo>
                  <a:pt x="17130" y="2458"/>
                </a:lnTo>
                <a:lnTo>
                  <a:pt x="17009" y="2142"/>
                </a:lnTo>
                <a:lnTo>
                  <a:pt x="16863" y="1826"/>
                </a:lnTo>
                <a:lnTo>
                  <a:pt x="16668" y="1534"/>
                </a:lnTo>
                <a:lnTo>
                  <a:pt x="16449" y="1266"/>
                </a:lnTo>
                <a:lnTo>
                  <a:pt x="16230" y="998"/>
                </a:lnTo>
                <a:lnTo>
                  <a:pt x="15962" y="779"/>
                </a:lnTo>
                <a:lnTo>
                  <a:pt x="15670" y="560"/>
                </a:lnTo>
                <a:lnTo>
                  <a:pt x="15354" y="390"/>
                </a:lnTo>
                <a:lnTo>
                  <a:pt x="15013" y="244"/>
                </a:lnTo>
                <a:lnTo>
                  <a:pt x="14673" y="122"/>
                </a:lnTo>
                <a:lnTo>
                  <a:pt x="14332" y="49"/>
                </a:lnTo>
                <a:lnTo>
                  <a:pt x="1396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17"/>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3402258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body" idx="1"/>
          </p:nvPr>
        </p:nvSpPr>
        <p:spPr>
          <a:xfrm>
            <a:off x="1413600" y="3197139"/>
            <a:ext cx="6316800" cy="1832061"/>
          </a:xfrm>
          <a:prstGeom prst="rect">
            <a:avLst/>
          </a:prstGeom>
        </p:spPr>
        <p:txBody>
          <a:bodyPr spcFirstLastPara="1" wrap="square" lIns="91425" tIns="91425" rIns="91425" bIns="91425" anchor="t" anchorCtr="0">
            <a:noAutofit/>
          </a:bodyPr>
          <a:lstStyle/>
          <a:p>
            <a:pPr marL="0" lvl="0" indent="0">
              <a:buNone/>
            </a:pPr>
            <a:r>
              <a:rPr lang="hu-HU" sz="2000" dirty="0"/>
              <a:t>A csatolás a program komplexitását növeli csökkentve az egységbezárást, az újra felhasználhatóságot, a </a:t>
            </a:r>
            <a:r>
              <a:rPr lang="hu-HU" sz="2000" dirty="0" err="1"/>
              <a:t>karbantarthatóságot</a:t>
            </a:r>
            <a:r>
              <a:rPr lang="hu-HU" sz="2000" dirty="0"/>
              <a:t>, illetve a kód átláthatóságát.</a:t>
            </a:r>
          </a:p>
        </p:txBody>
      </p:sp>
      <p:sp>
        <p:nvSpPr>
          <p:cNvPr id="104" name="Google Shape;104;p15"/>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1990634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CSATOLÁS MÉRŐSZÁMAI/CBO</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Coupling</a:t>
            </a:r>
            <a:r>
              <a:rPr lang="hu-HU" dirty="0"/>
              <a:t> </a:t>
            </a:r>
            <a:r>
              <a:rPr lang="hu-HU" dirty="0" err="1"/>
              <a:t>between</a:t>
            </a:r>
            <a:r>
              <a:rPr lang="hu-HU" dirty="0"/>
              <a:t> </a:t>
            </a:r>
            <a:r>
              <a:rPr lang="hu-HU" dirty="0" err="1"/>
              <a:t>Object</a:t>
            </a:r>
            <a:r>
              <a:rPr lang="hu-HU" dirty="0"/>
              <a:t> </a:t>
            </a:r>
            <a:r>
              <a:rPr lang="hu-HU" dirty="0" err="1"/>
              <a:t>Classes</a:t>
            </a:r>
            <a:endParaRPr lang="hu-HU" dirty="0"/>
          </a:p>
          <a:p>
            <a:pPr lvl="1" indent="-419100">
              <a:spcBef>
                <a:spcPts val="600"/>
              </a:spcBef>
              <a:buSzPts val="3000"/>
              <a:buChar char="▪"/>
            </a:pPr>
            <a:r>
              <a:rPr lang="hu-HU" dirty="0"/>
              <a:t>két osztály között csatolás van, ha az egyikük használja a másikat</a:t>
            </a:r>
          </a:p>
          <a:p>
            <a:pPr lvl="1" indent="-419100">
              <a:spcBef>
                <a:spcPts val="600"/>
              </a:spcBef>
              <a:buSzPts val="3000"/>
              <a:buChar char="▪"/>
            </a:pPr>
            <a:r>
              <a:rPr lang="hu-HU" dirty="0"/>
              <a:t>egy osztály CBO-ja az a szám, ahány másik osztállyal csatolásban van</a:t>
            </a:r>
          </a:p>
          <a:p>
            <a:pPr lvl="1" indent="-419100">
              <a:spcBef>
                <a:spcPts val="600"/>
              </a:spcBef>
              <a:buSzPts val="3000"/>
              <a:buChar char="▪"/>
            </a:pPr>
            <a:r>
              <a:rPr lang="hu-HU" dirty="0"/>
              <a:t>erős csatolás bonyolult, komplex rendszerre utal</a:t>
            </a:r>
          </a:p>
          <a:p>
            <a:pPr lvl="2" indent="-419100">
              <a:spcBef>
                <a:spcPts val="600"/>
              </a:spcBef>
              <a:buSzPts val="3000"/>
              <a:buChar char="▪"/>
            </a:pPr>
            <a:r>
              <a:rPr lang="hu-HU" dirty="0"/>
              <a:t>minél függetlenebb egy osztály, annál könnyebb </a:t>
            </a:r>
            <a:r>
              <a:rPr lang="hu-HU" dirty="0" err="1"/>
              <a:t>újrahasznosítani</a:t>
            </a: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9</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2983635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CSATOLÁS MÉRŐSZÁMAI/COF</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Coupling</a:t>
            </a:r>
            <a:r>
              <a:rPr lang="hu-HU" dirty="0"/>
              <a:t> </a:t>
            </a:r>
            <a:r>
              <a:rPr lang="hu-HU" dirty="0" err="1"/>
              <a:t>Factor</a:t>
            </a:r>
            <a:endParaRPr lang="hu-HU" dirty="0"/>
          </a:p>
          <a:p>
            <a:pPr lvl="1" indent="-419100">
              <a:spcBef>
                <a:spcPts val="600"/>
              </a:spcBef>
              <a:buSzPts val="3000"/>
              <a:buChar char="▪"/>
            </a:pPr>
            <a:r>
              <a:rPr lang="hu-HU" dirty="0"/>
              <a:t>programszintű mérőszám</a:t>
            </a:r>
          </a:p>
          <a:p>
            <a:pPr lvl="1" indent="-419100">
              <a:spcBef>
                <a:spcPts val="600"/>
              </a:spcBef>
              <a:buSzPts val="3000"/>
              <a:buChar char="▪"/>
            </a:pPr>
            <a:r>
              <a:rPr lang="hu-HU" dirty="0"/>
              <a:t>kapcsolatok normalizált száma</a:t>
            </a:r>
          </a:p>
          <a:p>
            <a:pPr lvl="2" indent="-419100">
              <a:spcBef>
                <a:spcPts val="600"/>
              </a:spcBef>
              <a:buSzPts val="3000"/>
              <a:buChar char="▪"/>
            </a:pPr>
            <a:r>
              <a:rPr lang="hu-HU" dirty="0"/>
              <a:t>kapcsolat – az egyik osztály hivatkozik a másikra</a:t>
            </a:r>
          </a:p>
          <a:p>
            <a:pPr lvl="2" indent="-419100">
              <a:spcBef>
                <a:spcPts val="600"/>
              </a:spcBef>
              <a:buSzPts val="3000"/>
              <a:buChar char="▪"/>
            </a:pPr>
            <a:r>
              <a:rPr lang="hu-HU" dirty="0"/>
              <a:t>nem egymás leszármazottjai</a:t>
            </a:r>
          </a:p>
          <a:p>
            <a:pPr lvl="2" indent="-419100">
              <a:spcBef>
                <a:spcPts val="600"/>
              </a:spcBef>
              <a:buSzPts val="3000"/>
              <a:buChar char="▪"/>
            </a:pPr>
            <a:r>
              <a:rPr lang="hu-HU" dirty="0"/>
              <a:t>normalizálni az elméletileg lehetséges összes kapcsolat számával kell</a:t>
            </a: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10</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41892393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CSATOLÁS MÉRŐSZÁMAI/MPC</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Message</a:t>
            </a:r>
            <a:r>
              <a:rPr lang="hu-HU" dirty="0"/>
              <a:t> </a:t>
            </a:r>
            <a:r>
              <a:rPr lang="hu-HU" dirty="0" err="1"/>
              <a:t>Passing</a:t>
            </a:r>
            <a:r>
              <a:rPr lang="hu-HU" dirty="0"/>
              <a:t> </a:t>
            </a:r>
            <a:r>
              <a:rPr lang="hu-HU" dirty="0" err="1"/>
              <a:t>Coupling</a:t>
            </a:r>
            <a:endParaRPr lang="hu-HU" dirty="0"/>
          </a:p>
          <a:p>
            <a:pPr lvl="1" indent="-419100">
              <a:spcBef>
                <a:spcPts val="600"/>
              </a:spcBef>
              <a:buSzPts val="3000"/>
              <a:buChar char="▪"/>
            </a:pPr>
            <a:r>
              <a:rPr lang="hu-HU" dirty="0"/>
              <a:t>a függvényhívások száma egy osztályban</a:t>
            </a:r>
          </a:p>
          <a:p>
            <a:pPr lvl="2" indent="-419100">
              <a:spcBef>
                <a:spcPts val="600"/>
              </a:spcBef>
              <a:buSzPts val="3000"/>
              <a:buChar char="▪"/>
            </a:pPr>
            <a:r>
              <a:rPr lang="hu-HU" dirty="0"/>
              <a:t>méri, hogy mennyire függenek a metódusok implementáció más osztályoktól</a:t>
            </a:r>
          </a:p>
          <a:p>
            <a:pPr lvl="2" indent="-419100">
              <a:spcBef>
                <a:spcPts val="600"/>
              </a:spcBef>
              <a:buSzPts val="3000"/>
              <a:buChar char="▪"/>
            </a:pPr>
            <a:r>
              <a:rPr lang="hu-HU" dirty="0"/>
              <a:t>saját metódusok hívása nem számít</a:t>
            </a: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11</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571345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ctrTitle" idx="4294967295"/>
          </p:nvPr>
        </p:nvSpPr>
        <p:spPr>
          <a:xfrm>
            <a:off x="685800" y="3748953"/>
            <a:ext cx="7772400" cy="104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hu-HU" sz="3600" b="1" dirty="0"/>
              <a:t>KOHÉZIÓ MÉRÉSE</a:t>
            </a:r>
            <a:endParaRPr sz="3600" b="1" dirty="0"/>
          </a:p>
        </p:txBody>
      </p:sp>
      <p:grpSp>
        <p:nvGrpSpPr>
          <p:cNvPr id="118" name="Google Shape;118;p17"/>
          <p:cNvGrpSpPr/>
          <p:nvPr/>
        </p:nvGrpSpPr>
        <p:grpSpPr>
          <a:xfrm>
            <a:off x="3030219" y="756050"/>
            <a:ext cx="2931161" cy="2815726"/>
            <a:chOff x="3075562" y="756050"/>
            <a:chExt cx="2931161" cy="2815726"/>
          </a:xfrm>
        </p:grpSpPr>
        <p:sp>
          <p:nvSpPr>
            <p:cNvPr id="119" name="Google Shape;119;p17"/>
            <p:cNvSpPr/>
            <p:nvPr/>
          </p:nvSpPr>
          <p:spPr>
            <a:xfrm>
              <a:off x="3950843" y="1762696"/>
              <a:ext cx="1326900" cy="1326900"/>
            </a:xfrm>
            <a:prstGeom prst="ellipse">
              <a:avLst/>
            </a:prstGeom>
            <a:noFill/>
            <a:ln w="9525"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20;p17"/>
            <p:cNvSpPr/>
            <p:nvPr/>
          </p:nvSpPr>
          <p:spPr>
            <a:xfrm>
              <a:off x="3472643" y="1284496"/>
              <a:ext cx="2283300" cy="2283300"/>
            </a:xfrm>
            <a:prstGeom prst="rect">
              <a:avLst/>
            </a:prstGeom>
            <a:noFill/>
            <a:ln w="9525" cap="flat" cmpd="sng">
              <a:solidFill>
                <a:srgbClr val="FFFFFF"/>
              </a:solidFill>
              <a:prstDash val="dash"/>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17"/>
            <p:cNvSpPr/>
            <p:nvPr/>
          </p:nvSpPr>
          <p:spPr>
            <a:xfrm>
              <a:off x="5883273" y="1280600"/>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2" name="Google Shape;122;p17"/>
            <p:cNvSpPr/>
            <p:nvPr/>
          </p:nvSpPr>
          <p:spPr>
            <a:xfrm rot="-5400000">
              <a:off x="4546838" y="-55875"/>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3" name="Google Shape;123;p17"/>
            <p:cNvSpPr/>
            <p:nvPr/>
          </p:nvSpPr>
          <p:spPr>
            <a:xfrm rot="-5400000">
              <a:off x="3075562" y="756050"/>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24" name="Google Shape;124;p17"/>
            <p:cNvCxnSpPr/>
            <p:nvPr/>
          </p:nvCxnSpPr>
          <p:spPr>
            <a:xfrm>
              <a:off x="3480293" y="1292146"/>
              <a:ext cx="2268000" cy="2268000"/>
            </a:xfrm>
            <a:prstGeom prst="straightConnector1">
              <a:avLst/>
            </a:prstGeom>
            <a:noFill/>
            <a:ln w="9525" cap="flat" cmpd="sng">
              <a:solidFill>
                <a:srgbClr val="FFFFFF"/>
              </a:solidFill>
              <a:prstDash val="dash"/>
              <a:round/>
              <a:headEnd type="none" w="med" len="med"/>
              <a:tailEnd type="none" w="med" len="med"/>
            </a:ln>
          </p:spPr>
        </p:cxnSp>
        <p:cxnSp>
          <p:nvCxnSpPr>
            <p:cNvPr id="125" name="Google Shape;125;p17"/>
            <p:cNvCxnSpPr>
              <a:endCxn id="119" idx="7"/>
            </p:cNvCxnSpPr>
            <p:nvPr/>
          </p:nvCxnSpPr>
          <p:spPr>
            <a:xfrm flipH="1">
              <a:off x="5083423" y="1280516"/>
              <a:ext cx="676500" cy="676500"/>
            </a:xfrm>
            <a:prstGeom prst="straightConnector1">
              <a:avLst/>
            </a:prstGeom>
            <a:noFill/>
            <a:ln w="9525" cap="flat" cmpd="sng">
              <a:solidFill>
                <a:srgbClr val="FFFFFF"/>
              </a:solidFill>
              <a:prstDash val="dash"/>
              <a:round/>
              <a:headEnd type="none" w="med" len="med"/>
              <a:tailEnd type="none" w="med" len="med"/>
            </a:ln>
          </p:spPr>
        </p:cxnSp>
        <p:cxnSp>
          <p:nvCxnSpPr>
            <p:cNvPr id="126" name="Google Shape;126;p17"/>
            <p:cNvCxnSpPr/>
            <p:nvPr/>
          </p:nvCxnSpPr>
          <p:spPr>
            <a:xfrm>
              <a:off x="3345288" y="1288325"/>
              <a:ext cx="0" cy="2283300"/>
            </a:xfrm>
            <a:prstGeom prst="straightConnector1">
              <a:avLst/>
            </a:prstGeom>
            <a:noFill/>
            <a:ln w="9525" cap="flat" cmpd="sng">
              <a:solidFill>
                <a:srgbClr val="FFFFFF"/>
              </a:solidFill>
              <a:prstDash val="solid"/>
              <a:round/>
              <a:headEnd type="triangle" w="sm" len="sm"/>
              <a:tailEnd type="triangle" w="sm" len="sm"/>
            </a:ln>
          </p:spPr>
        </p:cxnSp>
        <p:cxnSp>
          <p:nvCxnSpPr>
            <p:cNvPr id="127" name="Google Shape;127;p17"/>
            <p:cNvCxnSpPr>
              <a:stCxn id="119" idx="3"/>
            </p:cNvCxnSpPr>
            <p:nvPr/>
          </p:nvCxnSpPr>
          <p:spPr>
            <a:xfrm flipH="1">
              <a:off x="3468663" y="2895276"/>
              <a:ext cx="676500" cy="676500"/>
            </a:xfrm>
            <a:prstGeom prst="straightConnector1">
              <a:avLst/>
            </a:prstGeom>
            <a:noFill/>
            <a:ln w="9525" cap="flat" cmpd="sng">
              <a:solidFill>
                <a:srgbClr val="FFFFFF"/>
              </a:solidFill>
              <a:prstDash val="dash"/>
              <a:round/>
              <a:headEnd type="none" w="med" len="med"/>
              <a:tailEnd type="none" w="med" len="med"/>
            </a:ln>
          </p:spPr>
        </p:cxnSp>
      </p:grpSp>
      <p:sp>
        <p:nvSpPr>
          <p:cNvPr id="128" name="Google Shape;128;p17"/>
          <p:cNvSpPr/>
          <p:nvPr/>
        </p:nvSpPr>
        <p:spPr>
          <a:xfrm>
            <a:off x="4177025" y="1997048"/>
            <a:ext cx="789947" cy="797788"/>
          </a:xfrm>
          <a:custGeom>
            <a:avLst/>
            <a:gdLst/>
            <a:ahLst/>
            <a:cxnLst/>
            <a:rect l="l" t="t" r="r" b="b"/>
            <a:pathLst>
              <a:path w="17228" h="17399" extrusionOk="0">
                <a:moveTo>
                  <a:pt x="14162" y="439"/>
                </a:moveTo>
                <a:lnTo>
                  <a:pt x="14478" y="512"/>
                </a:lnTo>
                <a:lnTo>
                  <a:pt x="14794" y="609"/>
                </a:lnTo>
                <a:lnTo>
                  <a:pt x="15111" y="755"/>
                </a:lnTo>
                <a:lnTo>
                  <a:pt x="15403" y="925"/>
                </a:lnTo>
                <a:lnTo>
                  <a:pt x="15670" y="1120"/>
                </a:lnTo>
                <a:lnTo>
                  <a:pt x="15914" y="1315"/>
                </a:lnTo>
                <a:lnTo>
                  <a:pt x="16108" y="1534"/>
                </a:lnTo>
                <a:lnTo>
                  <a:pt x="15987" y="1558"/>
                </a:lnTo>
                <a:lnTo>
                  <a:pt x="15889" y="1607"/>
                </a:lnTo>
                <a:lnTo>
                  <a:pt x="15816" y="1655"/>
                </a:lnTo>
                <a:lnTo>
                  <a:pt x="15792" y="1680"/>
                </a:lnTo>
                <a:lnTo>
                  <a:pt x="15768" y="1728"/>
                </a:lnTo>
                <a:lnTo>
                  <a:pt x="15768" y="1777"/>
                </a:lnTo>
                <a:lnTo>
                  <a:pt x="15792" y="1826"/>
                </a:lnTo>
                <a:lnTo>
                  <a:pt x="15865" y="1850"/>
                </a:lnTo>
                <a:lnTo>
                  <a:pt x="15938" y="1874"/>
                </a:lnTo>
                <a:lnTo>
                  <a:pt x="16230" y="1874"/>
                </a:lnTo>
                <a:lnTo>
                  <a:pt x="16352" y="1850"/>
                </a:lnTo>
                <a:lnTo>
                  <a:pt x="16546" y="2166"/>
                </a:lnTo>
                <a:lnTo>
                  <a:pt x="16254" y="2142"/>
                </a:lnTo>
                <a:lnTo>
                  <a:pt x="16011" y="2142"/>
                </a:lnTo>
                <a:lnTo>
                  <a:pt x="15987" y="2166"/>
                </a:lnTo>
                <a:lnTo>
                  <a:pt x="15987" y="2191"/>
                </a:lnTo>
                <a:lnTo>
                  <a:pt x="16133" y="2312"/>
                </a:lnTo>
                <a:lnTo>
                  <a:pt x="16303" y="2410"/>
                </a:lnTo>
                <a:lnTo>
                  <a:pt x="16473" y="2458"/>
                </a:lnTo>
                <a:lnTo>
                  <a:pt x="16668" y="2507"/>
                </a:lnTo>
                <a:lnTo>
                  <a:pt x="16717" y="2750"/>
                </a:lnTo>
                <a:lnTo>
                  <a:pt x="16741" y="2994"/>
                </a:lnTo>
                <a:lnTo>
                  <a:pt x="16522" y="2872"/>
                </a:lnTo>
                <a:lnTo>
                  <a:pt x="16352" y="2799"/>
                </a:lnTo>
                <a:lnTo>
                  <a:pt x="16181" y="2702"/>
                </a:lnTo>
                <a:lnTo>
                  <a:pt x="16011" y="2653"/>
                </a:lnTo>
                <a:lnTo>
                  <a:pt x="15792" y="2653"/>
                </a:lnTo>
                <a:lnTo>
                  <a:pt x="15768" y="2677"/>
                </a:lnTo>
                <a:lnTo>
                  <a:pt x="15768" y="2702"/>
                </a:lnTo>
                <a:lnTo>
                  <a:pt x="15768" y="2726"/>
                </a:lnTo>
                <a:lnTo>
                  <a:pt x="15889" y="2872"/>
                </a:lnTo>
                <a:lnTo>
                  <a:pt x="16035" y="2994"/>
                </a:lnTo>
                <a:lnTo>
                  <a:pt x="16327" y="3213"/>
                </a:lnTo>
                <a:lnTo>
                  <a:pt x="16522" y="3334"/>
                </a:lnTo>
                <a:lnTo>
                  <a:pt x="16619" y="3407"/>
                </a:lnTo>
                <a:lnTo>
                  <a:pt x="16717" y="3456"/>
                </a:lnTo>
                <a:lnTo>
                  <a:pt x="16692" y="3651"/>
                </a:lnTo>
                <a:lnTo>
                  <a:pt x="16619" y="3845"/>
                </a:lnTo>
                <a:lnTo>
                  <a:pt x="16400" y="3602"/>
                </a:lnTo>
                <a:lnTo>
                  <a:pt x="16133" y="3407"/>
                </a:lnTo>
                <a:lnTo>
                  <a:pt x="15987" y="3310"/>
                </a:lnTo>
                <a:lnTo>
                  <a:pt x="15841" y="3237"/>
                </a:lnTo>
                <a:lnTo>
                  <a:pt x="15695" y="3188"/>
                </a:lnTo>
                <a:lnTo>
                  <a:pt x="15524" y="3164"/>
                </a:lnTo>
                <a:lnTo>
                  <a:pt x="15476" y="3188"/>
                </a:lnTo>
                <a:lnTo>
                  <a:pt x="15476" y="3213"/>
                </a:lnTo>
                <a:lnTo>
                  <a:pt x="15476" y="3237"/>
                </a:lnTo>
                <a:lnTo>
                  <a:pt x="15500" y="3261"/>
                </a:lnTo>
                <a:lnTo>
                  <a:pt x="15597" y="3359"/>
                </a:lnTo>
                <a:lnTo>
                  <a:pt x="15695" y="3432"/>
                </a:lnTo>
                <a:lnTo>
                  <a:pt x="15987" y="3699"/>
                </a:lnTo>
                <a:lnTo>
                  <a:pt x="16230" y="3918"/>
                </a:lnTo>
                <a:lnTo>
                  <a:pt x="16449" y="4162"/>
                </a:lnTo>
                <a:lnTo>
                  <a:pt x="16473" y="4186"/>
                </a:lnTo>
                <a:lnTo>
                  <a:pt x="16254" y="4526"/>
                </a:lnTo>
                <a:lnTo>
                  <a:pt x="16206" y="4453"/>
                </a:lnTo>
                <a:lnTo>
                  <a:pt x="16133" y="4380"/>
                </a:lnTo>
                <a:lnTo>
                  <a:pt x="15962" y="4259"/>
                </a:lnTo>
                <a:lnTo>
                  <a:pt x="15646" y="4040"/>
                </a:lnTo>
                <a:lnTo>
                  <a:pt x="15403" y="3821"/>
                </a:lnTo>
                <a:lnTo>
                  <a:pt x="15159" y="3626"/>
                </a:lnTo>
                <a:lnTo>
                  <a:pt x="15111" y="3626"/>
                </a:lnTo>
                <a:lnTo>
                  <a:pt x="15062" y="3651"/>
                </a:lnTo>
                <a:lnTo>
                  <a:pt x="15013" y="3724"/>
                </a:lnTo>
                <a:lnTo>
                  <a:pt x="15013" y="3821"/>
                </a:lnTo>
                <a:lnTo>
                  <a:pt x="15013" y="3894"/>
                </a:lnTo>
                <a:lnTo>
                  <a:pt x="15038" y="3991"/>
                </a:lnTo>
                <a:lnTo>
                  <a:pt x="15135" y="4137"/>
                </a:lnTo>
                <a:lnTo>
                  <a:pt x="15257" y="4283"/>
                </a:lnTo>
                <a:lnTo>
                  <a:pt x="15427" y="4453"/>
                </a:lnTo>
                <a:lnTo>
                  <a:pt x="15622" y="4599"/>
                </a:lnTo>
                <a:lnTo>
                  <a:pt x="15816" y="4745"/>
                </a:lnTo>
                <a:lnTo>
                  <a:pt x="15914" y="4818"/>
                </a:lnTo>
                <a:lnTo>
                  <a:pt x="16011" y="4843"/>
                </a:lnTo>
                <a:lnTo>
                  <a:pt x="15792" y="5135"/>
                </a:lnTo>
                <a:lnTo>
                  <a:pt x="14867" y="4162"/>
                </a:lnTo>
                <a:lnTo>
                  <a:pt x="13967" y="3213"/>
                </a:lnTo>
                <a:lnTo>
                  <a:pt x="13505" y="2750"/>
                </a:lnTo>
                <a:lnTo>
                  <a:pt x="13018" y="2288"/>
                </a:lnTo>
                <a:lnTo>
                  <a:pt x="12531" y="1850"/>
                </a:lnTo>
                <a:lnTo>
                  <a:pt x="12021" y="1461"/>
                </a:lnTo>
                <a:lnTo>
                  <a:pt x="12021" y="1388"/>
                </a:lnTo>
                <a:lnTo>
                  <a:pt x="12118" y="1315"/>
                </a:lnTo>
                <a:lnTo>
                  <a:pt x="12215" y="1242"/>
                </a:lnTo>
                <a:lnTo>
                  <a:pt x="12385" y="1047"/>
                </a:lnTo>
                <a:lnTo>
                  <a:pt x="12629" y="852"/>
                </a:lnTo>
                <a:lnTo>
                  <a:pt x="12921" y="682"/>
                </a:lnTo>
                <a:lnTo>
                  <a:pt x="13213" y="560"/>
                </a:lnTo>
                <a:lnTo>
                  <a:pt x="13505" y="463"/>
                </a:lnTo>
                <a:lnTo>
                  <a:pt x="13675" y="439"/>
                </a:lnTo>
                <a:close/>
                <a:moveTo>
                  <a:pt x="11753" y="1704"/>
                </a:moveTo>
                <a:lnTo>
                  <a:pt x="11826" y="1850"/>
                </a:lnTo>
                <a:lnTo>
                  <a:pt x="11948" y="1972"/>
                </a:lnTo>
                <a:lnTo>
                  <a:pt x="12093" y="2069"/>
                </a:lnTo>
                <a:lnTo>
                  <a:pt x="12385" y="2288"/>
                </a:lnTo>
                <a:lnTo>
                  <a:pt x="12677" y="2531"/>
                </a:lnTo>
                <a:lnTo>
                  <a:pt x="12945" y="2823"/>
                </a:lnTo>
                <a:lnTo>
                  <a:pt x="13480" y="3383"/>
                </a:lnTo>
                <a:lnTo>
                  <a:pt x="14478" y="4453"/>
                </a:lnTo>
                <a:lnTo>
                  <a:pt x="15500" y="5500"/>
                </a:lnTo>
                <a:lnTo>
                  <a:pt x="15111" y="5962"/>
                </a:lnTo>
                <a:lnTo>
                  <a:pt x="14600" y="5500"/>
                </a:lnTo>
                <a:lnTo>
                  <a:pt x="14113" y="5013"/>
                </a:lnTo>
                <a:lnTo>
                  <a:pt x="13213" y="4016"/>
                </a:lnTo>
                <a:lnTo>
                  <a:pt x="12750" y="3529"/>
                </a:lnTo>
                <a:lnTo>
                  <a:pt x="12264" y="3018"/>
                </a:lnTo>
                <a:lnTo>
                  <a:pt x="11777" y="2556"/>
                </a:lnTo>
                <a:lnTo>
                  <a:pt x="11266" y="2093"/>
                </a:lnTo>
                <a:lnTo>
                  <a:pt x="11753" y="1704"/>
                </a:lnTo>
                <a:close/>
                <a:moveTo>
                  <a:pt x="13724" y="5232"/>
                </a:moveTo>
                <a:lnTo>
                  <a:pt x="14235" y="5767"/>
                </a:lnTo>
                <a:lnTo>
                  <a:pt x="14794" y="6278"/>
                </a:lnTo>
                <a:lnTo>
                  <a:pt x="14575" y="6497"/>
                </a:lnTo>
                <a:lnTo>
                  <a:pt x="14259" y="6278"/>
                </a:lnTo>
                <a:lnTo>
                  <a:pt x="13967" y="6035"/>
                </a:lnTo>
                <a:lnTo>
                  <a:pt x="13699" y="5792"/>
                </a:lnTo>
                <a:lnTo>
                  <a:pt x="13432" y="5573"/>
                </a:lnTo>
                <a:lnTo>
                  <a:pt x="13724" y="5232"/>
                </a:lnTo>
                <a:close/>
                <a:moveTo>
                  <a:pt x="13261" y="5767"/>
                </a:moveTo>
                <a:lnTo>
                  <a:pt x="13359" y="5913"/>
                </a:lnTo>
                <a:lnTo>
                  <a:pt x="13456" y="6059"/>
                </a:lnTo>
                <a:lnTo>
                  <a:pt x="13724" y="6303"/>
                </a:lnTo>
                <a:lnTo>
                  <a:pt x="13991" y="6546"/>
                </a:lnTo>
                <a:lnTo>
                  <a:pt x="14137" y="6668"/>
                </a:lnTo>
                <a:lnTo>
                  <a:pt x="14308" y="6765"/>
                </a:lnTo>
                <a:lnTo>
                  <a:pt x="14235" y="6814"/>
                </a:lnTo>
                <a:lnTo>
                  <a:pt x="14137" y="6692"/>
                </a:lnTo>
                <a:lnTo>
                  <a:pt x="13991" y="6595"/>
                </a:lnTo>
                <a:lnTo>
                  <a:pt x="13699" y="6400"/>
                </a:lnTo>
                <a:lnTo>
                  <a:pt x="13359" y="6230"/>
                </a:lnTo>
                <a:lnTo>
                  <a:pt x="13188" y="6132"/>
                </a:lnTo>
                <a:lnTo>
                  <a:pt x="13042" y="6011"/>
                </a:lnTo>
                <a:lnTo>
                  <a:pt x="13261" y="5767"/>
                </a:lnTo>
                <a:close/>
                <a:moveTo>
                  <a:pt x="13018" y="6059"/>
                </a:moveTo>
                <a:lnTo>
                  <a:pt x="13188" y="6303"/>
                </a:lnTo>
                <a:lnTo>
                  <a:pt x="13286" y="6424"/>
                </a:lnTo>
                <a:lnTo>
                  <a:pt x="13407" y="6522"/>
                </a:lnTo>
                <a:lnTo>
                  <a:pt x="14040" y="7008"/>
                </a:lnTo>
                <a:lnTo>
                  <a:pt x="13699" y="7349"/>
                </a:lnTo>
                <a:lnTo>
                  <a:pt x="13675" y="7325"/>
                </a:lnTo>
                <a:lnTo>
                  <a:pt x="13505" y="7227"/>
                </a:lnTo>
                <a:lnTo>
                  <a:pt x="13334" y="7106"/>
                </a:lnTo>
                <a:lnTo>
                  <a:pt x="13018" y="6838"/>
                </a:lnTo>
                <a:lnTo>
                  <a:pt x="12799" y="6668"/>
                </a:lnTo>
                <a:lnTo>
                  <a:pt x="12702" y="6595"/>
                </a:lnTo>
                <a:lnTo>
                  <a:pt x="12580" y="6546"/>
                </a:lnTo>
                <a:lnTo>
                  <a:pt x="12799" y="6303"/>
                </a:lnTo>
                <a:lnTo>
                  <a:pt x="13018" y="6059"/>
                </a:lnTo>
                <a:close/>
                <a:moveTo>
                  <a:pt x="12385" y="6716"/>
                </a:moveTo>
                <a:lnTo>
                  <a:pt x="12483" y="6838"/>
                </a:lnTo>
                <a:lnTo>
                  <a:pt x="12580" y="6935"/>
                </a:lnTo>
                <a:lnTo>
                  <a:pt x="12799" y="7130"/>
                </a:lnTo>
                <a:lnTo>
                  <a:pt x="13091" y="7398"/>
                </a:lnTo>
                <a:lnTo>
                  <a:pt x="13407" y="7617"/>
                </a:lnTo>
                <a:lnTo>
                  <a:pt x="13018" y="8006"/>
                </a:lnTo>
                <a:lnTo>
                  <a:pt x="12921" y="8079"/>
                </a:lnTo>
                <a:lnTo>
                  <a:pt x="12823" y="7909"/>
                </a:lnTo>
                <a:lnTo>
                  <a:pt x="12653" y="7763"/>
                </a:lnTo>
                <a:lnTo>
                  <a:pt x="12312" y="7495"/>
                </a:lnTo>
                <a:lnTo>
                  <a:pt x="12093" y="7325"/>
                </a:lnTo>
                <a:lnTo>
                  <a:pt x="11972" y="7252"/>
                </a:lnTo>
                <a:lnTo>
                  <a:pt x="11850" y="7179"/>
                </a:lnTo>
                <a:lnTo>
                  <a:pt x="12385" y="6716"/>
                </a:lnTo>
                <a:close/>
                <a:moveTo>
                  <a:pt x="11631" y="7373"/>
                </a:moveTo>
                <a:lnTo>
                  <a:pt x="11729" y="7471"/>
                </a:lnTo>
                <a:lnTo>
                  <a:pt x="11850" y="7568"/>
                </a:lnTo>
                <a:lnTo>
                  <a:pt x="12093" y="7738"/>
                </a:lnTo>
                <a:lnTo>
                  <a:pt x="12434" y="8055"/>
                </a:lnTo>
                <a:lnTo>
                  <a:pt x="12556" y="8201"/>
                </a:lnTo>
                <a:lnTo>
                  <a:pt x="12702" y="8322"/>
                </a:lnTo>
                <a:lnTo>
                  <a:pt x="11948" y="9150"/>
                </a:lnTo>
                <a:lnTo>
                  <a:pt x="11680" y="8906"/>
                </a:lnTo>
                <a:lnTo>
                  <a:pt x="11364" y="8687"/>
                </a:lnTo>
                <a:lnTo>
                  <a:pt x="11072" y="8444"/>
                </a:lnTo>
                <a:lnTo>
                  <a:pt x="10780" y="8201"/>
                </a:lnTo>
                <a:lnTo>
                  <a:pt x="11096" y="7860"/>
                </a:lnTo>
                <a:lnTo>
                  <a:pt x="11193" y="7957"/>
                </a:lnTo>
                <a:lnTo>
                  <a:pt x="11291" y="8030"/>
                </a:lnTo>
                <a:lnTo>
                  <a:pt x="11461" y="8176"/>
                </a:lnTo>
                <a:lnTo>
                  <a:pt x="11777" y="8493"/>
                </a:lnTo>
                <a:lnTo>
                  <a:pt x="11972" y="8614"/>
                </a:lnTo>
                <a:lnTo>
                  <a:pt x="12166" y="8736"/>
                </a:lnTo>
                <a:lnTo>
                  <a:pt x="12288" y="8736"/>
                </a:lnTo>
                <a:lnTo>
                  <a:pt x="12337" y="8712"/>
                </a:lnTo>
                <a:lnTo>
                  <a:pt x="12361" y="8639"/>
                </a:lnTo>
                <a:lnTo>
                  <a:pt x="12361" y="8566"/>
                </a:lnTo>
                <a:lnTo>
                  <a:pt x="12337" y="8493"/>
                </a:lnTo>
                <a:lnTo>
                  <a:pt x="12118" y="8322"/>
                </a:lnTo>
                <a:lnTo>
                  <a:pt x="11899" y="8152"/>
                </a:lnTo>
                <a:lnTo>
                  <a:pt x="11461" y="7811"/>
                </a:lnTo>
                <a:lnTo>
                  <a:pt x="11291" y="7690"/>
                </a:lnTo>
                <a:lnTo>
                  <a:pt x="11631" y="7373"/>
                </a:lnTo>
                <a:close/>
                <a:moveTo>
                  <a:pt x="10634" y="8371"/>
                </a:moveTo>
                <a:lnTo>
                  <a:pt x="10731" y="8541"/>
                </a:lnTo>
                <a:lnTo>
                  <a:pt x="10853" y="8687"/>
                </a:lnTo>
                <a:lnTo>
                  <a:pt x="10974" y="8809"/>
                </a:lnTo>
                <a:lnTo>
                  <a:pt x="11145" y="8931"/>
                </a:lnTo>
                <a:lnTo>
                  <a:pt x="11461" y="9150"/>
                </a:lnTo>
                <a:lnTo>
                  <a:pt x="11753" y="9369"/>
                </a:lnTo>
                <a:lnTo>
                  <a:pt x="11461" y="9685"/>
                </a:lnTo>
                <a:lnTo>
                  <a:pt x="11145" y="9442"/>
                </a:lnTo>
                <a:lnTo>
                  <a:pt x="10828" y="9198"/>
                </a:lnTo>
                <a:lnTo>
                  <a:pt x="10585" y="8955"/>
                </a:lnTo>
                <a:lnTo>
                  <a:pt x="10463" y="8833"/>
                </a:lnTo>
                <a:lnTo>
                  <a:pt x="10317" y="8736"/>
                </a:lnTo>
                <a:lnTo>
                  <a:pt x="10634" y="8371"/>
                </a:lnTo>
                <a:close/>
                <a:moveTo>
                  <a:pt x="10196" y="8931"/>
                </a:moveTo>
                <a:lnTo>
                  <a:pt x="10269" y="9052"/>
                </a:lnTo>
                <a:lnTo>
                  <a:pt x="10366" y="9198"/>
                </a:lnTo>
                <a:lnTo>
                  <a:pt x="10609" y="9417"/>
                </a:lnTo>
                <a:lnTo>
                  <a:pt x="10901" y="9709"/>
                </a:lnTo>
                <a:lnTo>
                  <a:pt x="11072" y="9831"/>
                </a:lnTo>
                <a:lnTo>
                  <a:pt x="11242" y="9953"/>
                </a:lnTo>
                <a:lnTo>
                  <a:pt x="10415" y="10853"/>
                </a:lnTo>
                <a:lnTo>
                  <a:pt x="10317" y="10707"/>
                </a:lnTo>
                <a:lnTo>
                  <a:pt x="10196" y="10585"/>
                </a:lnTo>
                <a:lnTo>
                  <a:pt x="9904" y="10366"/>
                </a:lnTo>
                <a:lnTo>
                  <a:pt x="9636" y="10172"/>
                </a:lnTo>
                <a:lnTo>
                  <a:pt x="9466" y="10074"/>
                </a:lnTo>
                <a:lnTo>
                  <a:pt x="9320" y="10001"/>
                </a:lnTo>
                <a:lnTo>
                  <a:pt x="9563" y="9709"/>
                </a:lnTo>
                <a:lnTo>
                  <a:pt x="9782" y="9880"/>
                </a:lnTo>
                <a:lnTo>
                  <a:pt x="10001" y="10026"/>
                </a:lnTo>
                <a:lnTo>
                  <a:pt x="10244" y="10245"/>
                </a:lnTo>
                <a:lnTo>
                  <a:pt x="10390" y="10366"/>
                </a:lnTo>
                <a:lnTo>
                  <a:pt x="10536" y="10464"/>
                </a:lnTo>
                <a:lnTo>
                  <a:pt x="10609" y="10488"/>
                </a:lnTo>
                <a:lnTo>
                  <a:pt x="10658" y="10464"/>
                </a:lnTo>
                <a:lnTo>
                  <a:pt x="10731" y="10439"/>
                </a:lnTo>
                <a:lnTo>
                  <a:pt x="10780" y="10391"/>
                </a:lnTo>
                <a:lnTo>
                  <a:pt x="10804" y="10342"/>
                </a:lnTo>
                <a:lnTo>
                  <a:pt x="10828" y="10269"/>
                </a:lnTo>
                <a:lnTo>
                  <a:pt x="10804" y="10220"/>
                </a:lnTo>
                <a:lnTo>
                  <a:pt x="10755" y="10147"/>
                </a:lnTo>
                <a:lnTo>
                  <a:pt x="10220" y="9734"/>
                </a:lnTo>
                <a:lnTo>
                  <a:pt x="10001" y="9563"/>
                </a:lnTo>
                <a:lnTo>
                  <a:pt x="9904" y="9490"/>
                </a:lnTo>
                <a:lnTo>
                  <a:pt x="9782" y="9442"/>
                </a:lnTo>
                <a:lnTo>
                  <a:pt x="10196" y="8931"/>
                </a:lnTo>
                <a:close/>
                <a:moveTo>
                  <a:pt x="9125" y="10245"/>
                </a:moveTo>
                <a:lnTo>
                  <a:pt x="9247" y="10342"/>
                </a:lnTo>
                <a:lnTo>
                  <a:pt x="9368" y="10415"/>
                </a:lnTo>
                <a:lnTo>
                  <a:pt x="9612" y="10585"/>
                </a:lnTo>
                <a:lnTo>
                  <a:pt x="9904" y="10829"/>
                </a:lnTo>
                <a:lnTo>
                  <a:pt x="10050" y="10950"/>
                </a:lnTo>
                <a:lnTo>
                  <a:pt x="10220" y="11048"/>
                </a:lnTo>
                <a:lnTo>
                  <a:pt x="9685" y="11583"/>
                </a:lnTo>
                <a:lnTo>
                  <a:pt x="9685" y="11534"/>
                </a:lnTo>
                <a:lnTo>
                  <a:pt x="9660" y="11437"/>
                </a:lnTo>
                <a:lnTo>
                  <a:pt x="9587" y="11364"/>
                </a:lnTo>
                <a:lnTo>
                  <a:pt x="9417" y="11218"/>
                </a:lnTo>
                <a:lnTo>
                  <a:pt x="9222" y="11023"/>
                </a:lnTo>
                <a:lnTo>
                  <a:pt x="9028" y="10853"/>
                </a:lnTo>
                <a:lnTo>
                  <a:pt x="8906" y="10756"/>
                </a:lnTo>
                <a:lnTo>
                  <a:pt x="8736" y="10683"/>
                </a:lnTo>
                <a:lnTo>
                  <a:pt x="8833" y="10585"/>
                </a:lnTo>
                <a:lnTo>
                  <a:pt x="9125" y="10245"/>
                </a:lnTo>
                <a:close/>
                <a:moveTo>
                  <a:pt x="8468" y="10926"/>
                </a:moveTo>
                <a:lnTo>
                  <a:pt x="8687" y="11096"/>
                </a:lnTo>
                <a:lnTo>
                  <a:pt x="8930" y="11291"/>
                </a:lnTo>
                <a:lnTo>
                  <a:pt x="9052" y="11437"/>
                </a:lnTo>
                <a:lnTo>
                  <a:pt x="9198" y="11583"/>
                </a:lnTo>
                <a:lnTo>
                  <a:pt x="9271" y="11656"/>
                </a:lnTo>
                <a:lnTo>
                  <a:pt x="9344" y="11705"/>
                </a:lnTo>
                <a:lnTo>
                  <a:pt x="9441" y="11753"/>
                </a:lnTo>
                <a:lnTo>
                  <a:pt x="9539" y="11753"/>
                </a:lnTo>
                <a:lnTo>
                  <a:pt x="8468" y="12824"/>
                </a:lnTo>
                <a:lnTo>
                  <a:pt x="8152" y="12532"/>
                </a:lnTo>
                <a:lnTo>
                  <a:pt x="7811" y="12240"/>
                </a:lnTo>
                <a:lnTo>
                  <a:pt x="7470" y="11899"/>
                </a:lnTo>
                <a:lnTo>
                  <a:pt x="7349" y="11826"/>
                </a:lnTo>
                <a:lnTo>
                  <a:pt x="7738" y="11534"/>
                </a:lnTo>
                <a:lnTo>
                  <a:pt x="7860" y="11705"/>
                </a:lnTo>
                <a:lnTo>
                  <a:pt x="8006" y="11875"/>
                </a:lnTo>
                <a:lnTo>
                  <a:pt x="8371" y="12264"/>
                </a:lnTo>
                <a:lnTo>
                  <a:pt x="8517" y="12434"/>
                </a:lnTo>
                <a:lnTo>
                  <a:pt x="8590" y="12483"/>
                </a:lnTo>
                <a:lnTo>
                  <a:pt x="8687" y="12507"/>
                </a:lnTo>
                <a:lnTo>
                  <a:pt x="8736" y="12507"/>
                </a:lnTo>
                <a:lnTo>
                  <a:pt x="8809" y="12483"/>
                </a:lnTo>
                <a:lnTo>
                  <a:pt x="8833" y="12434"/>
                </a:lnTo>
                <a:lnTo>
                  <a:pt x="8857" y="12386"/>
                </a:lnTo>
                <a:lnTo>
                  <a:pt x="8857" y="12289"/>
                </a:lnTo>
                <a:lnTo>
                  <a:pt x="8809" y="12191"/>
                </a:lnTo>
                <a:lnTo>
                  <a:pt x="8760" y="12094"/>
                </a:lnTo>
                <a:lnTo>
                  <a:pt x="8663" y="11997"/>
                </a:lnTo>
                <a:lnTo>
                  <a:pt x="8492" y="11826"/>
                </a:lnTo>
                <a:lnTo>
                  <a:pt x="8322" y="11680"/>
                </a:lnTo>
                <a:lnTo>
                  <a:pt x="8152" y="11510"/>
                </a:lnTo>
                <a:lnTo>
                  <a:pt x="7957" y="11364"/>
                </a:lnTo>
                <a:lnTo>
                  <a:pt x="8468" y="10926"/>
                </a:lnTo>
                <a:close/>
                <a:moveTo>
                  <a:pt x="11047" y="2312"/>
                </a:moveTo>
                <a:lnTo>
                  <a:pt x="11120" y="2434"/>
                </a:lnTo>
                <a:lnTo>
                  <a:pt x="11218" y="2531"/>
                </a:lnTo>
                <a:lnTo>
                  <a:pt x="11437" y="2750"/>
                </a:lnTo>
                <a:lnTo>
                  <a:pt x="11850" y="3213"/>
                </a:lnTo>
                <a:lnTo>
                  <a:pt x="11826" y="3213"/>
                </a:lnTo>
                <a:lnTo>
                  <a:pt x="11193" y="3748"/>
                </a:lnTo>
                <a:lnTo>
                  <a:pt x="10609" y="4283"/>
                </a:lnTo>
                <a:lnTo>
                  <a:pt x="10025" y="4867"/>
                </a:lnTo>
                <a:lnTo>
                  <a:pt x="9490" y="5500"/>
                </a:lnTo>
                <a:lnTo>
                  <a:pt x="9174" y="5865"/>
                </a:lnTo>
                <a:lnTo>
                  <a:pt x="8857" y="6254"/>
                </a:lnTo>
                <a:lnTo>
                  <a:pt x="8517" y="6595"/>
                </a:lnTo>
                <a:lnTo>
                  <a:pt x="8176" y="6935"/>
                </a:lnTo>
                <a:lnTo>
                  <a:pt x="7373" y="7617"/>
                </a:lnTo>
                <a:lnTo>
                  <a:pt x="6984" y="7933"/>
                </a:lnTo>
                <a:lnTo>
                  <a:pt x="6594" y="8274"/>
                </a:lnTo>
                <a:lnTo>
                  <a:pt x="6229" y="8639"/>
                </a:lnTo>
                <a:lnTo>
                  <a:pt x="5864" y="9004"/>
                </a:lnTo>
                <a:lnTo>
                  <a:pt x="5183" y="9782"/>
                </a:lnTo>
                <a:lnTo>
                  <a:pt x="4502" y="10537"/>
                </a:lnTo>
                <a:lnTo>
                  <a:pt x="4137" y="10902"/>
                </a:lnTo>
                <a:lnTo>
                  <a:pt x="3772" y="11242"/>
                </a:lnTo>
                <a:lnTo>
                  <a:pt x="3115" y="11802"/>
                </a:lnTo>
                <a:lnTo>
                  <a:pt x="2799" y="12118"/>
                </a:lnTo>
                <a:lnTo>
                  <a:pt x="2507" y="12434"/>
                </a:lnTo>
                <a:lnTo>
                  <a:pt x="2263" y="12702"/>
                </a:lnTo>
                <a:lnTo>
                  <a:pt x="2166" y="12848"/>
                </a:lnTo>
                <a:lnTo>
                  <a:pt x="2069" y="13018"/>
                </a:lnTo>
                <a:lnTo>
                  <a:pt x="1850" y="12824"/>
                </a:lnTo>
                <a:lnTo>
                  <a:pt x="1460" y="12459"/>
                </a:lnTo>
                <a:lnTo>
                  <a:pt x="1266" y="12264"/>
                </a:lnTo>
                <a:lnTo>
                  <a:pt x="1047" y="12118"/>
                </a:lnTo>
                <a:lnTo>
                  <a:pt x="1047" y="12070"/>
                </a:lnTo>
                <a:lnTo>
                  <a:pt x="1193" y="11997"/>
                </a:lnTo>
                <a:lnTo>
                  <a:pt x="1339" y="11924"/>
                </a:lnTo>
                <a:lnTo>
                  <a:pt x="1460" y="11826"/>
                </a:lnTo>
                <a:lnTo>
                  <a:pt x="1582" y="11705"/>
                </a:lnTo>
                <a:lnTo>
                  <a:pt x="2020" y="11218"/>
                </a:lnTo>
                <a:lnTo>
                  <a:pt x="2385" y="10853"/>
                </a:lnTo>
                <a:lnTo>
                  <a:pt x="2774" y="10537"/>
                </a:lnTo>
                <a:lnTo>
                  <a:pt x="3577" y="9880"/>
                </a:lnTo>
                <a:lnTo>
                  <a:pt x="3942" y="9539"/>
                </a:lnTo>
                <a:lnTo>
                  <a:pt x="4307" y="9198"/>
                </a:lnTo>
                <a:lnTo>
                  <a:pt x="5037" y="8468"/>
                </a:lnTo>
                <a:lnTo>
                  <a:pt x="5718" y="7738"/>
                </a:lnTo>
                <a:lnTo>
                  <a:pt x="6400" y="7008"/>
                </a:lnTo>
                <a:lnTo>
                  <a:pt x="7081" y="6303"/>
                </a:lnTo>
                <a:lnTo>
                  <a:pt x="7787" y="5621"/>
                </a:lnTo>
                <a:lnTo>
                  <a:pt x="8468" y="4940"/>
                </a:lnTo>
                <a:lnTo>
                  <a:pt x="9149" y="4259"/>
                </a:lnTo>
                <a:lnTo>
                  <a:pt x="10074" y="3261"/>
                </a:lnTo>
                <a:lnTo>
                  <a:pt x="10561" y="2775"/>
                </a:lnTo>
                <a:lnTo>
                  <a:pt x="11047" y="2312"/>
                </a:lnTo>
                <a:close/>
                <a:moveTo>
                  <a:pt x="7154" y="11997"/>
                </a:moveTo>
                <a:lnTo>
                  <a:pt x="7203" y="12094"/>
                </a:lnTo>
                <a:lnTo>
                  <a:pt x="7251" y="12167"/>
                </a:lnTo>
                <a:lnTo>
                  <a:pt x="7422" y="12386"/>
                </a:lnTo>
                <a:lnTo>
                  <a:pt x="7592" y="12580"/>
                </a:lnTo>
                <a:lnTo>
                  <a:pt x="7884" y="12872"/>
                </a:lnTo>
                <a:lnTo>
                  <a:pt x="8030" y="12994"/>
                </a:lnTo>
                <a:lnTo>
                  <a:pt x="8200" y="13091"/>
                </a:lnTo>
                <a:lnTo>
                  <a:pt x="7835" y="13481"/>
                </a:lnTo>
                <a:lnTo>
                  <a:pt x="7811" y="13432"/>
                </a:lnTo>
                <a:lnTo>
                  <a:pt x="7787" y="13408"/>
                </a:lnTo>
                <a:lnTo>
                  <a:pt x="7616" y="13262"/>
                </a:lnTo>
                <a:lnTo>
                  <a:pt x="7446" y="13140"/>
                </a:lnTo>
                <a:lnTo>
                  <a:pt x="7251" y="13018"/>
                </a:lnTo>
                <a:lnTo>
                  <a:pt x="7057" y="12872"/>
                </a:lnTo>
                <a:lnTo>
                  <a:pt x="6716" y="12580"/>
                </a:lnTo>
                <a:lnTo>
                  <a:pt x="6643" y="12532"/>
                </a:lnTo>
                <a:lnTo>
                  <a:pt x="6594" y="12507"/>
                </a:lnTo>
                <a:lnTo>
                  <a:pt x="6862" y="12240"/>
                </a:lnTo>
                <a:lnTo>
                  <a:pt x="7154" y="11997"/>
                </a:lnTo>
                <a:close/>
                <a:moveTo>
                  <a:pt x="6424" y="12702"/>
                </a:moveTo>
                <a:lnTo>
                  <a:pt x="6448" y="12775"/>
                </a:lnTo>
                <a:lnTo>
                  <a:pt x="6473" y="12848"/>
                </a:lnTo>
                <a:lnTo>
                  <a:pt x="6667" y="13043"/>
                </a:lnTo>
                <a:lnTo>
                  <a:pt x="6862" y="13213"/>
                </a:lnTo>
                <a:lnTo>
                  <a:pt x="7032" y="13359"/>
                </a:lnTo>
                <a:lnTo>
                  <a:pt x="7227" y="13481"/>
                </a:lnTo>
                <a:lnTo>
                  <a:pt x="7446" y="13602"/>
                </a:lnTo>
                <a:lnTo>
                  <a:pt x="7568" y="13627"/>
                </a:lnTo>
                <a:lnTo>
                  <a:pt x="7689" y="13627"/>
                </a:lnTo>
                <a:lnTo>
                  <a:pt x="7470" y="13846"/>
                </a:lnTo>
                <a:lnTo>
                  <a:pt x="7300" y="14040"/>
                </a:lnTo>
                <a:lnTo>
                  <a:pt x="7276" y="14016"/>
                </a:lnTo>
                <a:lnTo>
                  <a:pt x="6911" y="13797"/>
                </a:lnTo>
                <a:lnTo>
                  <a:pt x="6570" y="13554"/>
                </a:lnTo>
                <a:lnTo>
                  <a:pt x="6302" y="13335"/>
                </a:lnTo>
                <a:lnTo>
                  <a:pt x="6035" y="13164"/>
                </a:lnTo>
                <a:lnTo>
                  <a:pt x="6108" y="13043"/>
                </a:lnTo>
                <a:lnTo>
                  <a:pt x="6424" y="12702"/>
                </a:lnTo>
                <a:close/>
                <a:moveTo>
                  <a:pt x="5889" y="13335"/>
                </a:moveTo>
                <a:lnTo>
                  <a:pt x="5962" y="13456"/>
                </a:lnTo>
                <a:lnTo>
                  <a:pt x="6059" y="13578"/>
                </a:lnTo>
                <a:lnTo>
                  <a:pt x="6278" y="13797"/>
                </a:lnTo>
                <a:lnTo>
                  <a:pt x="6643" y="14089"/>
                </a:lnTo>
                <a:lnTo>
                  <a:pt x="6813" y="14211"/>
                </a:lnTo>
                <a:lnTo>
                  <a:pt x="7032" y="14308"/>
                </a:lnTo>
                <a:lnTo>
                  <a:pt x="6692" y="14673"/>
                </a:lnTo>
                <a:lnTo>
                  <a:pt x="6619" y="14624"/>
                </a:lnTo>
                <a:lnTo>
                  <a:pt x="6497" y="14600"/>
                </a:lnTo>
                <a:lnTo>
                  <a:pt x="6375" y="14527"/>
                </a:lnTo>
                <a:lnTo>
                  <a:pt x="6254" y="14454"/>
                </a:lnTo>
                <a:lnTo>
                  <a:pt x="6132" y="14381"/>
                </a:lnTo>
                <a:lnTo>
                  <a:pt x="5913" y="14186"/>
                </a:lnTo>
                <a:lnTo>
                  <a:pt x="5718" y="14016"/>
                </a:lnTo>
                <a:lnTo>
                  <a:pt x="5597" y="13943"/>
                </a:lnTo>
                <a:lnTo>
                  <a:pt x="5451" y="13846"/>
                </a:lnTo>
                <a:lnTo>
                  <a:pt x="5889" y="13335"/>
                </a:lnTo>
                <a:close/>
                <a:moveTo>
                  <a:pt x="12191" y="3553"/>
                </a:moveTo>
                <a:lnTo>
                  <a:pt x="12653" y="4040"/>
                </a:lnTo>
                <a:lnTo>
                  <a:pt x="13432" y="4916"/>
                </a:lnTo>
                <a:lnTo>
                  <a:pt x="13164" y="5208"/>
                </a:lnTo>
                <a:lnTo>
                  <a:pt x="12896" y="5500"/>
                </a:lnTo>
                <a:lnTo>
                  <a:pt x="12361" y="6108"/>
                </a:lnTo>
                <a:lnTo>
                  <a:pt x="12045" y="6424"/>
                </a:lnTo>
                <a:lnTo>
                  <a:pt x="11729" y="6716"/>
                </a:lnTo>
                <a:lnTo>
                  <a:pt x="11388" y="7008"/>
                </a:lnTo>
                <a:lnTo>
                  <a:pt x="11047" y="7300"/>
                </a:lnTo>
                <a:lnTo>
                  <a:pt x="10731" y="7617"/>
                </a:lnTo>
                <a:lnTo>
                  <a:pt x="10415" y="7957"/>
                </a:lnTo>
                <a:lnTo>
                  <a:pt x="9806" y="8687"/>
                </a:lnTo>
                <a:lnTo>
                  <a:pt x="9247" y="9417"/>
                </a:lnTo>
                <a:lnTo>
                  <a:pt x="8638" y="10147"/>
                </a:lnTo>
                <a:lnTo>
                  <a:pt x="8346" y="10464"/>
                </a:lnTo>
                <a:lnTo>
                  <a:pt x="8006" y="10756"/>
                </a:lnTo>
                <a:lnTo>
                  <a:pt x="7324" y="11340"/>
                </a:lnTo>
                <a:lnTo>
                  <a:pt x="6643" y="11899"/>
                </a:lnTo>
                <a:lnTo>
                  <a:pt x="6302" y="12191"/>
                </a:lnTo>
                <a:lnTo>
                  <a:pt x="6010" y="12532"/>
                </a:lnTo>
                <a:lnTo>
                  <a:pt x="5475" y="13164"/>
                </a:lnTo>
                <a:lnTo>
                  <a:pt x="4940" y="13773"/>
                </a:lnTo>
                <a:lnTo>
                  <a:pt x="4672" y="14016"/>
                </a:lnTo>
                <a:lnTo>
                  <a:pt x="4404" y="14235"/>
                </a:lnTo>
                <a:lnTo>
                  <a:pt x="4137" y="14454"/>
                </a:lnTo>
                <a:lnTo>
                  <a:pt x="4015" y="14600"/>
                </a:lnTo>
                <a:lnTo>
                  <a:pt x="3918" y="14722"/>
                </a:lnTo>
                <a:lnTo>
                  <a:pt x="3480" y="14284"/>
                </a:lnTo>
                <a:lnTo>
                  <a:pt x="3042" y="13846"/>
                </a:lnTo>
                <a:lnTo>
                  <a:pt x="2361" y="13262"/>
                </a:lnTo>
                <a:lnTo>
                  <a:pt x="2482" y="13164"/>
                </a:lnTo>
                <a:lnTo>
                  <a:pt x="2604" y="13043"/>
                </a:lnTo>
                <a:lnTo>
                  <a:pt x="2774" y="12799"/>
                </a:lnTo>
                <a:lnTo>
                  <a:pt x="3066" y="12507"/>
                </a:lnTo>
                <a:lnTo>
                  <a:pt x="3358" y="12216"/>
                </a:lnTo>
                <a:lnTo>
                  <a:pt x="3967" y="11680"/>
                </a:lnTo>
                <a:lnTo>
                  <a:pt x="4380" y="11315"/>
                </a:lnTo>
                <a:lnTo>
                  <a:pt x="4745" y="10950"/>
                </a:lnTo>
                <a:lnTo>
                  <a:pt x="5475" y="10172"/>
                </a:lnTo>
                <a:lnTo>
                  <a:pt x="6181" y="9393"/>
                </a:lnTo>
                <a:lnTo>
                  <a:pt x="6546" y="9004"/>
                </a:lnTo>
                <a:lnTo>
                  <a:pt x="6935" y="8614"/>
                </a:lnTo>
                <a:lnTo>
                  <a:pt x="7324" y="8274"/>
                </a:lnTo>
                <a:lnTo>
                  <a:pt x="7714" y="7933"/>
                </a:lnTo>
                <a:lnTo>
                  <a:pt x="8517" y="7276"/>
                </a:lnTo>
                <a:lnTo>
                  <a:pt x="8857" y="6935"/>
                </a:lnTo>
                <a:lnTo>
                  <a:pt x="9198" y="6595"/>
                </a:lnTo>
                <a:lnTo>
                  <a:pt x="9514" y="6205"/>
                </a:lnTo>
                <a:lnTo>
                  <a:pt x="9831" y="5840"/>
                </a:lnTo>
                <a:lnTo>
                  <a:pt x="10171" y="5427"/>
                </a:lnTo>
                <a:lnTo>
                  <a:pt x="10488" y="5062"/>
                </a:lnTo>
                <a:lnTo>
                  <a:pt x="10853" y="4697"/>
                </a:lnTo>
                <a:lnTo>
                  <a:pt x="11242" y="4356"/>
                </a:lnTo>
                <a:lnTo>
                  <a:pt x="11729" y="3967"/>
                </a:lnTo>
                <a:lnTo>
                  <a:pt x="11972" y="3772"/>
                </a:lnTo>
                <a:lnTo>
                  <a:pt x="12191" y="3553"/>
                </a:lnTo>
                <a:close/>
                <a:moveTo>
                  <a:pt x="5232" y="14065"/>
                </a:moveTo>
                <a:lnTo>
                  <a:pt x="5353" y="14186"/>
                </a:lnTo>
                <a:lnTo>
                  <a:pt x="5451" y="14308"/>
                </a:lnTo>
                <a:lnTo>
                  <a:pt x="5645" y="14454"/>
                </a:lnTo>
                <a:lnTo>
                  <a:pt x="5816" y="14624"/>
                </a:lnTo>
                <a:lnTo>
                  <a:pt x="5986" y="14770"/>
                </a:lnTo>
                <a:lnTo>
                  <a:pt x="6181" y="14892"/>
                </a:lnTo>
                <a:lnTo>
                  <a:pt x="6375" y="14989"/>
                </a:lnTo>
                <a:lnTo>
                  <a:pt x="6108" y="15281"/>
                </a:lnTo>
                <a:lnTo>
                  <a:pt x="5937" y="15452"/>
                </a:lnTo>
                <a:lnTo>
                  <a:pt x="5937" y="15403"/>
                </a:lnTo>
                <a:lnTo>
                  <a:pt x="5889" y="15354"/>
                </a:lnTo>
                <a:lnTo>
                  <a:pt x="5597" y="15038"/>
                </a:lnTo>
                <a:lnTo>
                  <a:pt x="5280" y="14746"/>
                </a:lnTo>
                <a:lnTo>
                  <a:pt x="5086" y="14576"/>
                </a:lnTo>
                <a:lnTo>
                  <a:pt x="4964" y="14503"/>
                </a:lnTo>
                <a:lnTo>
                  <a:pt x="4867" y="14430"/>
                </a:lnTo>
                <a:lnTo>
                  <a:pt x="5037" y="14284"/>
                </a:lnTo>
                <a:lnTo>
                  <a:pt x="5232" y="14065"/>
                </a:lnTo>
                <a:close/>
                <a:moveTo>
                  <a:pt x="852" y="15476"/>
                </a:moveTo>
                <a:lnTo>
                  <a:pt x="974" y="15598"/>
                </a:lnTo>
                <a:lnTo>
                  <a:pt x="1412" y="16036"/>
                </a:lnTo>
                <a:lnTo>
                  <a:pt x="1363" y="16011"/>
                </a:lnTo>
                <a:lnTo>
                  <a:pt x="1290" y="15987"/>
                </a:lnTo>
                <a:lnTo>
                  <a:pt x="852" y="15476"/>
                </a:lnTo>
                <a:close/>
                <a:moveTo>
                  <a:pt x="4575" y="14673"/>
                </a:moveTo>
                <a:lnTo>
                  <a:pt x="4696" y="14795"/>
                </a:lnTo>
                <a:lnTo>
                  <a:pt x="4818" y="14892"/>
                </a:lnTo>
                <a:lnTo>
                  <a:pt x="5037" y="15087"/>
                </a:lnTo>
                <a:lnTo>
                  <a:pt x="5329" y="15354"/>
                </a:lnTo>
                <a:lnTo>
                  <a:pt x="5597" y="15622"/>
                </a:lnTo>
                <a:lnTo>
                  <a:pt x="5670" y="15671"/>
                </a:lnTo>
                <a:lnTo>
                  <a:pt x="5718" y="15671"/>
                </a:lnTo>
                <a:lnTo>
                  <a:pt x="5378" y="15987"/>
                </a:lnTo>
                <a:lnTo>
                  <a:pt x="5232" y="16109"/>
                </a:lnTo>
                <a:lnTo>
                  <a:pt x="5183" y="16060"/>
                </a:lnTo>
                <a:lnTo>
                  <a:pt x="5110" y="16036"/>
                </a:lnTo>
                <a:lnTo>
                  <a:pt x="4088" y="14916"/>
                </a:lnTo>
                <a:lnTo>
                  <a:pt x="4210" y="14868"/>
                </a:lnTo>
                <a:lnTo>
                  <a:pt x="4331" y="14819"/>
                </a:lnTo>
                <a:lnTo>
                  <a:pt x="4453" y="14746"/>
                </a:lnTo>
                <a:lnTo>
                  <a:pt x="4575" y="14673"/>
                </a:lnTo>
                <a:close/>
                <a:moveTo>
                  <a:pt x="755" y="16230"/>
                </a:moveTo>
                <a:lnTo>
                  <a:pt x="1071" y="16498"/>
                </a:lnTo>
                <a:lnTo>
                  <a:pt x="1071" y="16522"/>
                </a:lnTo>
                <a:lnTo>
                  <a:pt x="998" y="16474"/>
                </a:lnTo>
                <a:lnTo>
                  <a:pt x="925" y="16449"/>
                </a:lnTo>
                <a:lnTo>
                  <a:pt x="852" y="16376"/>
                </a:lnTo>
                <a:lnTo>
                  <a:pt x="755" y="16230"/>
                </a:lnTo>
                <a:close/>
                <a:moveTo>
                  <a:pt x="1047" y="12532"/>
                </a:moveTo>
                <a:lnTo>
                  <a:pt x="1168" y="12678"/>
                </a:lnTo>
                <a:lnTo>
                  <a:pt x="1314" y="12824"/>
                </a:lnTo>
                <a:lnTo>
                  <a:pt x="1582" y="13067"/>
                </a:lnTo>
                <a:lnTo>
                  <a:pt x="2166" y="13602"/>
                </a:lnTo>
                <a:lnTo>
                  <a:pt x="2750" y="14113"/>
                </a:lnTo>
                <a:lnTo>
                  <a:pt x="3018" y="14357"/>
                </a:lnTo>
                <a:lnTo>
                  <a:pt x="3261" y="14600"/>
                </a:lnTo>
                <a:lnTo>
                  <a:pt x="3723" y="15135"/>
                </a:lnTo>
                <a:lnTo>
                  <a:pt x="4185" y="15646"/>
                </a:lnTo>
                <a:lnTo>
                  <a:pt x="4672" y="16157"/>
                </a:lnTo>
                <a:lnTo>
                  <a:pt x="4404" y="16230"/>
                </a:lnTo>
                <a:lnTo>
                  <a:pt x="4112" y="16303"/>
                </a:lnTo>
                <a:lnTo>
                  <a:pt x="3553" y="16376"/>
                </a:lnTo>
                <a:lnTo>
                  <a:pt x="2969" y="16425"/>
                </a:lnTo>
                <a:lnTo>
                  <a:pt x="2409" y="16498"/>
                </a:lnTo>
                <a:lnTo>
                  <a:pt x="2288" y="16522"/>
                </a:lnTo>
                <a:lnTo>
                  <a:pt x="2263" y="16474"/>
                </a:lnTo>
                <a:lnTo>
                  <a:pt x="2142" y="16230"/>
                </a:lnTo>
                <a:lnTo>
                  <a:pt x="1996" y="16011"/>
                </a:lnTo>
                <a:lnTo>
                  <a:pt x="1801" y="15792"/>
                </a:lnTo>
                <a:lnTo>
                  <a:pt x="1606" y="15598"/>
                </a:lnTo>
                <a:lnTo>
                  <a:pt x="1168" y="15233"/>
                </a:lnTo>
                <a:lnTo>
                  <a:pt x="730" y="14892"/>
                </a:lnTo>
                <a:lnTo>
                  <a:pt x="779" y="14600"/>
                </a:lnTo>
                <a:lnTo>
                  <a:pt x="925" y="13262"/>
                </a:lnTo>
                <a:lnTo>
                  <a:pt x="1047" y="12532"/>
                </a:lnTo>
                <a:close/>
                <a:moveTo>
                  <a:pt x="1436" y="16644"/>
                </a:moveTo>
                <a:lnTo>
                  <a:pt x="1533" y="16717"/>
                </a:lnTo>
                <a:lnTo>
                  <a:pt x="1387" y="16741"/>
                </a:lnTo>
                <a:lnTo>
                  <a:pt x="1436" y="16644"/>
                </a:lnTo>
                <a:close/>
                <a:moveTo>
                  <a:pt x="536" y="16741"/>
                </a:moveTo>
                <a:lnTo>
                  <a:pt x="584" y="16766"/>
                </a:lnTo>
                <a:lnTo>
                  <a:pt x="609" y="16766"/>
                </a:lnTo>
                <a:lnTo>
                  <a:pt x="682" y="16814"/>
                </a:lnTo>
                <a:lnTo>
                  <a:pt x="779" y="16839"/>
                </a:lnTo>
                <a:lnTo>
                  <a:pt x="876" y="16839"/>
                </a:lnTo>
                <a:lnTo>
                  <a:pt x="974" y="16814"/>
                </a:lnTo>
                <a:lnTo>
                  <a:pt x="974" y="16839"/>
                </a:lnTo>
                <a:lnTo>
                  <a:pt x="755" y="16887"/>
                </a:lnTo>
                <a:lnTo>
                  <a:pt x="511" y="16936"/>
                </a:lnTo>
                <a:lnTo>
                  <a:pt x="536" y="16741"/>
                </a:lnTo>
                <a:close/>
                <a:moveTo>
                  <a:pt x="13967" y="1"/>
                </a:moveTo>
                <a:lnTo>
                  <a:pt x="13602" y="25"/>
                </a:lnTo>
                <a:lnTo>
                  <a:pt x="13261" y="74"/>
                </a:lnTo>
                <a:lnTo>
                  <a:pt x="12945" y="195"/>
                </a:lnTo>
                <a:lnTo>
                  <a:pt x="12629" y="341"/>
                </a:lnTo>
                <a:lnTo>
                  <a:pt x="12337" y="560"/>
                </a:lnTo>
                <a:lnTo>
                  <a:pt x="12021" y="828"/>
                </a:lnTo>
                <a:lnTo>
                  <a:pt x="11875" y="974"/>
                </a:lnTo>
                <a:lnTo>
                  <a:pt x="11826" y="1071"/>
                </a:lnTo>
                <a:lnTo>
                  <a:pt x="11777" y="1169"/>
                </a:lnTo>
                <a:lnTo>
                  <a:pt x="11704" y="1193"/>
                </a:lnTo>
                <a:lnTo>
                  <a:pt x="11339" y="1485"/>
                </a:lnTo>
                <a:lnTo>
                  <a:pt x="10999" y="1777"/>
                </a:lnTo>
                <a:lnTo>
                  <a:pt x="10317" y="2385"/>
                </a:lnTo>
                <a:lnTo>
                  <a:pt x="9685" y="3042"/>
                </a:lnTo>
                <a:lnTo>
                  <a:pt x="9052" y="3699"/>
                </a:lnTo>
                <a:lnTo>
                  <a:pt x="8395" y="4405"/>
                </a:lnTo>
                <a:lnTo>
                  <a:pt x="7714" y="5086"/>
                </a:lnTo>
                <a:lnTo>
                  <a:pt x="7032" y="5743"/>
                </a:lnTo>
                <a:lnTo>
                  <a:pt x="6351" y="6449"/>
                </a:lnTo>
                <a:lnTo>
                  <a:pt x="4964" y="7933"/>
                </a:lnTo>
                <a:lnTo>
                  <a:pt x="4258" y="8663"/>
                </a:lnTo>
                <a:lnTo>
                  <a:pt x="3894" y="9004"/>
                </a:lnTo>
                <a:lnTo>
                  <a:pt x="3529" y="9344"/>
                </a:lnTo>
                <a:lnTo>
                  <a:pt x="2190" y="10537"/>
                </a:lnTo>
                <a:lnTo>
                  <a:pt x="1558" y="11145"/>
                </a:lnTo>
                <a:lnTo>
                  <a:pt x="925" y="11778"/>
                </a:lnTo>
                <a:lnTo>
                  <a:pt x="876" y="11753"/>
                </a:lnTo>
                <a:lnTo>
                  <a:pt x="803" y="11778"/>
                </a:lnTo>
                <a:lnTo>
                  <a:pt x="755" y="11802"/>
                </a:lnTo>
                <a:lnTo>
                  <a:pt x="706" y="11851"/>
                </a:lnTo>
                <a:lnTo>
                  <a:pt x="609" y="12118"/>
                </a:lnTo>
                <a:lnTo>
                  <a:pt x="511" y="12386"/>
                </a:lnTo>
                <a:lnTo>
                  <a:pt x="463" y="12702"/>
                </a:lnTo>
                <a:lnTo>
                  <a:pt x="414" y="12994"/>
                </a:lnTo>
                <a:lnTo>
                  <a:pt x="365" y="13627"/>
                </a:lnTo>
                <a:lnTo>
                  <a:pt x="292" y="14211"/>
                </a:lnTo>
                <a:lnTo>
                  <a:pt x="98" y="15646"/>
                </a:lnTo>
                <a:lnTo>
                  <a:pt x="25" y="16376"/>
                </a:lnTo>
                <a:lnTo>
                  <a:pt x="0" y="16717"/>
                </a:lnTo>
                <a:lnTo>
                  <a:pt x="0" y="17082"/>
                </a:lnTo>
                <a:lnTo>
                  <a:pt x="0" y="17155"/>
                </a:lnTo>
                <a:lnTo>
                  <a:pt x="25" y="17204"/>
                </a:lnTo>
                <a:lnTo>
                  <a:pt x="122" y="17277"/>
                </a:lnTo>
                <a:lnTo>
                  <a:pt x="219" y="17325"/>
                </a:lnTo>
                <a:lnTo>
                  <a:pt x="341" y="17325"/>
                </a:lnTo>
                <a:lnTo>
                  <a:pt x="438" y="17350"/>
                </a:lnTo>
                <a:lnTo>
                  <a:pt x="560" y="17374"/>
                </a:lnTo>
                <a:lnTo>
                  <a:pt x="803" y="17398"/>
                </a:lnTo>
                <a:lnTo>
                  <a:pt x="1047" y="17350"/>
                </a:lnTo>
                <a:lnTo>
                  <a:pt x="1339" y="17301"/>
                </a:lnTo>
                <a:lnTo>
                  <a:pt x="1874" y="17131"/>
                </a:lnTo>
                <a:lnTo>
                  <a:pt x="2312" y="17009"/>
                </a:lnTo>
                <a:lnTo>
                  <a:pt x="2677" y="16936"/>
                </a:lnTo>
                <a:lnTo>
                  <a:pt x="3018" y="16887"/>
                </a:lnTo>
                <a:lnTo>
                  <a:pt x="3723" y="16839"/>
                </a:lnTo>
                <a:lnTo>
                  <a:pt x="4088" y="16790"/>
                </a:lnTo>
                <a:lnTo>
                  <a:pt x="4429" y="16741"/>
                </a:lnTo>
                <a:lnTo>
                  <a:pt x="4769" y="16644"/>
                </a:lnTo>
                <a:lnTo>
                  <a:pt x="5110" y="16522"/>
                </a:lnTo>
                <a:lnTo>
                  <a:pt x="5159" y="16498"/>
                </a:lnTo>
                <a:lnTo>
                  <a:pt x="5207" y="16449"/>
                </a:lnTo>
                <a:lnTo>
                  <a:pt x="5353" y="16401"/>
                </a:lnTo>
                <a:lnTo>
                  <a:pt x="5499" y="16328"/>
                </a:lnTo>
                <a:lnTo>
                  <a:pt x="5645" y="16255"/>
                </a:lnTo>
                <a:lnTo>
                  <a:pt x="5791" y="16133"/>
                </a:lnTo>
                <a:lnTo>
                  <a:pt x="6035" y="15890"/>
                </a:lnTo>
                <a:lnTo>
                  <a:pt x="6254" y="15671"/>
                </a:lnTo>
                <a:lnTo>
                  <a:pt x="6959" y="14965"/>
                </a:lnTo>
                <a:lnTo>
                  <a:pt x="7641" y="14284"/>
                </a:lnTo>
                <a:lnTo>
                  <a:pt x="9101" y="12824"/>
                </a:lnTo>
                <a:lnTo>
                  <a:pt x="10536" y="11364"/>
                </a:lnTo>
                <a:lnTo>
                  <a:pt x="11218" y="10658"/>
                </a:lnTo>
                <a:lnTo>
                  <a:pt x="11875" y="9904"/>
                </a:lnTo>
                <a:lnTo>
                  <a:pt x="12531" y="9174"/>
                </a:lnTo>
                <a:lnTo>
                  <a:pt x="13213" y="8444"/>
                </a:lnTo>
                <a:lnTo>
                  <a:pt x="13870" y="7811"/>
                </a:lnTo>
                <a:lnTo>
                  <a:pt x="14527" y="7179"/>
                </a:lnTo>
                <a:lnTo>
                  <a:pt x="15184" y="6522"/>
                </a:lnTo>
                <a:lnTo>
                  <a:pt x="15500" y="6205"/>
                </a:lnTo>
                <a:lnTo>
                  <a:pt x="15816" y="5840"/>
                </a:lnTo>
                <a:lnTo>
                  <a:pt x="15889" y="5792"/>
                </a:lnTo>
                <a:lnTo>
                  <a:pt x="15987" y="5767"/>
                </a:lnTo>
                <a:lnTo>
                  <a:pt x="16060" y="5694"/>
                </a:lnTo>
                <a:lnTo>
                  <a:pt x="16108" y="5621"/>
                </a:lnTo>
                <a:lnTo>
                  <a:pt x="16133" y="5524"/>
                </a:lnTo>
                <a:lnTo>
                  <a:pt x="16376" y="5208"/>
                </a:lnTo>
                <a:lnTo>
                  <a:pt x="16595" y="4891"/>
                </a:lnTo>
                <a:lnTo>
                  <a:pt x="16814" y="4551"/>
                </a:lnTo>
                <a:lnTo>
                  <a:pt x="16984" y="4210"/>
                </a:lnTo>
                <a:lnTo>
                  <a:pt x="17106" y="3845"/>
                </a:lnTo>
                <a:lnTo>
                  <a:pt x="17203" y="3480"/>
                </a:lnTo>
                <a:lnTo>
                  <a:pt x="17228" y="3140"/>
                </a:lnTo>
                <a:lnTo>
                  <a:pt x="17203" y="2799"/>
                </a:lnTo>
                <a:lnTo>
                  <a:pt x="17130" y="2458"/>
                </a:lnTo>
                <a:lnTo>
                  <a:pt x="17009" y="2142"/>
                </a:lnTo>
                <a:lnTo>
                  <a:pt x="16863" y="1826"/>
                </a:lnTo>
                <a:lnTo>
                  <a:pt x="16668" y="1534"/>
                </a:lnTo>
                <a:lnTo>
                  <a:pt x="16449" y="1266"/>
                </a:lnTo>
                <a:lnTo>
                  <a:pt x="16230" y="998"/>
                </a:lnTo>
                <a:lnTo>
                  <a:pt x="15962" y="779"/>
                </a:lnTo>
                <a:lnTo>
                  <a:pt x="15670" y="560"/>
                </a:lnTo>
                <a:lnTo>
                  <a:pt x="15354" y="390"/>
                </a:lnTo>
                <a:lnTo>
                  <a:pt x="15013" y="244"/>
                </a:lnTo>
                <a:lnTo>
                  <a:pt x="14673" y="122"/>
                </a:lnTo>
                <a:lnTo>
                  <a:pt x="14332" y="49"/>
                </a:lnTo>
                <a:lnTo>
                  <a:pt x="1396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17"/>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12</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1063680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body" idx="1"/>
          </p:nvPr>
        </p:nvSpPr>
        <p:spPr>
          <a:xfrm>
            <a:off x="1413600" y="3197139"/>
            <a:ext cx="6316800" cy="1832061"/>
          </a:xfrm>
          <a:prstGeom prst="rect">
            <a:avLst/>
          </a:prstGeom>
        </p:spPr>
        <p:txBody>
          <a:bodyPr spcFirstLastPara="1" wrap="square" lIns="91425" tIns="91425" rIns="91425" bIns="91425" anchor="t" anchorCtr="0">
            <a:noAutofit/>
          </a:bodyPr>
          <a:lstStyle/>
          <a:p>
            <a:pPr marL="0" lvl="0" indent="0">
              <a:buNone/>
            </a:pPr>
            <a:r>
              <a:rPr lang="hu-HU" sz="2000" dirty="0"/>
              <a:t>Egy osztály erős kohéziós erővel bír, ha a rendszer egy olyan tulajdonságát valósítja meg, amelynek egyéb osztályokkal nincs vagy kevés a kapcsolata.</a:t>
            </a:r>
          </a:p>
        </p:txBody>
      </p:sp>
      <p:sp>
        <p:nvSpPr>
          <p:cNvPr id="104" name="Google Shape;104;p15"/>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13</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2648744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KOHÉZIÓ MÉRÉSE/LCOM1</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Lack</a:t>
            </a:r>
            <a:r>
              <a:rPr lang="hu-HU" dirty="0"/>
              <a:t> of </a:t>
            </a:r>
            <a:r>
              <a:rPr lang="hu-HU" dirty="0" err="1"/>
              <a:t>Cohesion</a:t>
            </a:r>
            <a:r>
              <a:rPr lang="hu-HU" dirty="0"/>
              <a:t> in </a:t>
            </a:r>
            <a:r>
              <a:rPr lang="hu-HU" dirty="0" err="1"/>
              <a:t>Methods</a:t>
            </a:r>
            <a:endParaRPr lang="hu-HU" dirty="0"/>
          </a:p>
          <a:p>
            <a:pPr lvl="1" indent="-419100">
              <a:spcBef>
                <a:spcPts val="600"/>
              </a:spcBef>
              <a:buSzPts val="3000"/>
              <a:buChar char="▪"/>
            </a:pPr>
            <a:r>
              <a:rPr lang="hu-HU" dirty="0"/>
              <a:t>LCOM1 egy osztály azon metóduspárainak a száma, amelyek nem hivatkoznak ugyanarra az attribútumra</a:t>
            </a:r>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75B16B56-5414-4797-9B3D-EB7A1B5DD793}"/>
              </a:ext>
            </a:extLst>
          </p:cNvPr>
          <p:cNvPicPr>
            <a:picLocks noChangeAspect="1"/>
          </p:cNvPicPr>
          <p:nvPr/>
        </p:nvPicPr>
        <p:blipFill>
          <a:blip r:embed="rId3"/>
          <a:stretch>
            <a:fillRect/>
          </a:stretch>
        </p:blipFill>
        <p:spPr>
          <a:xfrm>
            <a:off x="509975" y="3925950"/>
            <a:ext cx="3419475" cy="2076450"/>
          </a:xfrm>
          <a:prstGeom prst="rect">
            <a:avLst/>
          </a:prstGeom>
        </p:spPr>
      </p:pic>
      <p:sp>
        <p:nvSpPr>
          <p:cNvPr id="4" name="Szövegdoboz 3">
            <a:extLst>
              <a:ext uri="{FF2B5EF4-FFF2-40B4-BE49-F238E27FC236}">
                <a16:creationId xmlns:a16="http://schemas.microsoft.com/office/drawing/2014/main" id="{8BAF09A2-CEE1-4A12-B9E1-465DA5D8502F}"/>
              </a:ext>
            </a:extLst>
          </p:cNvPr>
          <p:cNvSpPr txBox="1"/>
          <p:nvPr/>
        </p:nvSpPr>
        <p:spPr>
          <a:xfrm>
            <a:off x="4897821" y="3563593"/>
            <a:ext cx="3736109" cy="1785104"/>
          </a:xfrm>
          <a:prstGeom prst="rect">
            <a:avLst/>
          </a:prstGeom>
          <a:noFill/>
        </p:spPr>
        <p:txBody>
          <a:bodyPr wrap="square" rtlCol="0">
            <a:spAutoFit/>
          </a:bodyPr>
          <a:lstStyle/>
          <a:p>
            <a:pPr lvl="0"/>
            <a:r>
              <a:rPr lang="pt-BR" dirty="0"/>
              <a:t> </a:t>
            </a:r>
            <a:r>
              <a:rPr lang="pt-BR" sz="2400" dirty="0">
                <a:solidFill>
                  <a:srgbClr val="FFFFFF"/>
                </a:solidFill>
                <a:latin typeface="Cousine"/>
                <a:cs typeface="Cousine"/>
                <a:sym typeface="Cousine"/>
              </a:rPr>
              <a:t>LCOM1 = 7</a:t>
            </a:r>
          </a:p>
          <a:p>
            <a:pPr lvl="0"/>
            <a:endParaRPr lang="pt-BR" sz="1800" dirty="0">
              <a:solidFill>
                <a:srgbClr val="FFFFFF"/>
              </a:solidFill>
              <a:latin typeface="Cousine"/>
              <a:cs typeface="Cousine"/>
              <a:sym typeface="Cousine"/>
            </a:endParaRPr>
          </a:p>
          <a:p>
            <a:pPr lvl="0"/>
            <a:r>
              <a:rPr lang="pt-BR" sz="1800" dirty="0">
                <a:solidFill>
                  <a:srgbClr val="FFFFFF"/>
                </a:solidFill>
                <a:latin typeface="Cousine"/>
                <a:cs typeface="Cousine"/>
                <a:sym typeface="Cousine"/>
              </a:rPr>
              <a:t>(m1,m3), (m1,m4), (m2,m4), (m5,m1), (m5,m2), (m5,m3), (m5,m4)</a:t>
            </a:r>
          </a:p>
          <a:p>
            <a:endParaRPr lang="hu-HU" dirty="0"/>
          </a:p>
        </p:txBody>
      </p:sp>
    </p:spTree>
    <p:extLst>
      <p:ext uri="{BB962C8B-B14F-4D97-AF65-F5344CB8AC3E}">
        <p14:creationId xmlns:p14="http://schemas.microsoft.com/office/powerpoint/2010/main" val="255052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KOHÉZIÓ MÉRÉSE/LCOM</a:t>
            </a:r>
            <a:r>
              <a:rPr lang="en-US" dirty="0"/>
              <a:t>2</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Lack</a:t>
            </a:r>
            <a:r>
              <a:rPr lang="hu-HU" dirty="0"/>
              <a:t> of </a:t>
            </a:r>
            <a:r>
              <a:rPr lang="hu-HU" dirty="0" err="1"/>
              <a:t>Cohesion</a:t>
            </a:r>
            <a:r>
              <a:rPr lang="hu-HU" dirty="0"/>
              <a:t> in </a:t>
            </a:r>
            <a:r>
              <a:rPr lang="hu-HU" dirty="0" err="1"/>
              <a:t>Methods</a:t>
            </a:r>
            <a:endParaRPr lang="hu-HU" dirty="0"/>
          </a:p>
          <a:p>
            <a:pPr lvl="1" indent="-419100">
              <a:spcBef>
                <a:spcPts val="600"/>
              </a:spcBef>
              <a:buSzPts val="3000"/>
              <a:buChar char="▪"/>
            </a:pPr>
            <a:r>
              <a:rPr lang="en-US" dirty="0"/>
              <a:t>LCOM2 = P – Q, ha P &gt; Q; 0 e</a:t>
            </a:r>
            <a:r>
              <a:rPr lang="hu-HU" dirty="0" err="1"/>
              <a:t>gyébként</a:t>
            </a:r>
            <a:endParaRPr lang="en-US" dirty="0"/>
          </a:p>
          <a:p>
            <a:pPr lvl="1" indent="-419100">
              <a:spcBef>
                <a:spcPts val="600"/>
              </a:spcBef>
              <a:buSzPts val="3000"/>
              <a:buChar char="▪"/>
            </a:pPr>
            <a:r>
              <a:rPr lang="hu-HU" dirty="0"/>
              <a:t>minden metóduspárra, ha azok az attribútumok független részhalmazát használják, akkor P++, egyébként Q++</a:t>
            </a:r>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15</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75B16B56-5414-4797-9B3D-EB7A1B5DD793}"/>
              </a:ext>
            </a:extLst>
          </p:cNvPr>
          <p:cNvPicPr>
            <a:picLocks noChangeAspect="1"/>
          </p:cNvPicPr>
          <p:nvPr/>
        </p:nvPicPr>
        <p:blipFill>
          <a:blip r:embed="rId3"/>
          <a:stretch>
            <a:fillRect/>
          </a:stretch>
        </p:blipFill>
        <p:spPr>
          <a:xfrm>
            <a:off x="509975" y="3925950"/>
            <a:ext cx="3419475" cy="2076450"/>
          </a:xfrm>
          <a:prstGeom prst="rect">
            <a:avLst/>
          </a:prstGeom>
        </p:spPr>
      </p:pic>
      <p:sp>
        <p:nvSpPr>
          <p:cNvPr id="6" name="Szövegdoboz 5">
            <a:extLst>
              <a:ext uri="{FF2B5EF4-FFF2-40B4-BE49-F238E27FC236}">
                <a16:creationId xmlns:a16="http://schemas.microsoft.com/office/drawing/2014/main" id="{5CC2E52E-5347-433C-B3DC-C1D29CB96A66}"/>
              </a:ext>
            </a:extLst>
          </p:cNvPr>
          <p:cNvSpPr txBox="1"/>
          <p:nvPr/>
        </p:nvSpPr>
        <p:spPr>
          <a:xfrm>
            <a:off x="4519130" y="3925950"/>
            <a:ext cx="3736109" cy="2015936"/>
          </a:xfrm>
          <a:prstGeom prst="rect">
            <a:avLst/>
          </a:prstGeom>
          <a:noFill/>
        </p:spPr>
        <p:txBody>
          <a:bodyPr wrap="square" rtlCol="0">
            <a:spAutoFit/>
          </a:bodyPr>
          <a:lstStyle/>
          <a:p>
            <a:pPr lvl="0"/>
            <a:r>
              <a:rPr lang="pt-BR" dirty="0"/>
              <a:t> </a:t>
            </a:r>
            <a:r>
              <a:rPr lang="pt-BR" sz="2400" dirty="0">
                <a:solidFill>
                  <a:srgbClr val="FFFFFF"/>
                </a:solidFill>
                <a:latin typeface="Cousine"/>
                <a:cs typeface="Cousine"/>
                <a:sym typeface="Cousine"/>
              </a:rPr>
              <a:t>LCOM</a:t>
            </a:r>
            <a:r>
              <a:rPr lang="hu-HU" sz="2400" dirty="0">
                <a:solidFill>
                  <a:srgbClr val="FFFFFF"/>
                </a:solidFill>
                <a:latin typeface="Cousine"/>
                <a:cs typeface="Cousine"/>
                <a:sym typeface="Cousine"/>
              </a:rPr>
              <a:t>2</a:t>
            </a:r>
            <a:r>
              <a:rPr lang="pt-BR" sz="2400" dirty="0">
                <a:solidFill>
                  <a:srgbClr val="FFFFFF"/>
                </a:solidFill>
                <a:latin typeface="Cousine"/>
                <a:cs typeface="Cousine"/>
                <a:sym typeface="Cousine"/>
              </a:rPr>
              <a:t> = </a:t>
            </a:r>
            <a:r>
              <a:rPr lang="hu-HU" sz="2400" dirty="0">
                <a:solidFill>
                  <a:srgbClr val="FFFFFF"/>
                </a:solidFill>
                <a:latin typeface="Cousine"/>
                <a:cs typeface="Cousine"/>
                <a:sym typeface="Cousine"/>
              </a:rPr>
              <a:t>4</a:t>
            </a:r>
            <a:endParaRPr lang="pt-BR" sz="2400" dirty="0">
              <a:solidFill>
                <a:srgbClr val="FFFFFF"/>
              </a:solidFill>
              <a:latin typeface="Cousine"/>
              <a:cs typeface="Cousine"/>
              <a:sym typeface="Cousine"/>
            </a:endParaRPr>
          </a:p>
          <a:p>
            <a:pPr lvl="0"/>
            <a:r>
              <a:rPr lang="en-US" sz="1800" dirty="0">
                <a:solidFill>
                  <a:srgbClr val="FFFFFF"/>
                </a:solidFill>
                <a:latin typeface="Cousine"/>
                <a:cs typeface="Cousine"/>
                <a:sym typeface="Cousine"/>
              </a:rPr>
              <a:t>P = 7</a:t>
            </a:r>
            <a:r>
              <a:rPr lang="hu-HU" sz="1800" dirty="0">
                <a:solidFill>
                  <a:srgbClr val="FFFFFF"/>
                </a:solidFill>
                <a:latin typeface="Cousine"/>
                <a:cs typeface="Cousine"/>
                <a:sym typeface="Cousine"/>
              </a:rPr>
              <a:t>:</a:t>
            </a:r>
            <a:r>
              <a:rPr lang="en-US" sz="1800" dirty="0">
                <a:solidFill>
                  <a:srgbClr val="FFFFFF"/>
                </a:solidFill>
                <a:latin typeface="Cousine"/>
                <a:cs typeface="Cousine"/>
                <a:sym typeface="Cousine"/>
              </a:rPr>
              <a:t> (m1,m3), (m1,m4), (m2,m4), (m5,m1), (m5,m2), (m5,m3), (m5,m4)</a:t>
            </a:r>
          </a:p>
          <a:p>
            <a:pPr lvl="0"/>
            <a:endParaRPr lang="hu-HU" sz="1100" dirty="0"/>
          </a:p>
          <a:p>
            <a:pPr lvl="0"/>
            <a:r>
              <a:rPr lang="hu-HU" sz="1800" dirty="0">
                <a:solidFill>
                  <a:srgbClr val="FFFFFF"/>
                </a:solidFill>
                <a:latin typeface="Cousine"/>
                <a:cs typeface="Cousine"/>
                <a:sym typeface="Cousine"/>
              </a:rPr>
              <a:t>Q </a:t>
            </a:r>
            <a:r>
              <a:rPr lang="en-US" sz="1800" dirty="0">
                <a:solidFill>
                  <a:srgbClr val="FFFFFF"/>
                </a:solidFill>
                <a:latin typeface="Cousine"/>
                <a:cs typeface="Cousine"/>
                <a:sym typeface="Cousine"/>
              </a:rPr>
              <a:t>= 3:</a:t>
            </a:r>
            <a:r>
              <a:rPr lang="hu-HU" sz="1800" dirty="0">
                <a:solidFill>
                  <a:srgbClr val="FFFFFF"/>
                </a:solidFill>
                <a:latin typeface="Cousine"/>
                <a:cs typeface="Cousine"/>
              </a:rPr>
              <a:t>(m1,m2)</a:t>
            </a:r>
            <a:r>
              <a:rPr lang="en-US" sz="1800" dirty="0">
                <a:solidFill>
                  <a:srgbClr val="FFFFFF"/>
                </a:solidFill>
                <a:latin typeface="Cousine"/>
                <a:cs typeface="Cousine"/>
              </a:rPr>
              <a:t>, </a:t>
            </a:r>
            <a:r>
              <a:rPr lang="hu-HU" sz="1800" dirty="0">
                <a:solidFill>
                  <a:srgbClr val="FFFFFF"/>
                </a:solidFill>
                <a:latin typeface="Cousine"/>
                <a:cs typeface="Cousine"/>
              </a:rPr>
              <a:t>(m2,m3), (m3</a:t>
            </a:r>
            <a:r>
              <a:rPr lang="en-US" sz="1800" dirty="0">
                <a:solidFill>
                  <a:srgbClr val="FFFFFF"/>
                </a:solidFill>
                <a:latin typeface="Cousine"/>
                <a:cs typeface="Cousine"/>
              </a:rPr>
              <a:t>,</a:t>
            </a:r>
            <a:r>
              <a:rPr lang="hu-HU" sz="1800" dirty="0">
                <a:solidFill>
                  <a:srgbClr val="FFFFFF"/>
                </a:solidFill>
                <a:latin typeface="Cousine"/>
                <a:cs typeface="Cousine"/>
              </a:rPr>
              <a:t>m4)</a:t>
            </a:r>
            <a:endParaRPr lang="hu-HU" sz="1800" dirty="0">
              <a:solidFill>
                <a:srgbClr val="FFFFFF"/>
              </a:solidFill>
              <a:latin typeface="Cousine"/>
              <a:cs typeface="Cousine"/>
              <a:sym typeface="Cousine"/>
            </a:endParaRPr>
          </a:p>
        </p:txBody>
      </p:sp>
    </p:spTree>
    <p:extLst>
      <p:ext uri="{BB962C8B-B14F-4D97-AF65-F5344CB8AC3E}">
        <p14:creationId xmlns:p14="http://schemas.microsoft.com/office/powerpoint/2010/main" val="405668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KOHÉZIÓ MÉRÉSE/LCOM3 és LCOM4</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Lack</a:t>
            </a:r>
            <a:r>
              <a:rPr lang="hu-HU" dirty="0"/>
              <a:t> of </a:t>
            </a:r>
            <a:r>
              <a:rPr lang="hu-HU" dirty="0" err="1"/>
              <a:t>Cohesion</a:t>
            </a:r>
            <a:r>
              <a:rPr lang="hu-HU" dirty="0"/>
              <a:t> in </a:t>
            </a:r>
            <a:r>
              <a:rPr lang="hu-HU" dirty="0" err="1"/>
              <a:t>Methods</a:t>
            </a:r>
            <a:endParaRPr lang="hu-HU" dirty="0"/>
          </a:p>
          <a:p>
            <a:pPr lvl="1" indent="-419100">
              <a:spcBef>
                <a:spcPts val="600"/>
              </a:spcBef>
              <a:buSzPts val="3000"/>
              <a:buChar char="▪"/>
            </a:pPr>
            <a:r>
              <a:rPr lang="hu-HU" dirty="0"/>
              <a:t>LCOM3 – a gráf összefüggő komponenseinek a száma</a:t>
            </a:r>
          </a:p>
          <a:p>
            <a:pPr lvl="1" indent="-419100">
              <a:spcBef>
                <a:spcPts val="600"/>
              </a:spcBef>
              <a:buSzPts val="3000"/>
              <a:buChar char="▪"/>
            </a:pPr>
            <a:r>
              <a:rPr lang="hu-HU" dirty="0"/>
              <a:t>LCOM4 –</a:t>
            </a:r>
            <a:r>
              <a:rPr lang="en-US" dirty="0"/>
              <a:t> mint LCOM3, de </a:t>
            </a:r>
            <a:r>
              <a:rPr lang="en-US" dirty="0" err="1"/>
              <a:t>akkor</a:t>
            </a:r>
            <a:r>
              <a:rPr lang="en-US" dirty="0"/>
              <a:t> is </a:t>
            </a:r>
            <a:r>
              <a:rPr lang="hu-HU" dirty="0"/>
              <a:t>összefügg, ha az egyik metódus meghívja a másikat</a:t>
            </a:r>
          </a:p>
          <a:p>
            <a:pPr lvl="2" indent="-419100">
              <a:spcBef>
                <a:spcPts val="600"/>
              </a:spcBef>
              <a:buSzPts val="3000"/>
              <a:buChar char="▪"/>
            </a:pPr>
            <a:r>
              <a:rPr lang="hu-HU" dirty="0"/>
              <a:t>LCOM4 </a:t>
            </a:r>
            <a:r>
              <a:rPr lang="en-US" dirty="0"/>
              <a:t>= 1 – j</a:t>
            </a:r>
            <a:r>
              <a:rPr lang="hu-HU" dirty="0"/>
              <a:t>ó kohézió</a:t>
            </a:r>
          </a:p>
          <a:p>
            <a:pPr lvl="2" indent="-419100">
              <a:spcBef>
                <a:spcPts val="600"/>
              </a:spcBef>
              <a:buSzPts val="3000"/>
              <a:buChar char="▪"/>
            </a:pPr>
            <a:r>
              <a:rPr lang="hu-HU" dirty="0"/>
              <a:t>LCOM4 ≥</a:t>
            </a:r>
            <a:r>
              <a:rPr lang="en-US" dirty="0"/>
              <a:t> 2 – </a:t>
            </a:r>
            <a:r>
              <a:rPr lang="en-US" dirty="0" err="1"/>
              <a:t>probl</a:t>
            </a:r>
            <a:r>
              <a:rPr lang="hu-HU" dirty="0" err="1"/>
              <a:t>émát</a:t>
            </a:r>
            <a:r>
              <a:rPr lang="hu-HU" dirty="0"/>
              <a:t> jelez</a:t>
            </a:r>
            <a:r>
              <a:rPr lang="en-US" dirty="0"/>
              <a:t>; </a:t>
            </a:r>
            <a:r>
              <a:rPr lang="hu-HU" dirty="0"/>
              <a:t>az osztály darabokra kell szedni</a:t>
            </a:r>
          </a:p>
          <a:p>
            <a:pPr lvl="2" indent="-419100">
              <a:spcBef>
                <a:spcPts val="600"/>
              </a:spcBef>
              <a:buSzPts val="3000"/>
              <a:buChar char="▪"/>
            </a:pPr>
            <a:r>
              <a:rPr lang="hu-HU" dirty="0"/>
              <a:t>LCOM4 </a:t>
            </a:r>
            <a:r>
              <a:rPr lang="en-US" dirty="0"/>
              <a:t>= 0 – </a:t>
            </a:r>
            <a:r>
              <a:rPr lang="en-US" dirty="0" err="1"/>
              <a:t>nem</a:t>
            </a:r>
            <a:r>
              <a:rPr lang="en-US" dirty="0"/>
              <a:t> volt met</a:t>
            </a:r>
            <a:r>
              <a:rPr lang="hu-HU" dirty="0"/>
              <a:t>ó</a:t>
            </a:r>
            <a:r>
              <a:rPr lang="en-US" dirty="0" err="1"/>
              <a:t>dus</a:t>
            </a:r>
            <a:r>
              <a:rPr lang="en-US" dirty="0"/>
              <a:t> a</a:t>
            </a:r>
            <a:r>
              <a:rPr lang="hu-HU" dirty="0"/>
              <a:t>z</a:t>
            </a:r>
            <a:r>
              <a:rPr lang="en-US" dirty="0"/>
              <a:t> </a:t>
            </a:r>
            <a:r>
              <a:rPr lang="en-US" dirty="0" err="1"/>
              <a:t>os</a:t>
            </a:r>
            <a:r>
              <a:rPr lang="hu-HU" dirty="0" err="1"/>
              <a:t>ztályban</a:t>
            </a:r>
            <a:endParaRPr lang="hu-HU"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16</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82760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KOHÉZIÓ MÉRÉSE/LCOM5, LCOM*</a:t>
            </a:r>
            <a:endParaRPr dirty="0"/>
          </a:p>
        </p:txBody>
      </p:sp>
      <p:sp>
        <p:nvSpPr>
          <p:cNvPr id="110" name="Google Shape;110;p16"/>
          <p:cNvSpPr txBox="1">
            <a:spLocks noGrp="1"/>
          </p:cNvSpPr>
          <p:nvPr>
            <p:ph type="body" idx="1"/>
          </p:nvPr>
        </p:nvSpPr>
        <p:spPr>
          <a:xfrm>
            <a:off x="343225" y="1500000"/>
            <a:ext cx="8290800" cy="3114041"/>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dirty="0" err="1"/>
              <a:t>Lack</a:t>
            </a:r>
            <a:r>
              <a:rPr lang="hu-HU" dirty="0"/>
              <a:t> of </a:t>
            </a:r>
            <a:r>
              <a:rPr lang="hu-HU" dirty="0" err="1"/>
              <a:t>Cohesion</a:t>
            </a:r>
            <a:r>
              <a:rPr lang="hu-HU" dirty="0"/>
              <a:t> in </a:t>
            </a:r>
            <a:r>
              <a:rPr lang="hu-HU" dirty="0" err="1"/>
              <a:t>Methods</a:t>
            </a:r>
            <a:endParaRPr lang="hu-HU" dirty="0"/>
          </a:p>
          <a:p>
            <a:pPr marL="457200" lvl="0" indent="-419100" algn="l" rtl="0">
              <a:spcBef>
                <a:spcPts val="600"/>
              </a:spcBef>
              <a:spcAft>
                <a:spcPts val="0"/>
              </a:spcAft>
              <a:buSzPts val="3000"/>
              <a:buChar char="▪"/>
            </a:pPr>
            <a:endParaRPr lang="hu-HU" dirty="0"/>
          </a:p>
          <a:p>
            <a:pPr marL="38100" lvl="0" indent="0" algn="l" rtl="0">
              <a:spcBef>
                <a:spcPts val="600"/>
              </a:spcBef>
              <a:spcAft>
                <a:spcPts val="0"/>
              </a:spcAft>
              <a:buSzPts val="3000"/>
              <a:buNone/>
            </a:pPr>
            <a:endParaRPr lang="hu-HU" dirty="0"/>
          </a:p>
          <a:p>
            <a:pPr lvl="1" indent="-419100">
              <a:spcBef>
                <a:spcPts val="600"/>
              </a:spcBef>
              <a:buSzPts val="3000"/>
              <a:buChar char="▪"/>
            </a:pPr>
            <a:r>
              <a:rPr lang="hu-HU" dirty="0"/>
              <a:t>NOM – metódusok száma, NOA – </a:t>
            </a:r>
            <a:r>
              <a:rPr lang="hu-HU" dirty="0" err="1"/>
              <a:t>atribútuok</a:t>
            </a:r>
            <a:r>
              <a:rPr lang="hu-HU" dirty="0"/>
              <a:t> száma, </a:t>
            </a:r>
            <a:r>
              <a:rPr lang="hu-HU" dirty="0" err="1"/>
              <a:t>NOAcc</a:t>
            </a:r>
            <a:r>
              <a:rPr lang="hu-HU" dirty="0"/>
              <a:t>(m) – az m-</a:t>
            </a:r>
            <a:r>
              <a:rPr lang="hu-HU" dirty="0" err="1"/>
              <a:t>edik</a:t>
            </a:r>
            <a:r>
              <a:rPr lang="hu-HU" dirty="0"/>
              <a:t> metódus által hivatkozott attribútumok száma</a:t>
            </a:r>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17</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75B16B56-5414-4797-9B3D-EB7A1B5DD793}"/>
              </a:ext>
            </a:extLst>
          </p:cNvPr>
          <p:cNvPicPr>
            <a:picLocks noChangeAspect="1"/>
          </p:cNvPicPr>
          <p:nvPr/>
        </p:nvPicPr>
        <p:blipFill>
          <a:blip r:embed="rId3"/>
          <a:stretch>
            <a:fillRect/>
          </a:stretch>
        </p:blipFill>
        <p:spPr>
          <a:xfrm>
            <a:off x="509975" y="4430447"/>
            <a:ext cx="3419475" cy="2076450"/>
          </a:xfrm>
          <a:prstGeom prst="rect">
            <a:avLst/>
          </a:prstGeom>
        </p:spPr>
      </p:pic>
      <p:pic>
        <p:nvPicPr>
          <p:cNvPr id="5" name="Kép 4">
            <a:extLst>
              <a:ext uri="{FF2B5EF4-FFF2-40B4-BE49-F238E27FC236}">
                <a16:creationId xmlns:a16="http://schemas.microsoft.com/office/drawing/2014/main" id="{1A729E68-7229-4AE5-B1E2-861A1FD40801}"/>
              </a:ext>
            </a:extLst>
          </p:cNvPr>
          <p:cNvPicPr>
            <a:picLocks noChangeAspect="1"/>
          </p:cNvPicPr>
          <p:nvPr/>
        </p:nvPicPr>
        <p:blipFill>
          <a:blip r:embed="rId4"/>
          <a:stretch>
            <a:fillRect/>
          </a:stretch>
        </p:blipFill>
        <p:spPr>
          <a:xfrm>
            <a:off x="1324304" y="2157459"/>
            <a:ext cx="6337737" cy="998730"/>
          </a:xfrm>
          <a:prstGeom prst="rect">
            <a:avLst/>
          </a:prstGeom>
        </p:spPr>
      </p:pic>
      <p:sp>
        <p:nvSpPr>
          <p:cNvPr id="9" name="Google Shape;110;p16">
            <a:extLst>
              <a:ext uri="{FF2B5EF4-FFF2-40B4-BE49-F238E27FC236}">
                <a16:creationId xmlns:a16="http://schemas.microsoft.com/office/drawing/2014/main" id="{5AD621CE-7EDB-463D-BA00-4FFEFC263C79}"/>
              </a:ext>
            </a:extLst>
          </p:cNvPr>
          <p:cNvSpPr txBox="1">
            <a:spLocks/>
          </p:cNvSpPr>
          <p:nvPr/>
        </p:nvSpPr>
        <p:spPr>
          <a:xfrm>
            <a:off x="4572000" y="4395937"/>
            <a:ext cx="4228775" cy="211096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FFFFFF"/>
              </a:buClr>
              <a:buSzPts val="3000"/>
              <a:buFont typeface="Cousine"/>
              <a:buChar char="▪"/>
              <a:defRPr sz="3000" b="0" i="0" u="none" strike="noStrike" cap="none">
                <a:solidFill>
                  <a:srgbClr val="FFFFFF"/>
                </a:solidFill>
                <a:latin typeface="Cousine"/>
                <a:ea typeface="Cousine"/>
                <a:cs typeface="Cousine"/>
                <a:sym typeface="Cousine"/>
              </a:defRPr>
            </a:lvl1pPr>
            <a:lvl2pPr marL="914400" marR="0" lvl="1"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2pPr>
            <a:lvl3pPr marL="1371600" marR="0" lvl="2"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3pPr>
            <a:lvl4pPr marL="1828800" marR="0" lvl="3"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4pPr>
            <a:lvl5pPr marL="2286000" marR="0" lvl="4"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5pPr>
            <a:lvl6pPr marL="2743200" marR="0" lvl="5"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6pPr>
            <a:lvl7pPr marL="3200400" marR="0" lvl="6"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7pPr>
            <a:lvl8pPr marL="3657600" marR="0" lvl="7"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8pPr>
            <a:lvl9pPr marL="4114800" marR="0" lvl="8"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9pPr>
          </a:lstStyle>
          <a:p>
            <a:r>
              <a:rPr lang="en-US" sz="2000" dirty="0"/>
              <a:t>LCOM5 </a:t>
            </a:r>
            <a:r>
              <a:rPr lang="hu-HU" sz="2000" dirty="0"/>
              <a:t>∈</a:t>
            </a:r>
            <a:r>
              <a:rPr lang="en-US" sz="2000" dirty="0"/>
              <a:t> [0,1]</a:t>
            </a:r>
          </a:p>
          <a:p>
            <a:endParaRPr lang="en-US" sz="2000" dirty="0"/>
          </a:p>
          <a:p>
            <a:r>
              <a:rPr lang="en-US" sz="2000" dirty="0"/>
              <a:t>m</a:t>
            </a:r>
            <a:r>
              <a:rPr lang="hu-HU" sz="2000" dirty="0" err="1"/>
              <a:t>intapéldában</a:t>
            </a:r>
            <a:r>
              <a:rPr lang="hu-HU" sz="2000" dirty="0"/>
              <a:t>: LCOM5 </a:t>
            </a:r>
            <a:r>
              <a:rPr lang="en-US" sz="2000" dirty="0"/>
              <a:t>= 3/4</a:t>
            </a:r>
          </a:p>
          <a:p>
            <a:endParaRPr lang="hu-HU" sz="2000" dirty="0"/>
          </a:p>
        </p:txBody>
      </p:sp>
    </p:spTree>
    <p:extLst>
      <p:ext uri="{BB962C8B-B14F-4D97-AF65-F5344CB8AC3E}">
        <p14:creationId xmlns:p14="http://schemas.microsoft.com/office/powerpoint/2010/main" val="19110773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KOHÉZIÓ MÉRÉSE/</a:t>
            </a:r>
            <a:r>
              <a:rPr lang="en-US" dirty="0"/>
              <a:t>TCC </a:t>
            </a:r>
            <a:r>
              <a:rPr lang="hu-HU" dirty="0"/>
              <a:t>és LCC</a:t>
            </a:r>
            <a:endParaRPr dirty="0"/>
          </a:p>
        </p:txBody>
      </p:sp>
      <p:sp>
        <p:nvSpPr>
          <p:cNvPr id="110" name="Google Shape;110;p16"/>
          <p:cNvSpPr txBox="1">
            <a:spLocks noGrp="1"/>
          </p:cNvSpPr>
          <p:nvPr>
            <p:ph type="body" idx="1"/>
          </p:nvPr>
        </p:nvSpPr>
        <p:spPr>
          <a:xfrm>
            <a:off x="343225" y="1500000"/>
            <a:ext cx="8290800" cy="812276"/>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en-US" dirty="0"/>
              <a:t>Tight</a:t>
            </a:r>
            <a:r>
              <a:rPr lang="hu-HU" dirty="0"/>
              <a:t>/</a:t>
            </a:r>
            <a:r>
              <a:rPr lang="hu-HU" dirty="0" err="1"/>
              <a:t>Loose</a:t>
            </a:r>
            <a:r>
              <a:rPr lang="en-US" dirty="0"/>
              <a:t> Class Cohesion</a:t>
            </a:r>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18</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08F8ADDD-D5BF-46F8-B721-4222EC12EA0B}"/>
              </a:ext>
            </a:extLst>
          </p:cNvPr>
          <p:cNvPicPr>
            <a:picLocks noChangeAspect="1"/>
          </p:cNvPicPr>
          <p:nvPr/>
        </p:nvPicPr>
        <p:blipFill>
          <a:blip r:embed="rId3"/>
          <a:stretch>
            <a:fillRect/>
          </a:stretch>
        </p:blipFill>
        <p:spPr>
          <a:xfrm>
            <a:off x="404330" y="2495090"/>
            <a:ext cx="7976270" cy="3646295"/>
          </a:xfrm>
          <a:prstGeom prst="rect">
            <a:avLst/>
          </a:prstGeom>
        </p:spPr>
      </p:pic>
    </p:spTree>
    <p:extLst>
      <p:ext uri="{BB962C8B-B14F-4D97-AF65-F5344CB8AC3E}">
        <p14:creationId xmlns:p14="http://schemas.microsoft.com/office/powerpoint/2010/main" val="1848480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ctrTitle" idx="4294967295"/>
          </p:nvPr>
        </p:nvSpPr>
        <p:spPr>
          <a:xfrm>
            <a:off x="685800" y="3748953"/>
            <a:ext cx="7772400" cy="104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hu-HU" sz="3600" b="1" dirty="0"/>
              <a:t>SZOFTVERCSOMAGOK MÉRŐSZÁMAI</a:t>
            </a:r>
            <a:endParaRPr sz="3600" b="1" dirty="0"/>
          </a:p>
        </p:txBody>
      </p:sp>
      <p:sp>
        <p:nvSpPr>
          <p:cNvPr id="117" name="Google Shape;117;p17"/>
          <p:cNvSpPr txBox="1">
            <a:spLocks noGrp="1"/>
          </p:cNvSpPr>
          <p:nvPr>
            <p:ph type="subTitle" idx="4294967295"/>
          </p:nvPr>
        </p:nvSpPr>
        <p:spPr>
          <a:xfrm>
            <a:off x="1613550" y="4884400"/>
            <a:ext cx="5916900" cy="1046400"/>
          </a:xfrm>
          <a:prstGeom prst="rect">
            <a:avLst/>
          </a:prstGeom>
        </p:spPr>
        <p:txBody>
          <a:bodyPr spcFirstLastPara="1" wrap="square" lIns="91425" tIns="91425" rIns="91425" bIns="91425" anchor="t" anchorCtr="0">
            <a:noAutofit/>
          </a:bodyPr>
          <a:lstStyle/>
          <a:p>
            <a:pPr marL="0" lvl="0" indent="0" algn="ctr" rtl="0">
              <a:spcBef>
                <a:spcPts val="600"/>
              </a:spcBef>
              <a:spcAft>
                <a:spcPts val="0"/>
              </a:spcAft>
              <a:buNone/>
            </a:pPr>
            <a:r>
              <a:rPr lang="hu-HU" sz="2400" dirty="0"/>
              <a:t>az R. C. Martin-féle csomagmetrikák</a:t>
            </a:r>
            <a:endParaRPr sz="2400" dirty="0"/>
          </a:p>
        </p:txBody>
      </p:sp>
      <p:grpSp>
        <p:nvGrpSpPr>
          <p:cNvPr id="118" name="Google Shape;118;p17"/>
          <p:cNvGrpSpPr/>
          <p:nvPr/>
        </p:nvGrpSpPr>
        <p:grpSpPr>
          <a:xfrm>
            <a:off x="3030219" y="756050"/>
            <a:ext cx="2931161" cy="2815726"/>
            <a:chOff x="3075562" y="756050"/>
            <a:chExt cx="2931161" cy="2815726"/>
          </a:xfrm>
        </p:grpSpPr>
        <p:sp>
          <p:nvSpPr>
            <p:cNvPr id="119" name="Google Shape;119;p17"/>
            <p:cNvSpPr/>
            <p:nvPr/>
          </p:nvSpPr>
          <p:spPr>
            <a:xfrm>
              <a:off x="3950843" y="1762696"/>
              <a:ext cx="1326900" cy="1326900"/>
            </a:xfrm>
            <a:prstGeom prst="ellipse">
              <a:avLst/>
            </a:prstGeom>
            <a:noFill/>
            <a:ln w="9525"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20;p17"/>
            <p:cNvSpPr/>
            <p:nvPr/>
          </p:nvSpPr>
          <p:spPr>
            <a:xfrm>
              <a:off x="3472643" y="1284496"/>
              <a:ext cx="2283300" cy="2283300"/>
            </a:xfrm>
            <a:prstGeom prst="rect">
              <a:avLst/>
            </a:prstGeom>
            <a:noFill/>
            <a:ln w="9525" cap="flat" cmpd="sng">
              <a:solidFill>
                <a:srgbClr val="FFFFFF"/>
              </a:solidFill>
              <a:prstDash val="dash"/>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17"/>
            <p:cNvSpPr/>
            <p:nvPr/>
          </p:nvSpPr>
          <p:spPr>
            <a:xfrm>
              <a:off x="5883273" y="1280600"/>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2" name="Google Shape;122;p17"/>
            <p:cNvSpPr/>
            <p:nvPr/>
          </p:nvSpPr>
          <p:spPr>
            <a:xfrm rot="-5400000">
              <a:off x="4546838" y="-55875"/>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23" name="Google Shape;123;p17"/>
            <p:cNvSpPr/>
            <p:nvPr/>
          </p:nvSpPr>
          <p:spPr>
            <a:xfrm rot="-5400000">
              <a:off x="3075562" y="756050"/>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24" name="Google Shape;124;p17"/>
            <p:cNvCxnSpPr/>
            <p:nvPr/>
          </p:nvCxnSpPr>
          <p:spPr>
            <a:xfrm>
              <a:off x="3480293" y="1292146"/>
              <a:ext cx="2268000" cy="2268000"/>
            </a:xfrm>
            <a:prstGeom prst="straightConnector1">
              <a:avLst/>
            </a:prstGeom>
            <a:noFill/>
            <a:ln w="9525" cap="flat" cmpd="sng">
              <a:solidFill>
                <a:srgbClr val="FFFFFF"/>
              </a:solidFill>
              <a:prstDash val="dash"/>
              <a:round/>
              <a:headEnd type="none" w="med" len="med"/>
              <a:tailEnd type="none" w="med" len="med"/>
            </a:ln>
          </p:spPr>
        </p:cxnSp>
        <p:cxnSp>
          <p:nvCxnSpPr>
            <p:cNvPr id="125" name="Google Shape;125;p17"/>
            <p:cNvCxnSpPr>
              <a:endCxn id="119" idx="7"/>
            </p:cNvCxnSpPr>
            <p:nvPr/>
          </p:nvCxnSpPr>
          <p:spPr>
            <a:xfrm flipH="1">
              <a:off x="5083423" y="1280516"/>
              <a:ext cx="676500" cy="676500"/>
            </a:xfrm>
            <a:prstGeom prst="straightConnector1">
              <a:avLst/>
            </a:prstGeom>
            <a:noFill/>
            <a:ln w="9525" cap="flat" cmpd="sng">
              <a:solidFill>
                <a:srgbClr val="FFFFFF"/>
              </a:solidFill>
              <a:prstDash val="dash"/>
              <a:round/>
              <a:headEnd type="none" w="med" len="med"/>
              <a:tailEnd type="none" w="med" len="med"/>
            </a:ln>
          </p:spPr>
        </p:cxnSp>
        <p:cxnSp>
          <p:nvCxnSpPr>
            <p:cNvPr id="126" name="Google Shape;126;p17"/>
            <p:cNvCxnSpPr/>
            <p:nvPr/>
          </p:nvCxnSpPr>
          <p:spPr>
            <a:xfrm>
              <a:off x="3345288" y="1288325"/>
              <a:ext cx="0" cy="2283300"/>
            </a:xfrm>
            <a:prstGeom prst="straightConnector1">
              <a:avLst/>
            </a:prstGeom>
            <a:noFill/>
            <a:ln w="9525" cap="flat" cmpd="sng">
              <a:solidFill>
                <a:srgbClr val="FFFFFF"/>
              </a:solidFill>
              <a:prstDash val="solid"/>
              <a:round/>
              <a:headEnd type="triangle" w="sm" len="sm"/>
              <a:tailEnd type="triangle" w="sm" len="sm"/>
            </a:ln>
          </p:spPr>
        </p:cxnSp>
        <p:cxnSp>
          <p:nvCxnSpPr>
            <p:cNvPr id="127" name="Google Shape;127;p17"/>
            <p:cNvCxnSpPr>
              <a:stCxn id="119" idx="3"/>
            </p:cNvCxnSpPr>
            <p:nvPr/>
          </p:nvCxnSpPr>
          <p:spPr>
            <a:xfrm flipH="1">
              <a:off x="3468663" y="2895276"/>
              <a:ext cx="676500" cy="676500"/>
            </a:xfrm>
            <a:prstGeom prst="straightConnector1">
              <a:avLst/>
            </a:prstGeom>
            <a:noFill/>
            <a:ln w="9525" cap="flat" cmpd="sng">
              <a:solidFill>
                <a:srgbClr val="FFFFFF"/>
              </a:solidFill>
              <a:prstDash val="dash"/>
              <a:round/>
              <a:headEnd type="none" w="med" len="med"/>
              <a:tailEnd type="none" w="med" len="med"/>
            </a:ln>
          </p:spPr>
        </p:cxnSp>
      </p:grpSp>
      <p:sp>
        <p:nvSpPr>
          <p:cNvPr id="128" name="Google Shape;128;p17"/>
          <p:cNvSpPr/>
          <p:nvPr/>
        </p:nvSpPr>
        <p:spPr>
          <a:xfrm>
            <a:off x="4177025" y="1997048"/>
            <a:ext cx="789947" cy="797788"/>
          </a:xfrm>
          <a:custGeom>
            <a:avLst/>
            <a:gdLst/>
            <a:ahLst/>
            <a:cxnLst/>
            <a:rect l="l" t="t" r="r" b="b"/>
            <a:pathLst>
              <a:path w="17228" h="17399" extrusionOk="0">
                <a:moveTo>
                  <a:pt x="14162" y="439"/>
                </a:moveTo>
                <a:lnTo>
                  <a:pt x="14478" y="512"/>
                </a:lnTo>
                <a:lnTo>
                  <a:pt x="14794" y="609"/>
                </a:lnTo>
                <a:lnTo>
                  <a:pt x="15111" y="755"/>
                </a:lnTo>
                <a:lnTo>
                  <a:pt x="15403" y="925"/>
                </a:lnTo>
                <a:lnTo>
                  <a:pt x="15670" y="1120"/>
                </a:lnTo>
                <a:lnTo>
                  <a:pt x="15914" y="1315"/>
                </a:lnTo>
                <a:lnTo>
                  <a:pt x="16108" y="1534"/>
                </a:lnTo>
                <a:lnTo>
                  <a:pt x="15987" y="1558"/>
                </a:lnTo>
                <a:lnTo>
                  <a:pt x="15889" y="1607"/>
                </a:lnTo>
                <a:lnTo>
                  <a:pt x="15816" y="1655"/>
                </a:lnTo>
                <a:lnTo>
                  <a:pt x="15792" y="1680"/>
                </a:lnTo>
                <a:lnTo>
                  <a:pt x="15768" y="1728"/>
                </a:lnTo>
                <a:lnTo>
                  <a:pt x="15768" y="1777"/>
                </a:lnTo>
                <a:lnTo>
                  <a:pt x="15792" y="1826"/>
                </a:lnTo>
                <a:lnTo>
                  <a:pt x="15865" y="1850"/>
                </a:lnTo>
                <a:lnTo>
                  <a:pt x="15938" y="1874"/>
                </a:lnTo>
                <a:lnTo>
                  <a:pt x="16230" y="1874"/>
                </a:lnTo>
                <a:lnTo>
                  <a:pt x="16352" y="1850"/>
                </a:lnTo>
                <a:lnTo>
                  <a:pt x="16546" y="2166"/>
                </a:lnTo>
                <a:lnTo>
                  <a:pt x="16254" y="2142"/>
                </a:lnTo>
                <a:lnTo>
                  <a:pt x="16011" y="2142"/>
                </a:lnTo>
                <a:lnTo>
                  <a:pt x="15987" y="2166"/>
                </a:lnTo>
                <a:lnTo>
                  <a:pt x="15987" y="2191"/>
                </a:lnTo>
                <a:lnTo>
                  <a:pt x="16133" y="2312"/>
                </a:lnTo>
                <a:lnTo>
                  <a:pt x="16303" y="2410"/>
                </a:lnTo>
                <a:lnTo>
                  <a:pt x="16473" y="2458"/>
                </a:lnTo>
                <a:lnTo>
                  <a:pt x="16668" y="2507"/>
                </a:lnTo>
                <a:lnTo>
                  <a:pt x="16717" y="2750"/>
                </a:lnTo>
                <a:lnTo>
                  <a:pt x="16741" y="2994"/>
                </a:lnTo>
                <a:lnTo>
                  <a:pt x="16522" y="2872"/>
                </a:lnTo>
                <a:lnTo>
                  <a:pt x="16352" y="2799"/>
                </a:lnTo>
                <a:lnTo>
                  <a:pt x="16181" y="2702"/>
                </a:lnTo>
                <a:lnTo>
                  <a:pt x="16011" y="2653"/>
                </a:lnTo>
                <a:lnTo>
                  <a:pt x="15792" y="2653"/>
                </a:lnTo>
                <a:lnTo>
                  <a:pt x="15768" y="2677"/>
                </a:lnTo>
                <a:lnTo>
                  <a:pt x="15768" y="2702"/>
                </a:lnTo>
                <a:lnTo>
                  <a:pt x="15768" y="2726"/>
                </a:lnTo>
                <a:lnTo>
                  <a:pt x="15889" y="2872"/>
                </a:lnTo>
                <a:lnTo>
                  <a:pt x="16035" y="2994"/>
                </a:lnTo>
                <a:lnTo>
                  <a:pt x="16327" y="3213"/>
                </a:lnTo>
                <a:lnTo>
                  <a:pt x="16522" y="3334"/>
                </a:lnTo>
                <a:lnTo>
                  <a:pt x="16619" y="3407"/>
                </a:lnTo>
                <a:lnTo>
                  <a:pt x="16717" y="3456"/>
                </a:lnTo>
                <a:lnTo>
                  <a:pt x="16692" y="3651"/>
                </a:lnTo>
                <a:lnTo>
                  <a:pt x="16619" y="3845"/>
                </a:lnTo>
                <a:lnTo>
                  <a:pt x="16400" y="3602"/>
                </a:lnTo>
                <a:lnTo>
                  <a:pt x="16133" y="3407"/>
                </a:lnTo>
                <a:lnTo>
                  <a:pt x="15987" y="3310"/>
                </a:lnTo>
                <a:lnTo>
                  <a:pt x="15841" y="3237"/>
                </a:lnTo>
                <a:lnTo>
                  <a:pt x="15695" y="3188"/>
                </a:lnTo>
                <a:lnTo>
                  <a:pt x="15524" y="3164"/>
                </a:lnTo>
                <a:lnTo>
                  <a:pt x="15476" y="3188"/>
                </a:lnTo>
                <a:lnTo>
                  <a:pt x="15476" y="3213"/>
                </a:lnTo>
                <a:lnTo>
                  <a:pt x="15476" y="3237"/>
                </a:lnTo>
                <a:lnTo>
                  <a:pt x="15500" y="3261"/>
                </a:lnTo>
                <a:lnTo>
                  <a:pt x="15597" y="3359"/>
                </a:lnTo>
                <a:lnTo>
                  <a:pt x="15695" y="3432"/>
                </a:lnTo>
                <a:lnTo>
                  <a:pt x="15987" y="3699"/>
                </a:lnTo>
                <a:lnTo>
                  <a:pt x="16230" y="3918"/>
                </a:lnTo>
                <a:lnTo>
                  <a:pt x="16449" y="4162"/>
                </a:lnTo>
                <a:lnTo>
                  <a:pt x="16473" y="4186"/>
                </a:lnTo>
                <a:lnTo>
                  <a:pt x="16254" y="4526"/>
                </a:lnTo>
                <a:lnTo>
                  <a:pt x="16206" y="4453"/>
                </a:lnTo>
                <a:lnTo>
                  <a:pt x="16133" y="4380"/>
                </a:lnTo>
                <a:lnTo>
                  <a:pt x="15962" y="4259"/>
                </a:lnTo>
                <a:lnTo>
                  <a:pt x="15646" y="4040"/>
                </a:lnTo>
                <a:lnTo>
                  <a:pt x="15403" y="3821"/>
                </a:lnTo>
                <a:lnTo>
                  <a:pt x="15159" y="3626"/>
                </a:lnTo>
                <a:lnTo>
                  <a:pt x="15111" y="3626"/>
                </a:lnTo>
                <a:lnTo>
                  <a:pt x="15062" y="3651"/>
                </a:lnTo>
                <a:lnTo>
                  <a:pt x="15013" y="3724"/>
                </a:lnTo>
                <a:lnTo>
                  <a:pt x="15013" y="3821"/>
                </a:lnTo>
                <a:lnTo>
                  <a:pt x="15013" y="3894"/>
                </a:lnTo>
                <a:lnTo>
                  <a:pt x="15038" y="3991"/>
                </a:lnTo>
                <a:lnTo>
                  <a:pt x="15135" y="4137"/>
                </a:lnTo>
                <a:lnTo>
                  <a:pt x="15257" y="4283"/>
                </a:lnTo>
                <a:lnTo>
                  <a:pt x="15427" y="4453"/>
                </a:lnTo>
                <a:lnTo>
                  <a:pt x="15622" y="4599"/>
                </a:lnTo>
                <a:lnTo>
                  <a:pt x="15816" y="4745"/>
                </a:lnTo>
                <a:lnTo>
                  <a:pt x="15914" y="4818"/>
                </a:lnTo>
                <a:lnTo>
                  <a:pt x="16011" y="4843"/>
                </a:lnTo>
                <a:lnTo>
                  <a:pt x="15792" y="5135"/>
                </a:lnTo>
                <a:lnTo>
                  <a:pt x="14867" y="4162"/>
                </a:lnTo>
                <a:lnTo>
                  <a:pt x="13967" y="3213"/>
                </a:lnTo>
                <a:lnTo>
                  <a:pt x="13505" y="2750"/>
                </a:lnTo>
                <a:lnTo>
                  <a:pt x="13018" y="2288"/>
                </a:lnTo>
                <a:lnTo>
                  <a:pt x="12531" y="1850"/>
                </a:lnTo>
                <a:lnTo>
                  <a:pt x="12021" y="1461"/>
                </a:lnTo>
                <a:lnTo>
                  <a:pt x="12021" y="1388"/>
                </a:lnTo>
                <a:lnTo>
                  <a:pt x="12118" y="1315"/>
                </a:lnTo>
                <a:lnTo>
                  <a:pt x="12215" y="1242"/>
                </a:lnTo>
                <a:lnTo>
                  <a:pt x="12385" y="1047"/>
                </a:lnTo>
                <a:lnTo>
                  <a:pt x="12629" y="852"/>
                </a:lnTo>
                <a:lnTo>
                  <a:pt x="12921" y="682"/>
                </a:lnTo>
                <a:lnTo>
                  <a:pt x="13213" y="560"/>
                </a:lnTo>
                <a:lnTo>
                  <a:pt x="13505" y="463"/>
                </a:lnTo>
                <a:lnTo>
                  <a:pt x="13675" y="439"/>
                </a:lnTo>
                <a:close/>
                <a:moveTo>
                  <a:pt x="11753" y="1704"/>
                </a:moveTo>
                <a:lnTo>
                  <a:pt x="11826" y="1850"/>
                </a:lnTo>
                <a:lnTo>
                  <a:pt x="11948" y="1972"/>
                </a:lnTo>
                <a:lnTo>
                  <a:pt x="12093" y="2069"/>
                </a:lnTo>
                <a:lnTo>
                  <a:pt x="12385" y="2288"/>
                </a:lnTo>
                <a:lnTo>
                  <a:pt x="12677" y="2531"/>
                </a:lnTo>
                <a:lnTo>
                  <a:pt x="12945" y="2823"/>
                </a:lnTo>
                <a:lnTo>
                  <a:pt x="13480" y="3383"/>
                </a:lnTo>
                <a:lnTo>
                  <a:pt x="14478" y="4453"/>
                </a:lnTo>
                <a:lnTo>
                  <a:pt x="15500" y="5500"/>
                </a:lnTo>
                <a:lnTo>
                  <a:pt x="15111" y="5962"/>
                </a:lnTo>
                <a:lnTo>
                  <a:pt x="14600" y="5500"/>
                </a:lnTo>
                <a:lnTo>
                  <a:pt x="14113" y="5013"/>
                </a:lnTo>
                <a:lnTo>
                  <a:pt x="13213" y="4016"/>
                </a:lnTo>
                <a:lnTo>
                  <a:pt x="12750" y="3529"/>
                </a:lnTo>
                <a:lnTo>
                  <a:pt x="12264" y="3018"/>
                </a:lnTo>
                <a:lnTo>
                  <a:pt x="11777" y="2556"/>
                </a:lnTo>
                <a:lnTo>
                  <a:pt x="11266" y="2093"/>
                </a:lnTo>
                <a:lnTo>
                  <a:pt x="11753" y="1704"/>
                </a:lnTo>
                <a:close/>
                <a:moveTo>
                  <a:pt x="13724" y="5232"/>
                </a:moveTo>
                <a:lnTo>
                  <a:pt x="14235" y="5767"/>
                </a:lnTo>
                <a:lnTo>
                  <a:pt x="14794" y="6278"/>
                </a:lnTo>
                <a:lnTo>
                  <a:pt x="14575" y="6497"/>
                </a:lnTo>
                <a:lnTo>
                  <a:pt x="14259" y="6278"/>
                </a:lnTo>
                <a:lnTo>
                  <a:pt x="13967" y="6035"/>
                </a:lnTo>
                <a:lnTo>
                  <a:pt x="13699" y="5792"/>
                </a:lnTo>
                <a:lnTo>
                  <a:pt x="13432" y="5573"/>
                </a:lnTo>
                <a:lnTo>
                  <a:pt x="13724" y="5232"/>
                </a:lnTo>
                <a:close/>
                <a:moveTo>
                  <a:pt x="13261" y="5767"/>
                </a:moveTo>
                <a:lnTo>
                  <a:pt x="13359" y="5913"/>
                </a:lnTo>
                <a:lnTo>
                  <a:pt x="13456" y="6059"/>
                </a:lnTo>
                <a:lnTo>
                  <a:pt x="13724" y="6303"/>
                </a:lnTo>
                <a:lnTo>
                  <a:pt x="13991" y="6546"/>
                </a:lnTo>
                <a:lnTo>
                  <a:pt x="14137" y="6668"/>
                </a:lnTo>
                <a:lnTo>
                  <a:pt x="14308" y="6765"/>
                </a:lnTo>
                <a:lnTo>
                  <a:pt x="14235" y="6814"/>
                </a:lnTo>
                <a:lnTo>
                  <a:pt x="14137" y="6692"/>
                </a:lnTo>
                <a:lnTo>
                  <a:pt x="13991" y="6595"/>
                </a:lnTo>
                <a:lnTo>
                  <a:pt x="13699" y="6400"/>
                </a:lnTo>
                <a:lnTo>
                  <a:pt x="13359" y="6230"/>
                </a:lnTo>
                <a:lnTo>
                  <a:pt x="13188" y="6132"/>
                </a:lnTo>
                <a:lnTo>
                  <a:pt x="13042" y="6011"/>
                </a:lnTo>
                <a:lnTo>
                  <a:pt x="13261" y="5767"/>
                </a:lnTo>
                <a:close/>
                <a:moveTo>
                  <a:pt x="13018" y="6059"/>
                </a:moveTo>
                <a:lnTo>
                  <a:pt x="13188" y="6303"/>
                </a:lnTo>
                <a:lnTo>
                  <a:pt x="13286" y="6424"/>
                </a:lnTo>
                <a:lnTo>
                  <a:pt x="13407" y="6522"/>
                </a:lnTo>
                <a:lnTo>
                  <a:pt x="14040" y="7008"/>
                </a:lnTo>
                <a:lnTo>
                  <a:pt x="13699" y="7349"/>
                </a:lnTo>
                <a:lnTo>
                  <a:pt x="13675" y="7325"/>
                </a:lnTo>
                <a:lnTo>
                  <a:pt x="13505" y="7227"/>
                </a:lnTo>
                <a:lnTo>
                  <a:pt x="13334" y="7106"/>
                </a:lnTo>
                <a:lnTo>
                  <a:pt x="13018" y="6838"/>
                </a:lnTo>
                <a:lnTo>
                  <a:pt x="12799" y="6668"/>
                </a:lnTo>
                <a:lnTo>
                  <a:pt x="12702" y="6595"/>
                </a:lnTo>
                <a:lnTo>
                  <a:pt x="12580" y="6546"/>
                </a:lnTo>
                <a:lnTo>
                  <a:pt x="12799" y="6303"/>
                </a:lnTo>
                <a:lnTo>
                  <a:pt x="13018" y="6059"/>
                </a:lnTo>
                <a:close/>
                <a:moveTo>
                  <a:pt x="12385" y="6716"/>
                </a:moveTo>
                <a:lnTo>
                  <a:pt x="12483" y="6838"/>
                </a:lnTo>
                <a:lnTo>
                  <a:pt x="12580" y="6935"/>
                </a:lnTo>
                <a:lnTo>
                  <a:pt x="12799" y="7130"/>
                </a:lnTo>
                <a:lnTo>
                  <a:pt x="13091" y="7398"/>
                </a:lnTo>
                <a:lnTo>
                  <a:pt x="13407" y="7617"/>
                </a:lnTo>
                <a:lnTo>
                  <a:pt x="13018" y="8006"/>
                </a:lnTo>
                <a:lnTo>
                  <a:pt x="12921" y="8079"/>
                </a:lnTo>
                <a:lnTo>
                  <a:pt x="12823" y="7909"/>
                </a:lnTo>
                <a:lnTo>
                  <a:pt x="12653" y="7763"/>
                </a:lnTo>
                <a:lnTo>
                  <a:pt x="12312" y="7495"/>
                </a:lnTo>
                <a:lnTo>
                  <a:pt x="12093" y="7325"/>
                </a:lnTo>
                <a:lnTo>
                  <a:pt x="11972" y="7252"/>
                </a:lnTo>
                <a:lnTo>
                  <a:pt x="11850" y="7179"/>
                </a:lnTo>
                <a:lnTo>
                  <a:pt x="12385" y="6716"/>
                </a:lnTo>
                <a:close/>
                <a:moveTo>
                  <a:pt x="11631" y="7373"/>
                </a:moveTo>
                <a:lnTo>
                  <a:pt x="11729" y="7471"/>
                </a:lnTo>
                <a:lnTo>
                  <a:pt x="11850" y="7568"/>
                </a:lnTo>
                <a:lnTo>
                  <a:pt x="12093" y="7738"/>
                </a:lnTo>
                <a:lnTo>
                  <a:pt x="12434" y="8055"/>
                </a:lnTo>
                <a:lnTo>
                  <a:pt x="12556" y="8201"/>
                </a:lnTo>
                <a:lnTo>
                  <a:pt x="12702" y="8322"/>
                </a:lnTo>
                <a:lnTo>
                  <a:pt x="11948" y="9150"/>
                </a:lnTo>
                <a:lnTo>
                  <a:pt x="11680" y="8906"/>
                </a:lnTo>
                <a:lnTo>
                  <a:pt x="11364" y="8687"/>
                </a:lnTo>
                <a:lnTo>
                  <a:pt x="11072" y="8444"/>
                </a:lnTo>
                <a:lnTo>
                  <a:pt x="10780" y="8201"/>
                </a:lnTo>
                <a:lnTo>
                  <a:pt x="11096" y="7860"/>
                </a:lnTo>
                <a:lnTo>
                  <a:pt x="11193" y="7957"/>
                </a:lnTo>
                <a:lnTo>
                  <a:pt x="11291" y="8030"/>
                </a:lnTo>
                <a:lnTo>
                  <a:pt x="11461" y="8176"/>
                </a:lnTo>
                <a:lnTo>
                  <a:pt x="11777" y="8493"/>
                </a:lnTo>
                <a:lnTo>
                  <a:pt x="11972" y="8614"/>
                </a:lnTo>
                <a:lnTo>
                  <a:pt x="12166" y="8736"/>
                </a:lnTo>
                <a:lnTo>
                  <a:pt x="12288" y="8736"/>
                </a:lnTo>
                <a:lnTo>
                  <a:pt x="12337" y="8712"/>
                </a:lnTo>
                <a:lnTo>
                  <a:pt x="12361" y="8639"/>
                </a:lnTo>
                <a:lnTo>
                  <a:pt x="12361" y="8566"/>
                </a:lnTo>
                <a:lnTo>
                  <a:pt x="12337" y="8493"/>
                </a:lnTo>
                <a:lnTo>
                  <a:pt x="12118" y="8322"/>
                </a:lnTo>
                <a:lnTo>
                  <a:pt x="11899" y="8152"/>
                </a:lnTo>
                <a:lnTo>
                  <a:pt x="11461" y="7811"/>
                </a:lnTo>
                <a:lnTo>
                  <a:pt x="11291" y="7690"/>
                </a:lnTo>
                <a:lnTo>
                  <a:pt x="11631" y="7373"/>
                </a:lnTo>
                <a:close/>
                <a:moveTo>
                  <a:pt x="10634" y="8371"/>
                </a:moveTo>
                <a:lnTo>
                  <a:pt x="10731" y="8541"/>
                </a:lnTo>
                <a:lnTo>
                  <a:pt x="10853" y="8687"/>
                </a:lnTo>
                <a:lnTo>
                  <a:pt x="10974" y="8809"/>
                </a:lnTo>
                <a:lnTo>
                  <a:pt x="11145" y="8931"/>
                </a:lnTo>
                <a:lnTo>
                  <a:pt x="11461" y="9150"/>
                </a:lnTo>
                <a:lnTo>
                  <a:pt x="11753" y="9369"/>
                </a:lnTo>
                <a:lnTo>
                  <a:pt x="11461" y="9685"/>
                </a:lnTo>
                <a:lnTo>
                  <a:pt x="11145" y="9442"/>
                </a:lnTo>
                <a:lnTo>
                  <a:pt x="10828" y="9198"/>
                </a:lnTo>
                <a:lnTo>
                  <a:pt x="10585" y="8955"/>
                </a:lnTo>
                <a:lnTo>
                  <a:pt x="10463" y="8833"/>
                </a:lnTo>
                <a:lnTo>
                  <a:pt x="10317" y="8736"/>
                </a:lnTo>
                <a:lnTo>
                  <a:pt x="10634" y="8371"/>
                </a:lnTo>
                <a:close/>
                <a:moveTo>
                  <a:pt x="10196" y="8931"/>
                </a:moveTo>
                <a:lnTo>
                  <a:pt x="10269" y="9052"/>
                </a:lnTo>
                <a:lnTo>
                  <a:pt x="10366" y="9198"/>
                </a:lnTo>
                <a:lnTo>
                  <a:pt x="10609" y="9417"/>
                </a:lnTo>
                <a:lnTo>
                  <a:pt x="10901" y="9709"/>
                </a:lnTo>
                <a:lnTo>
                  <a:pt x="11072" y="9831"/>
                </a:lnTo>
                <a:lnTo>
                  <a:pt x="11242" y="9953"/>
                </a:lnTo>
                <a:lnTo>
                  <a:pt x="10415" y="10853"/>
                </a:lnTo>
                <a:lnTo>
                  <a:pt x="10317" y="10707"/>
                </a:lnTo>
                <a:lnTo>
                  <a:pt x="10196" y="10585"/>
                </a:lnTo>
                <a:lnTo>
                  <a:pt x="9904" y="10366"/>
                </a:lnTo>
                <a:lnTo>
                  <a:pt x="9636" y="10172"/>
                </a:lnTo>
                <a:lnTo>
                  <a:pt x="9466" y="10074"/>
                </a:lnTo>
                <a:lnTo>
                  <a:pt x="9320" y="10001"/>
                </a:lnTo>
                <a:lnTo>
                  <a:pt x="9563" y="9709"/>
                </a:lnTo>
                <a:lnTo>
                  <a:pt x="9782" y="9880"/>
                </a:lnTo>
                <a:lnTo>
                  <a:pt x="10001" y="10026"/>
                </a:lnTo>
                <a:lnTo>
                  <a:pt x="10244" y="10245"/>
                </a:lnTo>
                <a:lnTo>
                  <a:pt x="10390" y="10366"/>
                </a:lnTo>
                <a:lnTo>
                  <a:pt x="10536" y="10464"/>
                </a:lnTo>
                <a:lnTo>
                  <a:pt x="10609" y="10488"/>
                </a:lnTo>
                <a:lnTo>
                  <a:pt x="10658" y="10464"/>
                </a:lnTo>
                <a:lnTo>
                  <a:pt x="10731" y="10439"/>
                </a:lnTo>
                <a:lnTo>
                  <a:pt x="10780" y="10391"/>
                </a:lnTo>
                <a:lnTo>
                  <a:pt x="10804" y="10342"/>
                </a:lnTo>
                <a:lnTo>
                  <a:pt x="10828" y="10269"/>
                </a:lnTo>
                <a:lnTo>
                  <a:pt x="10804" y="10220"/>
                </a:lnTo>
                <a:lnTo>
                  <a:pt x="10755" y="10147"/>
                </a:lnTo>
                <a:lnTo>
                  <a:pt x="10220" y="9734"/>
                </a:lnTo>
                <a:lnTo>
                  <a:pt x="10001" y="9563"/>
                </a:lnTo>
                <a:lnTo>
                  <a:pt x="9904" y="9490"/>
                </a:lnTo>
                <a:lnTo>
                  <a:pt x="9782" y="9442"/>
                </a:lnTo>
                <a:lnTo>
                  <a:pt x="10196" y="8931"/>
                </a:lnTo>
                <a:close/>
                <a:moveTo>
                  <a:pt x="9125" y="10245"/>
                </a:moveTo>
                <a:lnTo>
                  <a:pt x="9247" y="10342"/>
                </a:lnTo>
                <a:lnTo>
                  <a:pt x="9368" y="10415"/>
                </a:lnTo>
                <a:lnTo>
                  <a:pt x="9612" y="10585"/>
                </a:lnTo>
                <a:lnTo>
                  <a:pt x="9904" y="10829"/>
                </a:lnTo>
                <a:lnTo>
                  <a:pt x="10050" y="10950"/>
                </a:lnTo>
                <a:lnTo>
                  <a:pt x="10220" y="11048"/>
                </a:lnTo>
                <a:lnTo>
                  <a:pt x="9685" y="11583"/>
                </a:lnTo>
                <a:lnTo>
                  <a:pt x="9685" y="11534"/>
                </a:lnTo>
                <a:lnTo>
                  <a:pt x="9660" y="11437"/>
                </a:lnTo>
                <a:lnTo>
                  <a:pt x="9587" y="11364"/>
                </a:lnTo>
                <a:lnTo>
                  <a:pt x="9417" y="11218"/>
                </a:lnTo>
                <a:lnTo>
                  <a:pt x="9222" y="11023"/>
                </a:lnTo>
                <a:lnTo>
                  <a:pt x="9028" y="10853"/>
                </a:lnTo>
                <a:lnTo>
                  <a:pt x="8906" y="10756"/>
                </a:lnTo>
                <a:lnTo>
                  <a:pt x="8736" y="10683"/>
                </a:lnTo>
                <a:lnTo>
                  <a:pt x="8833" y="10585"/>
                </a:lnTo>
                <a:lnTo>
                  <a:pt x="9125" y="10245"/>
                </a:lnTo>
                <a:close/>
                <a:moveTo>
                  <a:pt x="8468" y="10926"/>
                </a:moveTo>
                <a:lnTo>
                  <a:pt x="8687" y="11096"/>
                </a:lnTo>
                <a:lnTo>
                  <a:pt x="8930" y="11291"/>
                </a:lnTo>
                <a:lnTo>
                  <a:pt x="9052" y="11437"/>
                </a:lnTo>
                <a:lnTo>
                  <a:pt x="9198" y="11583"/>
                </a:lnTo>
                <a:lnTo>
                  <a:pt x="9271" y="11656"/>
                </a:lnTo>
                <a:lnTo>
                  <a:pt x="9344" y="11705"/>
                </a:lnTo>
                <a:lnTo>
                  <a:pt x="9441" y="11753"/>
                </a:lnTo>
                <a:lnTo>
                  <a:pt x="9539" y="11753"/>
                </a:lnTo>
                <a:lnTo>
                  <a:pt x="8468" y="12824"/>
                </a:lnTo>
                <a:lnTo>
                  <a:pt x="8152" y="12532"/>
                </a:lnTo>
                <a:lnTo>
                  <a:pt x="7811" y="12240"/>
                </a:lnTo>
                <a:lnTo>
                  <a:pt x="7470" y="11899"/>
                </a:lnTo>
                <a:lnTo>
                  <a:pt x="7349" y="11826"/>
                </a:lnTo>
                <a:lnTo>
                  <a:pt x="7738" y="11534"/>
                </a:lnTo>
                <a:lnTo>
                  <a:pt x="7860" y="11705"/>
                </a:lnTo>
                <a:lnTo>
                  <a:pt x="8006" y="11875"/>
                </a:lnTo>
                <a:lnTo>
                  <a:pt x="8371" y="12264"/>
                </a:lnTo>
                <a:lnTo>
                  <a:pt x="8517" y="12434"/>
                </a:lnTo>
                <a:lnTo>
                  <a:pt x="8590" y="12483"/>
                </a:lnTo>
                <a:lnTo>
                  <a:pt x="8687" y="12507"/>
                </a:lnTo>
                <a:lnTo>
                  <a:pt x="8736" y="12507"/>
                </a:lnTo>
                <a:lnTo>
                  <a:pt x="8809" y="12483"/>
                </a:lnTo>
                <a:lnTo>
                  <a:pt x="8833" y="12434"/>
                </a:lnTo>
                <a:lnTo>
                  <a:pt x="8857" y="12386"/>
                </a:lnTo>
                <a:lnTo>
                  <a:pt x="8857" y="12289"/>
                </a:lnTo>
                <a:lnTo>
                  <a:pt x="8809" y="12191"/>
                </a:lnTo>
                <a:lnTo>
                  <a:pt x="8760" y="12094"/>
                </a:lnTo>
                <a:lnTo>
                  <a:pt x="8663" y="11997"/>
                </a:lnTo>
                <a:lnTo>
                  <a:pt x="8492" y="11826"/>
                </a:lnTo>
                <a:lnTo>
                  <a:pt x="8322" y="11680"/>
                </a:lnTo>
                <a:lnTo>
                  <a:pt x="8152" y="11510"/>
                </a:lnTo>
                <a:lnTo>
                  <a:pt x="7957" y="11364"/>
                </a:lnTo>
                <a:lnTo>
                  <a:pt x="8468" y="10926"/>
                </a:lnTo>
                <a:close/>
                <a:moveTo>
                  <a:pt x="11047" y="2312"/>
                </a:moveTo>
                <a:lnTo>
                  <a:pt x="11120" y="2434"/>
                </a:lnTo>
                <a:lnTo>
                  <a:pt x="11218" y="2531"/>
                </a:lnTo>
                <a:lnTo>
                  <a:pt x="11437" y="2750"/>
                </a:lnTo>
                <a:lnTo>
                  <a:pt x="11850" y="3213"/>
                </a:lnTo>
                <a:lnTo>
                  <a:pt x="11826" y="3213"/>
                </a:lnTo>
                <a:lnTo>
                  <a:pt x="11193" y="3748"/>
                </a:lnTo>
                <a:lnTo>
                  <a:pt x="10609" y="4283"/>
                </a:lnTo>
                <a:lnTo>
                  <a:pt x="10025" y="4867"/>
                </a:lnTo>
                <a:lnTo>
                  <a:pt x="9490" y="5500"/>
                </a:lnTo>
                <a:lnTo>
                  <a:pt x="9174" y="5865"/>
                </a:lnTo>
                <a:lnTo>
                  <a:pt x="8857" y="6254"/>
                </a:lnTo>
                <a:lnTo>
                  <a:pt x="8517" y="6595"/>
                </a:lnTo>
                <a:lnTo>
                  <a:pt x="8176" y="6935"/>
                </a:lnTo>
                <a:lnTo>
                  <a:pt x="7373" y="7617"/>
                </a:lnTo>
                <a:lnTo>
                  <a:pt x="6984" y="7933"/>
                </a:lnTo>
                <a:lnTo>
                  <a:pt x="6594" y="8274"/>
                </a:lnTo>
                <a:lnTo>
                  <a:pt x="6229" y="8639"/>
                </a:lnTo>
                <a:lnTo>
                  <a:pt x="5864" y="9004"/>
                </a:lnTo>
                <a:lnTo>
                  <a:pt x="5183" y="9782"/>
                </a:lnTo>
                <a:lnTo>
                  <a:pt x="4502" y="10537"/>
                </a:lnTo>
                <a:lnTo>
                  <a:pt x="4137" y="10902"/>
                </a:lnTo>
                <a:lnTo>
                  <a:pt x="3772" y="11242"/>
                </a:lnTo>
                <a:lnTo>
                  <a:pt x="3115" y="11802"/>
                </a:lnTo>
                <a:lnTo>
                  <a:pt x="2799" y="12118"/>
                </a:lnTo>
                <a:lnTo>
                  <a:pt x="2507" y="12434"/>
                </a:lnTo>
                <a:lnTo>
                  <a:pt x="2263" y="12702"/>
                </a:lnTo>
                <a:lnTo>
                  <a:pt x="2166" y="12848"/>
                </a:lnTo>
                <a:lnTo>
                  <a:pt x="2069" y="13018"/>
                </a:lnTo>
                <a:lnTo>
                  <a:pt x="1850" y="12824"/>
                </a:lnTo>
                <a:lnTo>
                  <a:pt x="1460" y="12459"/>
                </a:lnTo>
                <a:lnTo>
                  <a:pt x="1266" y="12264"/>
                </a:lnTo>
                <a:lnTo>
                  <a:pt x="1047" y="12118"/>
                </a:lnTo>
                <a:lnTo>
                  <a:pt x="1047" y="12070"/>
                </a:lnTo>
                <a:lnTo>
                  <a:pt x="1193" y="11997"/>
                </a:lnTo>
                <a:lnTo>
                  <a:pt x="1339" y="11924"/>
                </a:lnTo>
                <a:lnTo>
                  <a:pt x="1460" y="11826"/>
                </a:lnTo>
                <a:lnTo>
                  <a:pt x="1582" y="11705"/>
                </a:lnTo>
                <a:lnTo>
                  <a:pt x="2020" y="11218"/>
                </a:lnTo>
                <a:lnTo>
                  <a:pt x="2385" y="10853"/>
                </a:lnTo>
                <a:lnTo>
                  <a:pt x="2774" y="10537"/>
                </a:lnTo>
                <a:lnTo>
                  <a:pt x="3577" y="9880"/>
                </a:lnTo>
                <a:lnTo>
                  <a:pt x="3942" y="9539"/>
                </a:lnTo>
                <a:lnTo>
                  <a:pt x="4307" y="9198"/>
                </a:lnTo>
                <a:lnTo>
                  <a:pt x="5037" y="8468"/>
                </a:lnTo>
                <a:lnTo>
                  <a:pt x="5718" y="7738"/>
                </a:lnTo>
                <a:lnTo>
                  <a:pt x="6400" y="7008"/>
                </a:lnTo>
                <a:lnTo>
                  <a:pt x="7081" y="6303"/>
                </a:lnTo>
                <a:lnTo>
                  <a:pt x="7787" y="5621"/>
                </a:lnTo>
                <a:lnTo>
                  <a:pt x="8468" y="4940"/>
                </a:lnTo>
                <a:lnTo>
                  <a:pt x="9149" y="4259"/>
                </a:lnTo>
                <a:lnTo>
                  <a:pt x="10074" y="3261"/>
                </a:lnTo>
                <a:lnTo>
                  <a:pt x="10561" y="2775"/>
                </a:lnTo>
                <a:lnTo>
                  <a:pt x="11047" y="2312"/>
                </a:lnTo>
                <a:close/>
                <a:moveTo>
                  <a:pt x="7154" y="11997"/>
                </a:moveTo>
                <a:lnTo>
                  <a:pt x="7203" y="12094"/>
                </a:lnTo>
                <a:lnTo>
                  <a:pt x="7251" y="12167"/>
                </a:lnTo>
                <a:lnTo>
                  <a:pt x="7422" y="12386"/>
                </a:lnTo>
                <a:lnTo>
                  <a:pt x="7592" y="12580"/>
                </a:lnTo>
                <a:lnTo>
                  <a:pt x="7884" y="12872"/>
                </a:lnTo>
                <a:lnTo>
                  <a:pt x="8030" y="12994"/>
                </a:lnTo>
                <a:lnTo>
                  <a:pt x="8200" y="13091"/>
                </a:lnTo>
                <a:lnTo>
                  <a:pt x="7835" y="13481"/>
                </a:lnTo>
                <a:lnTo>
                  <a:pt x="7811" y="13432"/>
                </a:lnTo>
                <a:lnTo>
                  <a:pt x="7787" y="13408"/>
                </a:lnTo>
                <a:lnTo>
                  <a:pt x="7616" y="13262"/>
                </a:lnTo>
                <a:lnTo>
                  <a:pt x="7446" y="13140"/>
                </a:lnTo>
                <a:lnTo>
                  <a:pt x="7251" y="13018"/>
                </a:lnTo>
                <a:lnTo>
                  <a:pt x="7057" y="12872"/>
                </a:lnTo>
                <a:lnTo>
                  <a:pt x="6716" y="12580"/>
                </a:lnTo>
                <a:lnTo>
                  <a:pt x="6643" y="12532"/>
                </a:lnTo>
                <a:lnTo>
                  <a:pt x="6594" y="12507"/>
                </a:lnTo>
                <a:lnTo>
                  <a:pt x="6862" y="12240"/>
                </a:lnTo>
                <a:lnTo>
                  <a:pt x="7154" y="11997"/>
                </a:lnTo>
                <a:close/>
                <a:moveTo>
                  <a:pt x="6424" y="12702"/>
                </a:moveTo>
                <a:lnTo>
                  <a:pt x="6448" y="12775"/>
                </a:lnTo>
                <a:lnTo>
                  <a:pt x="6473" y="12848"/>
                </a:lnTo>
                <a:lnTo>
                  <a:pt x="6667" y="13043"/>
                </a:lnTo>
                <a:lnTo>
                  <a:pt x="6862" y="13213"/>
                </a:lnTo>
                <a:lnTo>
                  <a:pt x="7032" y="13359"/>
                </a:lnTo>
                <a:lnTo>
                  <a:pt x="7227" y="13481"/>
                </a:lnTo>
                <a:lnTo>
                  <a:pt x="7446" y="13602"/>
                </a:lnTo>
                <a:lnTo>
                  <a:pt x="7568" y="13627"/>
                </a:lnTo>
                <a:lnTo>
                  <a:pt x="7689" y="13627"/>
                </a:lnTo>
                <a:lnTo>
                  <a:pt x="7470" y="13846"/>
                </a:lnTo>
                <a:lnTo>
                  <a:pt x="7300" y="14040"/>
                </a:lnTo>
                <a:lnTo>
                  <a:pt x="7276" y="14016"/>
                </a:lnTo>
                <a:lnTo>
                  <a:pt x="6911" y="13797"/>
                </a:lnTo>
                <a:lnTo>
                  <a:pt x="6570" y="13554"/>
                </a:lnTo>
                <a:lnTo>
                  <a:pt x="6302" y="13335"/>
                </a:lnTo>
                <a:lnTo>
                  <a:pt x="6035" y="13164"/>
                </a:lnTo>
                <a:lnTo>
                  <a:pt x="6108" y="13043"/>
                </a:lnTo>
                <a:lnTo>
                  <a:pt x="6424" y="12702"/>
                </a:lnTo>
                <a:close/>
                <a:moveTo>
                  <a:pt x="5889" y="13335"/>
                </a:moveTo>
                <a:lnTo>
                  <a:pt x="5962" y="13456"/>
                </a:lnTo>
                <a:lnTo>
                  <a:pt x="6059" y="13578"/>
                </a:lnTo>
                <a:lnTo>
                  <a:pt x="6278" y="13797"/>
                </a:lnTo>
                <a:lnTo>
                  <a:pt x="6643" y="14089"/>
                </a:lnTo>
                <a:lnTo>
                  <a:pt x="6813" y="14211"/>
                </a:lnTo>
                <a:lnTo>
                  <a:pt x="7032" y="14308"/>
                </a:lnTo>
                <a:lnTo>
                  <a:pt x="6692" y="14673"/>
                </a:lnTo>
                <a:lnTo>
                  <a:pt x="6619" y="14624"/>
                </a:lnTo>
                <a:lnTo>
                  <a:pt x="6497" y="14600"/>
                </a:lnTo>
                <a:lnTo>
                  <a:pt x="6375" y="14527"/>
                </a:lnTo>
                <a:lnTo>
                  <a:pt x="6254" y="14454"/>
                </a:lnTo>
                <a:lnTo>
                  <a:pt x="6132" y="14381"/>
                </a:lnTo>
                <a:lnTo>
                  <a:pt x="5913" y="14186"/>
                </a:lnTo>
                <a:lnTo>
                  <a:pt x="5718" y="14016"/>
                </a:lnTo>
                <a:lnTo>
                  <a:pt x="5597" y="13943"/>
                </a:lnTo>
                <a:lnTo>
                  <a:pt x="5451" y="13846"/>
                </a:lnTo>
                <a:lnTo>
                  <a:pt x="5889" y="13335"/>
                </a:lnTo>
                <a:close/>
                <a:moveTo>
                  <a:pt x="12191" y="3553"/>
                </a:moveTo>
                <a:lnTo>
                  <a:pt x="12653" y="4040"/>
                </a:lnTo>
                <a:lnTo>
                  <a:pt x="13432" y="4916"/>
                </a:lnTo>
                <a:lnTo>
                  <a:pt x="13164" y="5208"/>
                </a:lnTo>
                <a:lnTo>
                  <a:pt x="12896" y="5500"/>
                </a:lnTo>
                <a:lnTo>
                  <a:pt x="12361" y="6108"/>
                </a:lnTo>
                <a:lnTo>
                  <a:pt x="12045" y="6424"/>
                </a:lnTo>
                <a:lnTo>
                  <a:pt x="11729" y="6716"/>
                </a:lnTo>
                <a:lnTo>
                  <a:pt x="11388" y="7008"/>
                </a:lnTo>
                <a:lnTo>
                  <a:pt x="11047" y="7300"/>
                </a:lnTo>
                <a:lnTo>
                  <a:pt x="10731" y="7617"/>
                </a:lnTo>
                <a:lnTo>
                  <a:pt x="10415" y="7957"/>
                </a:lnTo>
                <a:lnTo>
                  <a:pt x="9806" y="8687"/>
                </a:lnTo>
                <a:lnTo>
                  <a:pt x="9247" y="9417"/>
                </a:lnTo>
                <a:lnTo>
                  <a:pt x="8638" y="10147"/>
                </a:lnTo>
                <a:lnTo>
                  <a:pt x="8346" y="10464"/>
                </a:lnTo>
                <a:lnTo>
                  <a:pt x="8006" y="10756"/>
                </a:lnTo>
                <a:lnTo>
                  <a:pt x="7324" y="11340"/>
                </a:lnTo>
                <a:lnTo>
                  <a:pt x="6643" y="11899"/>
                </a:lnTo>
                <a:lnTo>
                  <a:pt x="6302" y="12191"/>
                </a:lnTo>
                <a:lnTo>
                  <a:pt x="6010" y="12532"/>
                </a:lnTo>
                <a:lnTo>
                  <a:pt x="5475" y="13164"/>
                </a:lnTo>
                <a:lnTo>
                  <a:pt x="4940" y="13773"/>
                </a:lnTo>
                <a:lnTo>
                  <a:pt x="4672" y="14016"/>
                </a:lnTo>
                <a:lnTo>
                  <a:pt x="4404" y="14235"/>
                </a:lnTo>
                <a:lnTo>
                  <a:pt x="4137" y="14454"/>
                </a:lnTo>
                <a:lnTo>
                  <a:pt x="4015" y="14600"/>
                </a:lnTo>
                <a:lnTo>
                  <a:pt x="3918" y="14722"/>
                </a:lnTo>
                <a:lnTo>
                  <a:pt x="3480" y="14284"/>
                </a:lnTo>
                <a:lnTo>
                  <a:pt x="3042" y="13846"/>
                </a:lnTo>
                <a:lnTo>
                  <a:pt x="2361" y="13262"/>
                </a:lnTo>
                <a:lnTo>
                  <a:pt x="2482" y="13164"/>
                </a:lnTo>
                <a:lnTo>
                  <a:pt x="2604" y="13043"/>
                </a:lnTo>
                <a:lnTo>
                  <a:pt x="2774" y="12799"/>
                </a:lnTo>
                <a:lnTo>
                  <a:pt x="3066" y="12507"/>
                </a:lnTo>
                <a:lnTo>
                  <a:pt x="3358" y="12216"/>
                </a:lnTo>
                <a:lnTo>
                  <a:pt x="3967" y="11680"/>
                </a:lnTo>
                <a:lnTo>
                  <a:pt x="4380" y="11315"/>
                </a:lnTo>
                <a:lnTo>
                  <a:pt x="4745" y="10950"/>
                </a:lnTo>
                <a:lnTo>
                  <a:pt x="5475" y="10172"/>
                </a:lnTo>
                <a:lnTo>
                  <a:pt x="6181" y="9393"/>
                </a:lnTo>
                <a:lnTo>
                  <a:pt x="6546" y="9004"/>
                </a:lnTo>
                <a:lnTo>
                  <a:pt x="6935" y="8614"/>
                </a:lnTo>
                <a:lnTo>
                  <a:pt x="7324" y="8274"/>
                </a:lnTo>
                <a:lnTo>
                  <a:pt x="7714" y="7933"/>
                </a:lnTo>
                <a:lnTo>
                  <a:pt x="8517" y="7276"/>
                </a:lnTo>
                <a:lnTo>
                  <a:pt x="8857" y="6935"/>
                </a:lnTo>
                <a:lnTo>
                  <a:pt x="9198" y="6595"/>
                </a:lnTo>
                <a:lnTo>
                  <a:pt x="9514" y="6205"/>
                </a:lnTo>
                <a:lnTo>
                  <a:pt x="9831" y="5840"/>
                </a:lnTo>
                <a:lnTo>
                  <a:pt x="10171" y="5427"/>
                </a:lnTo>
                <a:lnTo>
                  <a:pt x="10488" y="5062"/>
                </a:lnTo>
                <a:lnTo>
                  <a:pt x="10853" y="4697"/>
                </a:lnTo>
                <a:lnTo>
                  <a:pt x="11242" y="4356"/>
                </a:lnTo>
                <a:lnTo>
                  <a:pt x="11729" y="3967"/>
                </a:lnTo>
                <a:lnTo>
                  <a:pt x="11972" y="3772"/>
                </a:lnTo>
                <a:lnTo>
                  <a:pt x="12191" y="3553"/>
                </a:lnTo>
                <a:close/>
                <a:moveTo>
                  <a:pt x="5232" y="14065"/>
                </a:moveTo>
                <a:lnTo>
                  <a:pt x="5353" y="14186"/>
                </a:lnTo>
                <a:lnTo>
                  <a:pt x="5451" y="14308"/>
                </a:lnTo>
                <a:lnTo>
                  <a:pt x="5645" y="14454"/>
                </a:lnTo>
                <a:lnTo>
                  <a:pt x="5816" y="14624"/>
                </a:lnTo>
                <a:lnTo>
                  <a:pt x="5986" y="14770"/>
                </a:lnTo>
                <a:lnTo>
                  <a:pt x="6181" y="14892"/>
                </a:lnTo>
                <a:lnTo>
                  <a:pt x="6375" y="14989"/>
                </a:lnTo>
                <a:lnTo>
                  <a:pt x="6108" y="15281"/>
                </a:lnTo>
                <a:lnTo>
                  <a:pt x="5937" y="15452"/>
                </a:lnTo>
                <a:lnTo>
                  <a:pt x="5937" y="15403"/>
                </a:lnTo>
                <a:lnTo>
                  <a:pt x="5889" y="15354"/>
                </a:lnTo>
                <a:lnTo>
                  <a:pt x="5597" y="15038"/>
                </a:lnTo>
                <a:lnTo>
                  <a:pt x="5280" y="14746"/>
                </a:lnTo>
                <a:lnTo>
                  <a:pt x="5086" y="14576"/>
                </a:lnTo>
                <a:lnTo>
                  <a:pt x="4964" y="14503"/>
                </a:lnTo>
                <a:lnTo>
                  <a:pt x="4867" y="14430"/>
                </a:lnTo>
                <a:lnTo>
                  <a:pt x="5037" y="14284"/>
                </a:lnTo>
                <a:lnTo>
                  <a:pt x="5232" y="14065"/>
                </a:lnTo>
                <a:close/>
                <a:moveTo>
                  <a:pt x="852" y="15476"/>
                </a:moveTo>
                <a:lnTo>
                  <a:pt x="974" y="15598"/>
                </a:lnTo>
                <a:lnTo>
                  <a:pt x="1412" y="16036"/>
                </a:lnTo>
                <a:lnTo>
                  <a:pt x="1363" y="16011"/>
                </a:lnTo>
                <a:lnTo>
                  <a:pt x="1290" y="15987"/>
                </a:lnTo>
                <a:lnTo>
                  <a:pt x="852" y="15476"/>
                </a:lnTo>
                <a:close/>
                <a:moveTo>
                  <a:pt x="4575" y="14673"/>
                </a:moveTo>
                <a:lnTo>
                  <a:pt x="4696" y="14795"/>
                </a:lnTo>
                <a:lnTo>
                  <a:pt x="4818" y="14892"/>
                </a:lnTo>
                <a:lnTo>
                  <a:pt x="5037" y="15087"/>
                </a:lnTo>
                <a:lnTo>
                  <a:pt x="5329" y="15354"/>
                </a:lnTo>
                <a:lnTo>
                  <a:pt x="5597" y="15622"/>
                </a:lnTo>
                <a:lnTo>
                  <a:pt x="5670" y="15671"/>
                </a:lnTo>
                <a:lnTo>
                  <a:pt x="5718" y="15671"/>
                </a:lnTo>
                <a:lnTo>
                  <a:pt x="5378" y="15987"/>
                </a:lnTo>
                <a:lnTo>
                  <a:pt x="5232" y="16109"/>
                </a:lnTo>
                <a:lnTo>
                  <a:pt x="5183" y="16060"/>
                </a:lnTo>
                <a:lnTo>
                  <a:pt x="5110" y="16036"/>
                </a:lnTo>
                <a:lnTo>
                  <a:pt x="4088" y="14916"/>
                </a:lnTo>
                <a:lnTo>
                  <a:pt x="4210" y="14868"/>
                </a:lnTo>
                <a:lnTo>
                  <a:pt x="4331" y="14819"/>
                </a:lnTo>
                <a:lnTo>
                  <a:pt x="4453" y="14746"/>
                </a:lnTo>
                <a:lnTo>
                  <a:pt x="4575" y="14673"/>
                </a:lnTo>
                <a:close/>
                <a:moveTo>
                  <a:pt x="755" y="16230"/>
                </a:moveTo>
                <a:lnTo>
                  <a:pt x="1071" y="16498"/>
                </a:lnTo>
                <a:lnTo>
                  <a:pt x="1071" y="16522"/>
                </a:lnTo>
                <a:lnTo>
                  <a:pt x="998" y="16474"/>
                </a:lnTo>
                <a:lnTo>
                  <a:pt x="925" y="16449"/>
                </a:lnTo>
                <a:lnTo>
                  <a:pt x="852" y="16376"/>
                </a:lnTo>
                <a:lnTo>
                  <a:pt x="755" y="16230"/>
                </a:lnTo>
                <a:close/>
                <a:moveTo>
                  <a:pt x="1047" y="12532"/>
                </a:moveTo>
                <a:lnTo>
                  <a:pt x="1168" y="12678"/>
                </a:lnTo>
                <a:lnTo>
                  <a:pt x="1314" y="12824"/>
                </a:lnTo>
                <a:lnTo>
                  <a:pt x="1582" y="13067"/>
                </a:lnTo>
                <a:lnTo>
                  <a:pt x="2166" y="13602"/>
                </a:lnTo>
                <a:lnTo>
                  <a:pt x="2750" y="14113"/>
                </a:lnTo>
                <a:lnTo>
                  <a:pt x="3018" y="14357"/>
                </a:lnTo>
                <a:lnTo>
                  <a:pt x="3261" y="14600"/>
                </a:lnTo>
                <a:lnTo>
                  <a:pt x="3723" y="15135"/>
                </a:lnTo>
                <a:lnTo>
                  <a:pt x="4185" y="15646"/>
                </a:lnTo>
                <a:lnTo>
                  <a:pt x="4672" y="16157"/>
                </a:lnTo>
                <a:lnTo>
                  <a:pt x="4404" y="16230"/>
                </a:lnTo>
                <a:lnTo>
                  <a:pt x="4112" y="16303"/>
                </a:lnTo>
                <a:lnTo>
                  <a:pt x="3553" y="16376"/>
                </a:lnTo>
                <a:lnTo>
                  <a:pt x="2969" y="16425"/>
                </a:lnTo>
                <a:lnTo>
                  <a:pt x="2409" y="16498"/>
                </a:lnTo>
                <a:lnTo>
                  <a:pt x="2288" y="16522"/>
                </a:lnTo>
                <a:lnTo>
                  <a:pt x="2263" y="16474"/>
                </a:lnTo>
                <a:lnTo>
                  <a:pt x="2142" y="16230"/>
                </a:lnTo>
                <a:lnTo>
                  <a:pt x="1996" y="16011"/>
                </a:lnTo>
                <a:lnTo>
                  <a:pt x="1801" y="15792"/>
                </a:lnTo>
                <a:lnTo>
                  <a:pt x="1606" y="15598"/>
                </a:lnTo>
                <a:lnTo>
                  <a:pt x="1168" y="15233"/>
                </a:lnTo>
                <a:lnTo>
                  <a:pt x="730" y="14892"/>
                </a:lnTo>
                <a:lnTo>
                  <a:pt x="779" y="14600"/>
                </a:lnTo>
                <a:lnTo>
                  <a:pt x="925" y="13262"/>
                </a:lnTo>
                <a:lnTo>
                  <a:pt x="1047" y="12532"/>
                </a:lnTo>
                <a:close/>
                <a:moveTo>
                  <a:pt x="1436" y="16644"/>
                </a:moveTo>
                <a:lnTo>
                  <a:pt x="1533" y="16717"/>
                </a:lnTo>
                <a:lnTo>
                  <a:pt x="1387" y="16741"/>
                </a:lnTo>
                <a:lnTo>
                  <a:pt x="1436" y="16644"/>
                </a:lnTo>
                <a:close/>
                <a:moveTo>
                  <a:pt x="536" y="16741"/>
                </a:moveTo>
                <a:lnTo>
                  <a:pt x="584" y="16766"/>
                </a:lnTo>
                <a:lnTo>
                  <a:pt x="609" y="16766"/>
                </a:lnTo>
                <a:lnTo>
                  <a:pt x="682" y="16814"/>
                </a:lnTo>
                <a:lnTo>
                  <a:pt x="779" y="16839"/>
                </a:lnTo>
                <a:lnTo>
                  <a:pt x="876" y="16839"/>
                </a:lnTo>
                <a:lnTo>
                  <a:pt x="974" y="16814"/>
                </a:lnTo>
                <a:lnTo>
                  <a:pt x="974" y="16839"/>
                </a:lnTo>
                <a:lnTo>
                  <a:pt x="755" y="16887"/>
                </a:lnTo>
                <a:lnTo>
                  <a:pt x="511" y="16936"/>
                </a:lnTo>
                <a:lnTo>
                  <a:pt x="536" y="16741"/>
                </a:lnTo>
                <a:close/>
                <a:moveTo>
                  <a:pt x="13967" y="1"/>
                </a:moveTo>
                <a:lnTo>
                  <a:pt x="13602" y="25"/>
                </a:lnTo>
                <a:lnTo>
                  <a:pt x="13261" y="74"/>
                </a:lnTo>
                <a:lnTo>
                  <a:pt x="12945" y="195"/>
                </a:lnTo>
                <a:lnTo>
                  <a:pt x="12629" y="341"/>
                </a:lnTo>
                <a:lnTo>
                  <a:pt x="12337" y="560"/>
                </a:lnTo>
                <a:lnTo>
                  <a:pt x="12021" y="828"/>
                </a:lnTo>
                <a:lnTo>
                  <a:pt x="11875" y="974"/>
                </a:lnTo>
                <a:lnTo>
                  <a:pt x="11826" y="1071"/>
                </a:lnTo>
                <a:lnTo>
                  <a:pt x="11777" y="1169"/>
                </a:lnTo>
                <a:lnTo>
                  <a:pt x="11704" y="1193"/>
                </a:lnTo>
                <a:lnTo>
                  <a:pt x="11339" y="1485"/>
                </a:lnTo>
                <a:lnTo>
                  <a:pt x="10999" y="1777"/>
                </a:lnTo>
                <a:lnTo>
                  <a:pt x="10317" y="2385"/>
                </a:lnTo>
                <a:lnTo>
                  <a:pt x="9685" y="3042"/>
                </a:lnTo>
                <a:lnTo>
                  <a:pt x="9052" y="3699"/>
                </a:lnTo>
                <a:lnTo>
                  <a:pt x="8395" y="4405"/>
                </a:lnTo>
                <a:lnTo>
                  <a:pt x="7714" y="5086"/>
                </a:lnTo>
                <a:lnTo>
                  <a:pt x="7032" y="5743"/>
                </a:lnTo>
                <a:lnTo>
                  <a:pt x="6351" y="6449"/>
                </a:lnTo>
                <a:lnTo>
                  <a:pt x="4964" y="7933"/>
                </a:lnTo>
                <a:lnTo>
                  <a:pt x="4258" y="8663"/>
                </a:lnTo>
                <a:lnTo>
                  <a:pt x="3894" y="9004"/>
                </a:lnTo>
                <a:lnTo>
                  <a:pt x="3529" y="9344"/>
                </a:lnTo>
                <a:lnTo>
                  <a:pt x="2190" y="10537"/>
                </a:lnTo>
                <a:lnTo>
                  <a:pt x="1558" y="11145"/>
                </a:lnTo>
                <a:lnTo>
                  <a:pt x="925" y="11778"/>
                </a:lnTo>
                <a:lnTo>
                  <a:pt x="876" y="11753"/>
                </a:lnTo>
                <a:lnTo>
                  <a:pt x="803" y="11778"/>
                </a:lnTo>
                <a:lnTo>
                  <a:pt x="755" y="11802"/>
                </a:lnTo>
                <a:lnTo>
                  <a:pt x="706" y="11851"/>
                </a:lnTo>
                <a:lnTo>
                  <a:pt x="609" y="12118"/>
                </a:lnTo>
                <a:lnTo>
                  <a:pt x="511" y="12386"/>
                </a:lnTo>
                <a:lnTo>
                  <a:pt x="463" y="12702"/>
                </a:lnTo>
                <a:lnTo>
                  <a:pt x="414" y="12994"/>
                </a:lnTo>
                <a:lnTo>
                  <a:pt x="365" y="13627"/>
                </a:lnTo>
                <a:lnTo>
                  <a:pt x="292" y="14211"/>
                </a:lnTo>
                <a:lnTo>
                  <a:pt x="98" y="15646"/>
                </a:lnTo>
                <a:lnTo>
                  <a:pt x="25" y="16376"/>
                </a:lnTo>
                <a:lnTo>
                  <a:pt x="0" y="16717"/>
                </a:lnTo>
                <a:lnTo>
                  <a:pt x="0" y="17082"/>
                </a:lnTo>
                <a:lnTo>
                  <a:pt x="0" y="17155"/>
                </a:lnTo>
                <a:lnTo>
                  <a:pt x="25" y="17204"/>
                </a:lnTo>
                <a:lnTo>
                  <a:pt x="122" y="17277"/>
                </a:lnTo>
                <a:lnTo>
                  <a:pt x="219" y="17325"/>
                </a:lnTo>
                <a:lnTo>
                  <a:pt x="341" y="17325"/>
                </a:lnTo>
                <a:lnTo>
                  <a:pt x="438" y="17350"/>
                </a:lnTo>
                <a:lnTo>
                  <a:pt x="560" y="17374"/>
                </a:lnTo>
                <a:lnTo>
                  <a:pt x="803" y="17398"/>
                </a:lnTo>
                <a:lnTo>
                  <a:pt x="1047" y="17350"/>
                </a:lnTo>
                <a:lnTo>
                  <a:pt x="1339" y="17301"/>
                </a:lnTo>
                <a:lnTo>
                  <a:pt x="1874" y="17131"/>
                </a:lnTo>
                <a:lnTo>
                  <a:pt x="2312" y="17009"/>
                </a:lnTo>
                <a:lnTo>
                  <a:pt x="2677" y="16936"/>
                </a:lnTo>
                <a:lnTo>
                  <a:pt x="3018" y="16887"/>
                </a:lnTo>
                <a:lnTo>
                  <a:pt x="3723" y="16839"/>
                </a:lnTo>
                <a:lnTo>
                  <a:pt x="4088" y="16790"/>
                </a:lnTo>
                <a:lnTo>
                  <a:pt x="4429" y="16741"/>
                </a:lnTo>
                <a:lnTo>
                  <a:pt x="4769" y="16644"/>
                </a:lnTo>
                <a:lnTo>
                  <a:pt x="5110" y="16522"/>
                </a:lnTo>
                <a:lnTo>
                  <a:pt x="5159" y="16498"/>
                </a:lnTo>
                <a:lnTo>
                  <a:pt x="5207" y="16449"/>
                </a:lnTo>
                <a:lnTo>
                  <a:pt x="5353" y="16401"/>
                </a:lnTo>
                <a:lnTo>
                  <a:pt x="5499" y="16328"/>
                </a:lnTo>
                <a:lnTo>
                  <a:pt x="5645" y="16255"/>
                </a:lnTo>
                <a:lnTo>
                  <a:pt x="5791" y="16133"/>
                </a:lnTo>
                <a:lnTo>
                  <a:pt x="6035" y="15890"/>
                </a:lnTo>
                <a:lnTo>
                  <a:pt x="6254" y="15671"/>
                </a:lnTo>
                <a:lnTo>
                  <a:pt x="6959" y="14965"/>
                </a:lnTo>
                <a:lnTo>
                  <a:pt x="7641" y="14284"/>
                </a:lnTo>
                <a:lnTo>
                  <a:pt x="9101" y="12824"/>
                </a:lnTo>
                <a:lnTo>
                  <a:pt x="10536" y="11364"/>
                </a:lnTo>
                <a:lnTo>
                  <a:pt x="11218" y="10658"/>
                </a:lnTo>
                <a:lnTo>
                  <a:pt x="11875" y="9904"/>
                </a:lnTo>
                <a:lnTo>
                  <a:pt x="12531" y="9174"/>
                </a:lnTo>
                <a:lnTo>
                  <a:pt x="13213" y="8444"/>
                </a:lnTo>
                <a:lnTo>
                  <a:pt x="13870" y="7811"/>
                </a:lnTo>
                <a:lnTo>
                  <a:pt x="14527" y="7179"/>
                </a:lnTo>
                <a:lnTo>
                  <a:pt x="15184" y="6522"/>
                </a:lnTo>
                <a:lnTo>
                  <a:pt x="15500" y="6205"/>
                </a:lnTo>
                <a:lnTo>
                  <a:pt x="15816" y="5840"/>
                </a:lnTo>
                <a:lnTo>
                  <a:pt x="15889" y="5792"/>
                </a:lnTo>
                <a:lnTo>
                  <a:pt x="15987" y="5767"/>
                </a:lnTo>
                <a:lnTo>
                  <a:pt x="16060" y="5694"/>
                </a:lnTo>
                <a:lnTo>
                  <a:pt x="16108" y="5621"/>
                </a:lnTo>
                <a:lnTo>
                  <a:pt x="16133" y="5524"/>
                </a:lnTo>
                <a:lnTo>
                  <a:pt x="16376" y="5208"/>
                </a:lnTo>
                <a:lnTo>
                  <a:pt x="16595" y="4891"/>
                </a:lnTo>
                <a:lnTo>
                  <a:pt x="16814" y="4551"/>
                </a:lnTo>
                <a:lnTo>
                  <a:pt x="16984" y="4210"/>
                </a:lnTo>
                <a:lnTo>
                  <a:pt x="17106" y="3845"/>
                </a:lnTo>
                <a:lnTo>
                  <a:pt x="17203" y="3480"/>
                </a:lnTo>
                <a:lnTo>
                  <a:pt x="17228" y="3140"/>
                </a:lnTo>
                <a:lnTo>
                  <a:pt x="17203" y="2799"/>
                </a:lnTo>
                <a:lnTo>
                  <a:pt x="17130" y="2458"/>
                </a:lnTo>
                <a:lnTo>
                  <a:pt x="17009" y="2142"/>
                </a:lnTo>
                <a:lnTo>
                  <a:pt x="16863" y="1826"/>
                </a:lnTo>
                <a:lnTo>
                  <a:pt x="16668" y="1534"/>
                </a:lnTo>
                <a:lnTo>
                  <a:pt x="16449" y="1266"/>
                </a:lnTo>
                <a:lnTo>
                  <a:pt x="16230" y="998"/>
                </a:lnTo>
                <a:lnTo>
                  <a:pt x="15962" y="779"/>
                </a:lnTo>
                <a:lnTo>
                  <a:pt x="15670" y="560"/>
                </a:lnTo>
                <a:lnTo>
                  <a:pt x="15354" y="390"/>
                </a:lnTo>
                <a:lnTo>
                  <a:pt x="15013" y="244"/>
                </a:lnTo>
                <a:lnTo>
                  <a:pt x="14673" y="122"/>
                </a:lnTo>
                <a:lnTo>
                  <a:pt x="14332" y="49"/>
                </a:lnTo>
                <a:lnTo>
                  <a:pt x="13967"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17"/>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19</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R. C. Martin-féle csomagmetrikák</a:t>
            </a:r>
            <a:r>
              <a:rPr lang="en-US" dirty="0"/>
              <a:t> I.</a:t>
            </a:r>
            <a:endParaRPr dirty="0"/>
          </a:p>
        </p:txBody>
      </p:sp>
      <p:sp>
        <p:nvSpPr>
          <p:cNvPr id="152" name="Google Shape;152;p20"/>
          <p:cNvSpPr txBox="1">
            <a:spLocks noGrp="1"/>
          </p:cNvSpPr>
          <p:nvPr>
            <p:ph type="body" idx="1"/>
          </p:nvPr>
        </p:nvSpPr>
        <p:spPr>
          <a:xfrm>
            <a:off x="426350" y="1577050"/>
            <a:ext cx="3924600" cy="4967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2400" dirty="0" err="1"/>
              <a:t>Effered</a:t>
            </a:r>
            <a:r>
              <a:rPr lang="hu-HU" sz="2400" dirty="0"/>
              <a:t> </a:t>
            </a:r>
            <a:r>
              <a:rPr lang="hu-HU" sz="2400" dirty="0" err="1"/>
              <a:t>Coupling</a:t>
            </a:r>
            <a:r>
              <a:rPr lang="hu-HU" sz="2400" dirty="0"/>
              <a:t> (</a:t>
            </a:r>
            <a:r>
              <a:rPr lang="hu-HU" sz="2400" dirty="0" err="1"/>
              <a:t>Ce</a:t>
            </a:r>
            <a:r>
              <a:rPr lang="hu-HU" sz="2400" dirty="0"/>
              <a:t>) </a:t>
            </a:r>
          </a:p>
          <a:p>
            <a:pPr marL="0" lvl="0" indent="0" algn="l" rtl="0">
              <a:spcBef>
                <a:spcPts val="600"/>
              </a:spcBef>
              <a:spcAft>
                <a:spcPts val="0"/>
              </a:spcAft>
              <a:buNone/>
            </a:pPr>
            <a:r>
              <a:rPr lang="hu-HU" sz="2000" dirty="0"/>
              <a:t>- a</a:t>
            </a:r>
            <a:r>
              <a:rPr lang="en-US" sz="2000" dirty="0" err="1"/>
              <a:t>zon</a:t>
            </a:r>
            <a:r>
              <a:rPr lang="en-US" sz="2000" dirty="0"/>
              <a:t> </a:t>
            </a:r>
            <a:r>
              <a:rPr lang="en-US" sz="2000" dirty="0" err="1"/>
              <a:t>mo</a:t>
            </a:r>
            <a:r>
              <a:rPr lang="hu-HU" sz="2000" dirty="0"/>
              <a:t>d</a:t>
            </a:r>
            <a:r>
              <a:rPr lang="en-US" sz="2000" dirty="0" err="1"/>
              <a:t>ulok</a:t>
            </a:r>
            <a:r>
              <a:rPr lang="en-US" sz="2000" dirty="0"/>
              <a:t> </a:t>
            </a:r>
            <a:r>
              <a:rPr lang="en-US" sz="2000" dirty="0" err="1"/>
              <a:t>sz</a:t>
            </a:r>
            <a:r>
              <a:rPr lang="hu-HU" sz="2000" dirty="0" err="1"/>
              <a:t>áma</a:t>
            </a:r>
            <a:r>
              <a:rPr lang="hu-HU" sz="2000" dirty="0"/>
              <a:t>, amelyektől függ</a:t>
            </a:r>
          </a:p>
          <a:p>
            <a:pPr marL="0" lvl="0" indent="0" algn="l" rtl="0">
              <a:spcBef>
                <a:spcPts val="600"/>
              </a:spcBef>
              <a:spcAft>
                <a:spcPts val="0"/>
              </a:spcAft>
              <a:buNone/>
            </a:pPr>
            <a:endParaRPr lang="en-US" sz="2400" dirty="0"/>
          </a:p>
          <a:p>
            <a:pPr marL="0" lvl="0" indent="0" algn="l" rtl="0">
              <a:spcBef>
                <a:spcPts val="600"/>
              </a:spcBef>
              <a:spcAft>
                <a:spcPts val="0"/>
              </a:spcAft>
              <a:buNone/>
            </a:pPr>
            <a:r>
              <a:rPr lang="hu-HU" sz="2400" dirty="0" err="1"/>
              <a:t>Affered</a:t>
            </a:r>
            <a:r>
              <a:rPr lang="hu-HU" sz="2400" dirty="0"/>
              <a:t> </a:t>
            </a:r>
            <a:r>
              <a:rPr lang="hu-HU" sz="2400" dirty="0" err="1"/>
              <a:t>Coupling</a:t>
            </a:r>
            <a:r>
              <a:rPr lang="hu-HU" sz="2400" dirty="0"/>
              <a:t> (</a:t>
            </a:r>
            <a:r>
              <a:rPr lang="hu-HU" sz="2400" dirty="0" err="1"/>
              <a:t>Ca</a:t>
            </a:r>
            <a:r>
              <a:rPr lang="hu-HU" sz="2400" dirty="0"/>
              <a:t>)</a:t>
            </a:r>
          </a:p>
          <a:p>
            <a:pPr marL="0" lvl="0" indent="0" algn="l" rtl="0">
              <a:spcBef>
                <a:spcPts val="600"/>
              </a:spcBef>
              <a:spcAft>
                <a:spcPts val="0"/>
              </a:spcAft>
              <a:buNone/>
            </a:pPr>
            <a:r>
              <a:rPr lang="hu-HU" sz="2000" dirty="0"/>
              <a:t>- azon modulok száma, amely tőle függenek</a:t>
            </a:r>
            <a:endParaRPr sz="2000" dirty="0"/>
          </a:p>
        </p:txBody>
      </p:sp>
      <p:grpSp>
        <p:nvGrpSpPr>
          <p:cNvPr id="153" name="Google Shape;153;p20"/>
          <p:cNvGrpSpPr/>
          <p:nvPr/>
        </p:nvGrpSpPr>
        <p:grpSpPr>
          <a:xfrm rot="5400000">
            <a:off x="4976066" y="1581847"/>
            <a:ext cx="3945636" cy="3790142"/>
            <a:chOff x="5708850" y="3417450"/>
            <a:chExt cx="2931161" cy="2815646"/>
          </a:xfrm>
        </p:grpSpPr>
        <p:sp>
          <p:nvSpPr>
            <p:cNvPr id="154" name="Google Shape;154;p20"/>
            <p:cNvSpPr/>
            <p:nvPr/>
          </p:nvSpPr>
          <p:spPr>
            <a:xfrm>
              <a:off x="6102011" y="3942011"/>
              <a:ext cx="2283300" cy="2283300"/>
            </a:xfrm>
            <a:prstGeom prst="rect">
              <a:avLst/>
            </a:prstGeom>
            <a:noFill/>
            <a:ln w="9525" cap="flat" cmpd="sng">
              <a:solidFill>
                <a:srgbClr val="FFFFFF"/>
              </a:solidFill>
              <a:prstDash val="dash"/>
              <a:miter lim="8000"/>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155;p20"/>
            <p:cNvSpPr/>
            <p:nvPr/>
          </p:nvSpPr>
          <p:spPr>
            <a:xfrm>
              <a:off x="8516561" y="3942000"/>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56" name="Google Shape;156;p20"/>
            <p:cNvSpPr/>
            <p:nvPr/>
          </p:nvSpPr>
          <p:spPr>
            <a:xfrm rot="-5400000">
              <a:off x="7180125" y="2605525"/>
              <a:ext cx="123450" cy="2275725"/>
            </a:xfrm>
            <a:custGeom>
              <a:avLst/>
              <a:gdLst/>
              <a:ahLst/>
              <a:cxnLst/>
              <a:rect l="l" t="t" r="r" b="b"/>
              <a:pathLst>
                <a:path w="4938" h="91029" extrusionOk="0">
                  <a:moveTo>
                    <a:pt x="0" y="0"/>
                  </a:moveTo>
                  <a:lnTo>
                    <a:pt x="4938" y="0"/>
                  </a:lnTo>
                  <a:lnTo>
                    <a:pt x="4938" y="91029"/>
                  </a:lnTo>
                  <a:lnTo>
                    <a:pt x="0" y="91029"/>
                  </a:lnTo>
                </a:path>
              </a:pathLst>
            </a:custGeom>
            <a:noFill/>
            <a:ln w="9525" cap="flat" cmpd="sng">
              <a:solidFill>
                <a:srgbClr val="FFFFFF"/>
              </a:solidFill>
              <a:prstDash val="solid"/>
              <a:miter lim="8000"/>
              <a:headEnd type="none" w="med" len="med"/>
              <a:tailEnd type="none" w="med" len="med"/>
            </a:ln>
          </p:spPr>
        </p:sp>
        <p:sp>
          <p:nvSpPr>
            <p:cNvPr id="157" name="Google Shape;157;p20"/>
            <p:cNvSpPr/>
            <p:nvPr/>
          </p:nvSpPr>
          <p:spPr>
            <a:xfrm rot="-5400000">
              <a:off x="5708850" y="3417450"/>
              <a:ext cx="1326900" cy="1326900"/>
            </a:xfrm>
            <a:prstGeom prst="arc">
              <a:avLst>
                <a:gd name="adj1" fmla="val 16200000"/>
                <a:gd name="adj2" fmla="val 0"/>
              </a:avLst>
            </a:prstGeom>
            <a:noFill/>
            <a:ln w="9525" cap="flat" cmpd="sng">
              <a:solidFill>
                <a:srgbClr val="FFFFFF"/>
              </a:solidFill>
              <a:prstDash val="dash"/>
              <a:round/>
              <a:headEnd type="triangle" w="sm" len="sm"/>
              <a:tailEnd type="triangl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58" name="Google Shape;158;p20"/>
            <p:cNvCxnSpPr/>
            <p:nvPr/>
          </p:nvCxnSpPr>
          <p:spPr>
            <a:xfrm>
              <a:off x="6109725" y="3957425"/>
              <a:ext cx="2268000" cy="2268000"/>
            </a:xfrm>
            <a:prstGeom prst="straightConnector1">
              <a:avLst/>
            </a:prstGeom>
            <a:noFill/>
            <a:ln w="9525" cap="flat" cmpd="sng">
              <a:solidFill>
                <a:srgbClr val="FFFFFF"/>
              </a:solidFill>
              <a:prstDash val="dash"/>
              <a:round/>
              <a:headEnd type="none" w="med" len="med"/>
              <a:tailEnd type="none" w="med" len="med"/>
            </a:ln>
          </p:spPr>
        </p:cxnSp>
        <p:cxnSp>
          <p:nvCxnSpPr>
            <p:cNvPr id="159" name="Google Shape;159;p20"/>
            <p:cNvCxnSpPr/>
            <p:nvPr/>
          </p:nvCxnSpPr>
          <p:spPr>
            <a:xfrm flipH="1">
              <a:off x="6102050" y="3941996"/>
              <a:ext cx="2291100" cy="2291100"/>
            </a:xfrm>
            <a:prstGeom prst="straightConnector1">
              <a:avLst/>
            </a:prstGeom>
            <a:noFill/>
            <a:ln w="9525" cap="flat" cmpd="sng">
              <a:solidFill>
                <a:srgbClr val="FFFFFF"/>
              </a:solidFill>
              <a:prstDash val="dash"/>
              <a:round/>
              <a:headEnd type="none" w="med" len="med"/>
              <a:tailEnd type="none" w="med" len="med"/>
            </a:ln>
          </p:spPr>
        </p:cxnSp>
        <p:cxnSp>
          <p:nvCxnSpPr>
            <p:cNvPr id="160" name="Google Shape;160;p20"/>
            <p:cNvCxnSpPr/>
            <p:nvPr/>
          </p:nvCxnSpPr>
          <p:spPr>
            <a:xfrm>
              <a:off x="5978575" y="3949725"/>
              <a:ext cx="0" cy="2283300"/>
            </a:xfrm>
            <a:prstGeom prst="straightConnector1">
              <a:avLst/>
            </a:prstGeom>
            <a:noFill/>
            <a:ln w="9525" cap="flat" cmpd="sng">
              <a:solidFill>
                <a:srgbClr val="FFFFFF"/>
              </a:solidFill>
              <a:prstDash val="solid"/>
              <a:round/>
              <a:headEnd type="triangle" w="sm" len="sm"/>
              <a:tailEnd type="triangle" w="sm" len="sm"/>
            </a:ln>
          </p:spPr>
        </p:cxnSp>
      </p:grpSp>
      <p:pic>
        <p:nvPicPr>
          <p:cNvPr id="161" name="Google Shape;161;p20"/>
          <p:cNvPicPr preferRelativeResize="0"/>
          <p:nvPr/>
        </p:nvPicPr>
        <p:blipFill>
          <a:blip r:embed="rId3"/>
          <a:stretch>
            <a:fillRect/>
          </a:stretch>
        </p:blipFill>
        <p:spPr>
          <a:xfrm>
            <a:off x="5400843" y="2238400"/>
            <a:ext cx="2392289" cy="2682050"/>
          </a:xfrm>
          <a:prstGeom prst="rect">
            <a:avLst/>
          </a:prstGeom>
          <a:noFill/>
          <a:ln>
            <a:noFill/>
          </a:ln>
        </p:spPr>
      </p:pic>
      <p:sp>
        <p:nvSpPr>
          <p:cNvPr id="162" name="Google Shape;162;p20"/>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20</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
        <p:nvSpPr>
          <p:cNvPr id="14" name="Google Shape;227;p25">
            <a:extLst>
              <a:ext uri="{FF2B5EF4-FFF2-40B4-BE49-F238E27FC236}">
                <a16:creationId xmlns:a16="http://schemas.microsoft.com/office/drawing/2014/main" id="{E52905AA-8B92-4D34-A769-E7103EE10775}"/>
              </a:ext>
            </a:extLst>
          </p:cNvPr>
          <p:cNvSpPr txBox="1">
            <a:spLocks/>
          </p:cNvSpPr>
          <p:nvPr/>
        </p:nvSpPr>
        <p:spPr>
          <a:xfrm>
            <a:off x="2253005" y="5366648"/>
            <a:ext cx="6590949" cy="104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FFFFFF"/>
              </a:buClr>
              <a:buSzPts val="3000"/>
              <a:buFont typeface="Cousine"/>
              <a:buChar char="▪"/>
              <a:defRPr sz="3000" b="0" i="0" u="none" strike="noStrike" cap="none">
                <a:solidFill>
                  <a:srgbClr val="FFFFFF"/>
                </a:solidFill>
                <a:latin typeface="Cousine"/>
                <a:ea typeface="Cousine"/>
                <a:cs typeface="Cousine"/>
                <a:sym typeface="Cousine"/>
              </a:defRPr>
            </a:lvl1pPr>
            <a:lvl2pPr marL="914400" marR="0" lvl="1"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2pPr>
            <a:lvl3pPr marL="1371600" marR="0" lvl="2"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3pPr>
            <a:lvl4pPr marL="1828800" marR="0" lvl="3"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4pPr>
            <a:lvl5pPr marL="2286000" marR="0" lvl="4"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5pPr>
            <a:lvl6pPr marL="2743200" marR="0" lvl="5"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6pPr>
            <a:lvl7pPr marL="3200400" marR="0" lvl="6"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7pPr>
            <a:lvl8pPr marL="3657600" marR="0" lvl="7"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8pPr>
            <a:lvl9pPr marL="4114800" marR="0" lvl="8"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9pPr>
          </a:lstStyle>
          <a:p>
            <a:pPr marL="0" marR="0" lvl="0" indent="0" algn="l" defTabSz="914400" rtl="0" eaLnBrk="1" fontAlgn="auto" latinLnBrk="0" hangingPunct="1">
              <a:lnSpc>
                <a:spcPct val="100000"/>
              </a:lnSpc>
              <a:spcBef>
                <a:spcPts val="600"/>
              </a:spcBef>
              <a:spcAft>
                <a:spcPts val="0"/>
              </a:spcAft>
              <a:buClr>
                <a:srgbClr val="FFFFFF"/>
              </a:buClr>
              <a:buSzPts val="3000"/>
              <a:buFont typeface="Cousine"/>
              <a:buNone/>
              <a:tabLst/>
              <a:defRPr/>
            </a:pPr>
            <a:r>
              <a:rPr kumimoji="0" lang="hu-HU" sz="1600" b="0" i="0" u="none" strike="noStrike" kern="0" cap="none" spc="0" normalizeH="0" baseline="0" noProof="0" dirty="0">
                <a:ln>
                  <a:noFill/>
                </a:ln>
                <a:solidFill>
                  <a:srgbClr val="FFFFFF"/>
                </a:solidFill>
                <a:effectLst/>
                <a:uLnTx/>
                <a:uFillTx/>
                <a:latin typeface="Cousine"/>
                <a:cs typeface="Cousine"/>
                <a:sym typeface="Cousine"/>
              </a:rPr>
              <a:t>Minden modul egy fehér doboz. Az </a:t>
            </a:r>
            <a:r>
              <a:rPr kumimoji="0" lang="en-US" sz="1600" b="0" i="0" u="none" strike="noStrike" kern="0" cap="none" spc="0" normalizeH="0" baseline="0" noProof="0" dirty="0">
                <a:ln>
                  <a:noFill/>
                </a:ln>
                <a:solidFill>
                  <a:srgbClr val="FFFFFF"/>
                </a:solidFill>
                <a:effectLst/>
                <a:uLnTx/>
                <a:uFillTx/>
                <a:latin typeface="Cousine"/>
                <a:cs typeface="Cousine"/>
                <a:sym typeface="Cousine"/>
              </a:rPr>
              <a:t>”</a:t>
            </a:r>
            <a:r>
              <a:rPr kumimoji="0" lang="hu-HU" sz="1600" b="0" i="0" u="none" strike="noStrike" kern="0" cap="none" spc="0" normalizeH="0" baseline="0" noProof="0" dirty="0" err="1">
                <a:ln>
                  <a:noFill/>
                </a:ln>
                <a:solidFill>
                  <a:srgbClr val="FFFFFF"/>
                </a:solidFill>
                <a:effectLst/>
                <a:uLnTx/>
                <a:uFillTx/>
                <a:latin typeface="Cousine"/>
                <a:cs typeface="Cousine"/>
                <a:sym typeface="Cousine"/>
              </a:rPr>
              <a:t>efferent</a:t>
            </a:r>
            <a:r>
              <a:rPr kumimoji="0" lang="hu-HU" sz="1600" b="0" i="0" u="none" strike="noStrike" kern="0" cap="none" spc="0" normalizeH="0" baseline="0" noProof="0" dirty="0">
                <a:ln>
                  <a:noFill/>
                </a:ln>
                <a:solidFill>
                  <a:srgbClr val="FFFFFF"/>
                </a:solidFill>
                <a:effectLst/>
                <a:uLnTx/>
                <a:uFillTx/>
                <a:latin typeface="Cousine"/>
                <a:cs typeface="Cousine"/>
                <a:sym typeface="Cousine"/>
              </a:rPr>
              <a:t> </a:t>
            </a:r>
            <a:r>
              <a:rPr kumimoji="0" lang="hu-HU" sz="1600" b="0" i="0" u="none" strike="noStrike" kern="0" cap="none" spc="0" normalizeH="0" baseline="0" noProof="0" dirty="0" err="1">
                <a:ln>
                  <a:noFill/>
                </a:ln>
                <a:solidFill>
                  <a:srgbClr val="FFFFFF"/>
                </a:solidFill>
                <a:effectLst/>
                <a:uLnTx/>
                <a:uFillTx/>
                <a:latin typeface="Cousine"/>
                <a:cs typeface="Cousine"/>
                <a:sym typeface="Cousine"/>
              </a:rPr>
              <a:t>coupling</a:t>
            </a:r>
            <a:r>
              <a:rPr kumimoji="0" lang="en-US" sz="1600" b="0" i="0" u="none" strike="noStrike" kern="0" cap="none" spc="0" normalizeH="0" baseline="0" noProof="0" dirty="0">
                <a:ln>
                  <a:noFill/>
                </a:ln>
                <a:solidFill>
                  <a:srgbClr val="FFFFFF"/>
                </a:solidFill>
                <a:effectLst/>
                <a:uLnTx/>
                <a:uFillTx/>
                <a:latin typeface="Cousine"/>
                <a:cs typeface="Cousine"/>
                <a:sym typeface="Cousine"/>
              </a:rPr>
              <a:t>” </a:t>
            </a:r>
            <a:r>
              <a:rPr kumimoji="0" lang="hu-HU" sz="1600" b="0" i="0" u="none" strike="noStrike" kern="0" cap="none" spc="0" normalizeH="0" baseline="0" noProof="0" dirty="0">
                <a:ln>
                  <a:noFill/>
                </a:ln>
                <a:solidFill>
                  <a:srgbClr val="FFFFFF"/>
                </a:solidFill>
                <a:effectLst/>
                <a:uLnTx/>
                <a:uFillTx/>
                <a:latin typeface="Cousine"/>
                <a:cs typeface="Cousine"/>
                <a:sym typeface="Cousine"/>
              </a:rPr>
              <a:t>a</a:t>
            </a:r>
            <a:r>
              <a:rPr kumimoji="0" lang="en-US" sz="1600" b="0" i="0" u="none" strike="noStrike" kern="0" cap="none" spc="0" normalizeH="0" baseline="0" noProof="0" dirty="0">
                <a:ln>
                  <a:noFill/>
                </a:ln>
                <a:solidFill>
                  <a:srgbClr val="FFFFFF"/>
                </a:solidFill>
                <a:effectLst/>
                <a:uLnTx/>
                <a:uFillTx/>
                <a:latin typeface="Cousine"/>
                <a:cs typeface="Cousine"/>
                <a:sym typeface="Cousine"/>
              </a:rPr>
              <a:t> </a:t>
            </a:r>
            <a:r>
              <a:rPr kumimoji="0" lang="hu-HU" sz="1600" b="0" i="0" u="none" strike="noStrike" kern="0" cap="none" spc="0" normalizeH="0" baseline="0" noProof="0" dirty="0">
                <a:ln>
                  <a:noFill/>
                </a:ln>
                <a:solidFill>
                  <a:srgbClr val="FFFFFF"/>
                </a:solidFill>
                <a:effectLst/>
                <a:uLnTx/>
                <a:uFillTx/>
                <a:latin typeface="Cousine"/>
                <a:cs typeface="Cousine"/>
                <a:sym typeface="Cousine"/>
              </a:rPr>
              <a:t>piros színű modulok száma (</a:t>
            </a:r>
            <a:r>
              <a:rPr kumimoji="0" lang="en-US" sz="1600" b="0" i="0" u="none" strike="noStrike" kern="0" cap="none" spc="0" normalizeH="0" baseline="0" noProof="0" dirty="0">
                <a:ln>
                  <a:noFill/>
                </a:ln>
                <a:solidFill>
                  <a:srgbClr val="FFFFFF"/>
                </a:solidFill>
                <a:effectLst/>
                <a:uLnTx/>
                <a:uFillTx/>
                <a:latin typeface="Cousine"/>
                <a:cs typeface="Cousine"/>
                <a:sym typeface="Cousine"/>
              </a:rPr>
              <a:t>2)</a:t>
            </a:r>
            <a:r>
              <a:rPr kumimoji="0" lang="hu-HU" sz="1600" b="0" i="0" u="none" strike="noStrike" kern="0" cap="none" spc="0" normalizeH="0" baseline="0" noProof="0" dirty="0">
                <a:ln>
                  <a:noFill/>
                </a:ln>
                <a:solidFill>
                  <a:srgbClr val="FFFFFF"/>
                </a:solidFill>
                <a:effectLst/>
                <a:uLnTx/>
                <a:uFillTx/>
                <a:latin typeface="Cousine"/>
                <a:cs typeface="Cousine"/>
                <a:sym typeface="Cousine"/>
              </a:rPr>
              <a:t>, </a:t>
            </a:r>
            <a:r>
              <a:rPr kumimoji="0" lang="en-US" sz="1600" b="0" i="0" u="none" strike="noStrike" kern="0" cap="none" spc="0" normalizeH="0" baseline="0" noProof="0" dirty="0">
                <a:ln>
                  <a:noFill/>
                </a:ln>
                <a:solidFill>
                  <a:srgbClr val="FFFFFF"/>
                </a:solidFill>
                <a:effectLst/>
                <a:uLnTx/>
                <a:uFillTx/>
                <a:latin typeface="Cousine"/>
                <a:cs typeface="Cousine"/>
                <a:sym typeface="Cousine"/>
              </a:rPr>
              <a:t>m</a:t>
            </a:r>
            <a:r>
              <a:rPr kumimoji="0" lang="hu-HU" sz="1600" b="0" i="0" u="none" strike="noStrike" kern="0" cap="none" spc="0" normalizeH="0" baseline="0" noProof="0" dirty="0" err="1">
                <a:ln>
                  <a:noFill/>
                </a:ln>
                <a:solidFill>
                  <a:srgbClr val="FFFFFF"/>
                </a:solidFill>
                <a:effectLst/>
                <a:uLnTx/>
                <a:uFillTx/>
                <a:latin typeface="Cousine"/>
                <a:cs typeface="Cousine"/>
                <a:sym typeface="Cousine"/>
              </a:rPr>
              <a:t>íg</a:t>
            </a:r>
            <a:r>
              <a:rPr kumimoji="0" lang="hu-HU" sz="1600" b="0" i="0" u="none" strike="noStrike" kern="0" cap="none" spc="0" normalizeH="0" baseline="0" noProof="0" dirty="0">
                <a:ln>
                  <a:noFill/>
                </a:ln>
                <a:solidFill>
                  <a:srgbClr val="FFFFFF"/>
                </a:solidFill>
                <a:effectLst/>
                <a:uLnTx/>
                <a:uFillTx/>
                <a:latin typeface="Cousine"/>
                <a:cs typeface="Cousine"/>
                <a:sym typeface="Cousine"/>
              </a:rPr>
              <a:t> az </a:t>
            </a:r>
            <a:r>
              <a:rPr kumimoji="0" lang="en-US" sz="1600" b="0" i="0" u="none" strike="noStrike" kern="0" cap="none" spc="0" normalizeH="0" baseline="0" noProof="0" dirty="0">
                <a:ln>
                  <a:noFill/>
                </a:ln>
                <a:solidFill>
                  <a:srgbClr val="FFFFFF"/>
                </a:solidFill>
                <a:effectLst/>
                <a:uLnTx/>
                <a:uFillTx/>
                <a:latin typeface="Cousine"/>
                <a:cs typeface="Cousine"/>
                <a:sym typeface="Cousine"/>
              </a:rPr>
              <a:t>”</a:t>
            </a:r>
            <a:r>
              <a:rPr kumimoji="0" lang="hu-HU" sz="1600" b="0" i="0" u="none" strike="noStrike" kern="0" cap="none" spc="0" normalizeH="0" baseline="0" noProof="0" dirty="0" err="1">
                <a:ln>
                  <a:noFill/>
                </a:ln>
                <a:solidFill>
                  <a:srgbClr val="FFFFFF"/>
                </a:solidFill>
                <a:effectLst/>
                <a:uLnTx/>
                <a:uFillTx/>
                <a:latin typeface="Cousine"/>
                <a:cs typeface="Cousine"/>
                <a:sym typeface="Cousine"/>
              </a:rPr>
              <a:t>afferent</a:t>
            </a:r>
            <a:r>
              <a:rPr kumimoji="0" lang="hu-HU" sz="1600" b="0" i="0" u="none" strike="noStrike" kern="0" cap="none" spc="0" normalizeH="0" baseline="0" noProof="0" dirty="0">
                <a:ln>
                  <a:noFill/>
                </a:ln>
                <a:solidFill>
                  <a:srgbClr val="FFFFFF"/>
                </a:solidFill>
                <a:effectLst/>
                <a:uLnTx/>
                <a:uFillTx/>
                <a:latin typeface="Cousine"/>
                <a:cs typeface="Cousine"/>
                <a:sym typeface="Cousine"/>
              </a:rPr>
              <a:t> </a:t>
            </a:r>
            <a:r>
              <a:rPr kumimoji="0" lang="hu-HU" sz="1600" b="0" i="0" u="none" strike="noStrike" kern="0" cap="none" spc="0" normalizeH="0" baseline="0" noProof="0" dirty="0" err="1">
                <a:ln>
                  <a:noFill/>
                </a:ln>
                <a:solidFill>
                  <a:srgbClr val="FFFFFF"/>
                </a:solidFill>
                <a:effectLst/>
                <a:uLnTx/>
                <a:uFillTx/>
                <a:latin typeface="Cousine"/>
                <a:cs typeface="Cousine"/>
                <a:sym typeface="Cousine"/>
              </a:rPr>
              <a:t>coupling</a:t>
            </a:r>
            <a:r>
              <a:rPr kumimoji="0" lang="en-US" sz="1600" b="0" i="0" u="none" strike="noStrike" kern="0" cap="none" spc="0" normalizeH="0" baseline="0" noProof="0" dirty="0">
                <a:ln>
                  <a:noFill/>
                </a:ln>
                <a:solidFill>
                  <a:srgbClr val="FFFFFF"/>
                </a:solidFill>
                <a:effectLst/>
                <a:uLnTx/>
                <a:uFillTx/>
                <a:latin typeface="Cousine"/>
                <a:cs typeface="Cousine"/>
                <a:sym typeface="Cousine"/>
              </a:rPr>
              <a:t>”</a:t>
            </a:r>
            <a:r>
              <a:rPr kumimoji="0" lang="hu-HU" sz="1600" b="0" i="0" u="none" strike="noStrike" kern="0" cap="none" spc="0" normalizeH="0" baseline="0" noProof="0" dirty="0">
                <a:ln>
                  <a:noFill/>
                </a:ln>
                <a:solidFill>
                  <a:srgbClr val="FFFFFF"/>
                </a:solidFill>
                <a:effectLst/>
                <a:uLnTx/>
                <a:uFillTx/>
                <a:latin typeface="Cousine"/>
                <a:cs typeface="Cousine"/>
                <a:sym typeface="Cousine"/>
              </a:rPr>
              <a:t> a kékre színezett modulok száma (2).</a:t>
            </a:r>
            <a:endParaRPr kumimoji="0" lang="en-US" sz="1600" b="0" i="0" u="none" strike="noStrike" kern="0" cap="none" spc="0" normalizeH="0" baseline="0" noProof="0" dirty="0">
              <a:ln>
                <a:noFill/>
              </a:ln>
              <a:solidFill>
                <a:srgbClr val="FFFFFF"/>
              </a:solidFill>
              <a:effectLst/>
              <a:uLnTx/>
              <a:uFillTx/>
              <a:latin typeface="Cousine"/>
              <a:cs typeface="Cousine"/>
              <a:sym typeface="Cousin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R. C. Martin-féle csomagmetrikák</a:t>
            </a:r>
            <a:r>
              <a:rPr lang="en-US" dirty="0"/>
              <a:t> II.</a:t>
            </a:r>
            <a:endParaRPr dirty="0"/>
          </a:p>
        </p:txBody>
      </p:sp>
      <p:sp>
        <p:nvSpPr>
          <p:cNvPr id="110" name="Google Shape;110;p16"/>
          <p:cNvSpPr txBox="1">
            <a:spLocks noGrp="1"/>
          </p:cNvSpPr>
          <p:nvPr>
            <p:ph type="body" idx="1"/>
          </p:nvPr>
        </p:nvSpPr>
        <p:spPr>
          <a:xfrm>
            <a:off x="343225" y="1500000"/>
            <a:ext cx="8290800" cy="4851900"/>
          </a:xfrm>
          <a:prstGeom prst="rect">
            <a:avLst/>
          </a:prstGeom>
        </p:spPr>
        <p:txBody>
          <a:bodyPr spcFirstLastPara="1" wrap="square" lIns="91425" tIns="91425" rIns="91425" bIns="91425" anchor="t" anchorCtr="0">
            <a:noAutofit/>
          </a:bodyPr>
          <a:lstStyle/>
          <a:p>
            <a:pPr marL="457200" lvl="0" indent="-419100" algn="l" rtl="0">
              <a:spcBef>
                <a:spcPts val="0"/>
              </a:spcBef>
              <a:spcAft>
                <a:spcPts val="0"/>
              </a:spcAft>
              <a:buSzPts val="3000"/>
              <a:buChar char="▪"/>
            </a:pPr>
            <a:r>
              <a:rPr lang="hu-HU" sz="2800" dirty="0" err="1"/>
              <a:t>Abstractness</a:t>
            </a:r>
            <a:r>
              <a:rPr lang="hu-HU" sz="2800" dirty="0"/>
              <a:t> (A)</a:t>
            </a:r>
          </a:p>
          <a:p>
            <a:pPr lvl="1" indent="-419100">
              <a:buSzPts val="3000"/>
              <a:buChar char="▪"/>
            </a:pPr>
            <a:r>
              <a:rPr lang="hu-HU" sz="2000" dirty="0"/>
              <a:t>absztrakt osztályok és az összes osztály aránya</a:t>
            </a:r>
          </a:p>
          <a:p>
            <a:r>
              <a:rPr lang="hu-HU" sz="2800" dirty="0" err="1"/>
              <a:t>Instability</a:t>
            </a:r>
            <a:r>
              <a:rPr lang="hu-HU" sz="2800" dirty="0"/>
              <a:t> (I)</a:t>
            </a:r>
          </a:p>
          <a:p>
            <a:pPr lvl="1" indent="-419100">
              <a:buSzPts val="3000"/>
              <a:buChar char="▪"/>
            </a:pPr>
            <a:r>
              <a:rPr lang="hu-HU" sz="2000" dirty="0"/>
              <a:t>I </a:t>
            </a:r>
            <a:r>
              <a:rPr lang="en-US" sz="2000" dirty="0"/>
              <a:t>= Ce / (Ce + Ca)</a:t>
            </a:r>
          </a:p>
          <a:p>
            <a:pPr lvl="1" indent="-419100">
              <a:buSzPts val="3000"/>
              <a:buChar char="▪"/>
            </a:pPr>
            <a:r>
              <a:rPr lang="en-US" sz="2000" dirty="0"/>
              <a:t>I = 0 – a </a:t>
            </a:r>
            <a:r>
              <a:rPr lang="en-US" sz="2000" dirty="0" err="1"/>
              <a:t>csomag</a:t>
            </a:r>
            <a:r>
              <a:rPr lang="en-US" sz="2000" dirty="0"/>
              <a:t> max. </a:t>
            </a:r>
            <a:r>
              <a:rPr lang="en-US" sz="2000" dirty="0" err="1"/>
              <a:t>stabil</a:t>
            </a:r>
            <a:r>
              <a:rPr lang="en-US" sz="2000" dirty="0"/>
              <a:t>, </a:t>
            </a:r>
            <a:r>
              <a:rPr lang="en-US" sz="2000" dirty="0" err="1"/>
              <a:t>nem</a:t>
            </a:r>
            <a:r>
              <a:rPr lang="en-US" sz="2000" dirty="0"/>
              <a:t> f</a:t>
            </a:r>
            <a:r>
              <a:rPr lang="hu-HU" sz="2000" dirty="0" err="1"/>
              <a:t>ügg</a:t>
            </a:r>
            <a:r>
              <a:rPr lang="hu-HU" sz="2000" dirty="0"/>
              <a:t> más csomagtól</a:t>
            </a:r>
          </a:p>
          <a:p>
            <a:pPr marL="457200" lvl="0" indent="-419100" algn="l" rtl="0">
              <a:spcBef>
                <a:spcPts val="0"/>
              </a:spcBef>
              <a:spcAft>
                <a:spcPts val="0"/>
              </a:spcAft>
              <a:buSzPts val="3000"/>
              <a:buChar char="▪"/>
            </a:pPr>
            <a:r>
              <a:rPr lang="hu-HU" sz="2800" dirty="0" err="1"/>
              <a:t>Distance</a:t>
            </a:r>
            <a:r>
              <a:rPr lang="hu-HU" sz="2800" dirty="0"/>
              <a:t> (D)</a:t>
            </a:r>
          </a:p>
          <a:p>
            <a:pPr lvl="1" indent="-419100">
              <a:buSzPts val="3000"/>
              <a:buChar char="▪"/>
            </a:pPr>
            <a:r>
              <a:rPr lang="hu-HU" sz="2000" dirty="0"/>
              <a:t>D </a:t>
            </a:r>
            <a:r>
              <a:rPr lang="en-US" sz="2000" dirty="0"/>
              <a:t>= (A + I -</a:t>
            </a:r>
            <a:r>
              <a:rPr lang="hu-HU" sz="2000" dirty="0"/>
              <a:t> </a:t>
            </a:r>
            <a:r>
              <a:rPr lang="en-US" sz="2000" dirty="0"/>
              <a:t>1)/sqrt(2)</a:t>
            </a:r>
            <a:endParaRPr lang="hu-HU" sz="2000" dirty="0"/>
          </a:p>
          <a:p>
            <a:pPr marL="495300" lvl="1" indent="0">
              <a:buSzPts val="3000"/>
              <a:buNone/>
            </a:pPr>
            <a:r>
              <a:rPr lang="hu-HU" sz="2000" dirty="0"/>
              <a:t>	vagy normalizálva</a:t>
            </a:r>
            <a:endParaRPr lang="en-US" sz="2000" dirty="0"/>
          </a:p>
          <a:p>
            <a:pPr lvl="1" indent="-419100">
              <a:buSzPts val="3000"/>
              <a:buChar char="▪"/>
            </a:pPr>
            <a:r>
              <a:rPr lang="en-US" sz="2000" dirty="0"/>
              <a:t>D = A + I –</a:t>
            </a:r>
            <a:r>
              <a:rPr lang="hu-HU" sz="2000" dirty="0"/>
              <a:t> </a:t>
            </a:r>
            <a:r>
              <a:rPr lang="en-US" sz="2000" dirty="0"/>
              <a:t>1</a:t>
            </a:r>
            <a:endParaRPr lang="hu-HU" sz="2000" dirty="0"/>
          </a:p>
          <a:p>
            <a:pPr lvl="1" indent="-419100">
              <a:buSzPts val="3000"/>
              <a:buChar char="▪"/>
            </a:pPr>
            <a:r>
              <a:rPr lang="hu-HU" sz="2000" dirty="0"/>
              <a:t>egy csomagnak egyensúlyban kell lennie az absztrakt lét és az instabilitás között, valahol a stabil és absztrakt, illetve a konkrét és nem absztrakt lét között</a:t>
            </a:r>
            <a:endParaRPr sz="2000" dirty="0"/>
          </a:p>
          <a:p>
            <a:pPr marL="0" lvl="0" indent="0" algn="l" rtl="0">
              <a:spcBef>
                <a:spcPts val="600"/>
              </a:spcBef>
              <a:spcAft>
                <a:spcPts val="0"/>
              </a:spcAft>
              <a:buNone/>
            </a:pPr>
            <a:endParaRPr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extLst>
      <p:ext uri="{BB962C8B-B14F-4D97-AF65-F5344CB8AC3E}">
        <p14:creationId xmlns:p14="http://schemas.microsoft.com/office/powerpoint/2010/main" val="3165398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921200" y="1713304"/>
            <a:ext cx="7205700" cy="154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6000" dirty="0">
              <a:solidFill>
                <a:srgbClr val="9FC5E8"/>
              </a:solidFill>
            </a:endParaRPr>
          </a:p>
          <a:p>
            <a:pPr marL="0" lvl="0" indent="0" algn="l" rtl="0">
              <a:spcBef>
                <a:spcPts val="0"/>
              </a:spcBef>
              <a:spcAft>
                <a:spcPts val="0"/>
              </a:spcAft>
              <a:buNone/>
            </a:pPr>
            <a:r>
              <a:rPr lang="hu-HU" dirty="0"/>
              <a:t>MOOD MÓDSZER</a:t>
            </a:r>
            <a:endParaRPr dirty="0"/>
          </a:p>
        </p:txBody>
      </p:sp>
      <p:sp>
        <p:nvSpPr>
          <p:cNvPr id="98" name="Google Shape;98;p14"/>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
        <p:nvSpPr>
          <p:cNvPr id="4" name="Alcím 3">
            <a:extLst>
              <a:ext uri="{FF2B5EF4-FFF2-40B4-BE49-F238E27FC236}">
                <a16:creationId xmlns:a16="http://schemas.microsoft.com/office/drawing/2014/main" id="{FEA97A92-8223-41C8-9183-1B3430016EDA}"/>
              </a:ext>
            </a:extLst>
          </p:cNvPr>
          <p:cNvSpPr>
            <a:spLocks noGrp="1"/>
          </p:cNvSpPr>
          <p:nvPr>
            <p:ph type="subTitle" idx="1"/>
          </p:nvPr>
        </p:nvSpPr>
        <p:spPr/>
        <p:txBody>
          <a:bodyPr/>
          <a:lstStyle/>
          <a:p>
            <a:r>
              <a:rPr lang="hu-HU" dirty="0" err="1"/>
              <a:t>Metrics</a:t>
            </a:r>
            <a:r>
              <a:rPr lang="hu-HU" dirty="0"/>
              <a:t> of </a:t>
            </a:r>
            <a:r>
              <a:rPr lang="hu-HU" dirty="0" err="1"/>
              <a:t>Object</a:t>
            </a:r>
            <a:r>
              <a:rPr lang="hu-HU" dirty="0"/>
              <a:t>-Oriented Design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body" idx="1"/>
          </p:nvPr>
        </p:nvSpPr>
        <p:spPr>
          <a:xfrm>
            <a:off x="1413600" y="3187200"/>
            <a:ext cx="6316800" cy="1093200"/>
          </a:xfrm>
          <a:prstGeom prst="rect">
            <a:avLst/>
          </a:prstGeom>
        </p:spPr>
        <p:txBody>
          <a:bodyPr spcFirstLastPara="1" wrap="square" lIns="91425" tIns="91425" rIns="91425" bIns="91425" anchor="t" anchorCtr="0">
            <a:noAutofit/>
          </a:bodyPr>
          <a:lstStyle/>
          <a:p>
            <a:pPr marL="0" lvl="0" indent="0">
              <a:buNone/>
            </a:pPr>
            <a:r>
              <a:rPr lang="hu-HU" dirty="0"/>
              <a:t>A MOOD módszer formális definícióval adott metrikák gyűjteménye</a:t>
            </a:r>
            <a:r>
              <a:rPr lang="en" dirty="0"/>
              <a:t>.</a:t>
            </a:r>
            <a:endParaRPr dirty="0"/>
          </a:p>
        </p:txBody>
      </p:sp>
      <p:sp>
        <p:nvSpPr>
          <p:cNvPr id="104" name="Google Shape;104;p15"/>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28"/>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A MOOD ÁLTAL DEFINIÁLT METRIKÁK</a:t>
            </a:r>
            <a:endParaRPr dirty="0"/>
          </a:p>
        </p:txBody>
      </p:sp>
      <p:sp>
        <p:nvSpPr>
          <p:cNvPr id="269" name="Google Shape;269;p28"/>
          <p:cNvSpPr txBox="1">
            <a:spLocks noGrp="1"/>
          </p:cNvSpPr>
          <p:nvPr>
            <p:ph type="body" idx="1"/>
          </p:nvPr>
        </p:nvSpPr>
        <p:spPr>
          <a:xfrm>
            <a:off x="457200" y="1209842"/>
            <a:ext cx="2631900" cy="86743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1600" b="1" dirty="0" err="1"/>
              <a:t>Method</a:t>
            </a:r>
            <a:r>
              <a:rPr lang="hu-HU" sz="1600" b="1" dirty="0"/>
              <a:t> </a:t>
            </a:r>
            <a:r>
              <a:rPr lang="hu-HU" sz="1600" b="1" dirty="0" err="1"/>
              <a:t>Hiding</a:t>
            </a:r>
            <a:r>
              <a:rPr lang="hu-HU" sz="1600" b="1" dirty="0"/>
              <a:t> </a:t>
            </a:r>
            <a:r>
              <a:rPr lang="hu-HU" sz="1600" b="1" dirty="0" err="1"/>
              <a:t>Factor</a:t>
            </a:r>
            <a:endParaRPr sz="1600" b="1" dirty="0"/>
          </a:p>
        </p:txBody>
      </p:sp>
      <p:sp>
        <p:nvSpPr>
          <p:cNvPr id="270" name="Google Shape;270;p28"/>
          <p:cNvSpPr txBox="1">
            <a:spLocks noGrp="1"/>
          </p:cNvSpPr>
          <p:nvPr>
            <p:ph type="body" idx="2"/>
          </p:nvPr>
        </p:nvSpPr>
        <p:spPr>
          <a:xfrm>
            <a:off x="3223964" y="1209842"/>
            <a:ext cx="2631900" cy="86743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1600" b="1" dirty="0" err="1"/>
              <a:t>Attribute</a:t>
            </a:r>
            <a:r>
              <a:rPr lang="hu-HU" sz="1600" b="1" dirty="0"/>
              <a:t> </a:t>
            </a:r>
            <a:r>
              <a:rPr lang="hu-HU" sz="1600" b="1" dirty="0" err="1"/>
              <a:t>Hiding</a:t>
            </a:r>
            <a:r>
              <a:rPr lang="hu-HU" sz="1600" b="1" dirty="0"/>
              <a:t> </a:t>
            </a:r>
            <a:r>
              <a:rPr lang="hu-HU" sz="1600" b="1" dirty="0" err="1"/>
              <a:t>Factor</a:t>
            </a:r>
            <a:endParaRPr sz="1600" b="1" dirty="0"/>
          </a:p>
        </p:txBody>
      </p:sp>
      <p:sp>
        <p:nvSpPr>
          <p:cNvPr id="271" name="Google Shape;271;p28"/>
          <p:cNvSpPr txBox="1">
            <a:spLocks noGrp="1"/>
          </p:cNvSpPr>
          <p:nvPr>
            <p:ph type="body" idx="3"/>
          </p:nvPr>
        </p:nvSpPr>
        <p:spPr>
          <a:xfrm>
            <a:off x="5990727" y="1209843"/>
            <a:ext cx="2631900" cy="867435"/>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1600" b="1" dirty="0" err="1"/>
              <a:t>Method</a:t>
            </a:r>
            <a:r>
              <a:rPr lang="hu-HU" sz="1600" b="1" dirty="0"/>
              <a:t> </a:t>
            </a:r>
            <a:r>
              <a:rPr lang="hu-HU" sz="1600" b="1" dirty="0" err="1"/>
              <a:t>Inheritance</a:t>
            </a:r>
            <a:r>
              <a:rPr lang="hu-HU" sz="1600" b="1" dirty="0"/>
              <a:t> </a:t>
            </a:r>
            <a:r>
              <a:rPr lang="hu-HU" sz="1600" b="1" dirty="0" err="1"/>
              <a:t>Factor</a:t>
            </a:r>
            <a:endParaRPr lang="hu-HU" sz="1600" b="1" dirty="0"/>
          </a:p>
          <a:p>
            <a:pPr marL="0" lvl="0" indent="0" algn="l" rtl="0">
              <a:spcBef>
                <a:spcPts val="600"/>
              </a:spcBef>
              <a:spcAft>
                <a:spcPts val="0"/>
              </a:spcAft>
              <a:buNone/>
            </a:pPr>
            <a:endParaRPr sz="1200" dirty="0"/>
          </a:p>
        </p:txBody>
      </p:sp>
      <p:sp>
        <p:nvSpPr>
          <p:cNvPr id="272" name="Google Shape;272;p28"/>
          <p:cNvSpPr txBox="1">
            <a:spLocks noGrp="1"/>
          </p:cNvSpPr>
          <p:nvPr>
            <p:ph type="body" idx="1"/>
          </p:nvPr>
        </p:nvSpPr>
        <p:spPr>
          <a:xfrm>
            <a:off x="457200" y="2215278"/>
            <a:ext cx="2631900" cy="86743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1600" b="1" dirty="0" err="1"/>
              <a:t>Attribute</a:t>
            </a:r>
            <a:r>
              <a:rPr lang="hu-HU" sz="1600" b="1" dirty="0"/>
              <a:t> </a:t>
            </a:r>
            <a:r>
              <a:rPr lang="hu-HU" sz="1600" b="1" dirty="0" err="1"/>
              <a:t>Inheritance</a:t>
            </a:r>
            <a:r>
              <a:rPr lang="hu-HU" sz="1600" b="1" dirty="0"/>
              <a:t> </a:t>
            </a:r>
            <a:r>
              <a:rPr lang="hu-HU" sz="1600" b="1" dirty="0" err="1"/>
              <a:t>Factor</a:t>
            </a:r>
            <a:endParaRPr sz="1600" b="1" dirty="0"/>
          </a:p>
        </p:txBody>
      </p:sp>
      <p:sp>
        <p:nvSpPr>
          <p:cNvPr id="273" name="Google Shape;273;p28"/>
          <p:cNvSpPr txBox="1">
            <a:spLocks noGrp="1"/>
          </p:cNvSpPr>
          <p:nvPr>
            <p:ph type="body" idx="2"/>
          </p:nvPr>
        </p:nvSpPr>
        <p:spPr>
          <a:xfrm>
            <a:off x="3223964" y="2215278"/>
            <a:ext cx="2631900" cy="867436"/>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1600" b="1" dirty="0" err="1"/>
              <a:t>Coupling</a:t>
            </a:r>
            <a:r>
              <a:rPr lang="hu-HU" sz="1600" b="1" dirty="0"/>
              <a:t> </a:t>
            </a:r>
            <a:r>
              <a:rPr lang="hu-HU" sz="1600" b="1" dirty="0" err="1"/>
              <a:t>Factor</a:t>
            </a:r>
            <a:endParaRPr sz="1600" b="1" dirty="0"/>
          </a:p>
          <a:p>
            <a:pPr marL="0" lvl="0" indent="0" algn="l" rtl="0">
              <a:spcBef>
                <a:spcPts val="600"/>
              </a:spcBef>
              <a:spcAft>
                <a:spcPts val="0"/>
              </a:spcAft>
              <a:buNone/>
            </a:pPr>
            <a:endParaRPr lang="hu-HU" sz="1200" dirty="0"/>
          </a:p>
        </p:txBody>
      </p:sp>
      <p:sp>
        <p:nvSpPr>
          <p:cNvPr id="274" name="Google Shape;274;p28"/>
          <p:cNvSpPr txBox="1">
            <a:spLocks noGrp="1"/>
          </p:cNvSpPr>
          <p:nvPr>
            <p:ph type="body" idx="3"/>
          </p:nvPr>
        </p:nvSpPr>
        <p:spPr>
          <a:xfrm>
            <a:off x="5990727" y="2215278"/>
            <a:ext cx="2631900" cy="867435"/>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hu-HU" sz="1600" b="1" dirty="0" err="1"/>
              <a:t>Polymorphism</a:t>
            </a:r>
            <a:r>
              <a:rPr lang="hu-HU" sz="1600" b="1" dirty="0"/>
              <a:t> </a:t>
            </a:r>
            <a:r>
              <a:rPr lang="hu-HU" sz="1600" b="1" dirty="0" err="1"/>
              <a:t>Factor</a:t>
            </a:r>
            <a:endParaRPr sz="1600" b="1" dirty="0"/>
          </a:p>
          <a:p>
            <a:pPr marL="0" lvl="0" indent="0" algn="l" rtl="0">
              <a:spcBef>
                <a:spcPts val="600"/>
              </a:spcBef>
              <a:spcAft>
                <a:spcPts val="0"/>
              </a:spcAft>
              <a:buNone/>
            </a:pPr>
            <a:endParaRPr lang="hu-HU" sz="1200" dirty="0"/>
          </a:p>
          <a:p>
            <a:pPr marL="0" lvl="0" indent="0" algn="l" rtl="0">
              <a:spcBef>
                <a:spcPts val="600"/>
              </a:spcBef>
              <a:spcAft>
                <a:spcPts val="0"/>
              </a:spcAft>
              <a:buNone/>
            </a:pPr>
            <a:endParaRPr sz="1200" dirty="0"/>
          </a:p>
        </p:txBody>
      </p:sp>
      <p:sp>
        <p:nvSpPr>
          <p:cNvPr id="281" name="Google Shape;281;p28"/>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sp>
        <p:nvSpPr>
          <p:cNvPr id="18" name="Google Shape;327;p34">
            <a:extLst>
              <a:ext uri="{FF2B5EF4-FFF2-40B4-BE49-F238E27FC236}">
                <a16:creationId xmlns:a16="http://schemas.microsoft.com/office/drawing/2014/main" id="{15B40885-E206-43F0-AF0D-2F971F70FF79}"/>
              </a:ext>
            </a:extLst>
          </p:cNvPr>
          <p:cNvSpPr txBox="1">
            <a:spLocks/>
          </p:cNvSpPr>
          <p:nvPr/>
        </p:nvSpPr>
        <p:spPr>
          <a:xfrm>
            <a:off x="457199" y="4343400"/>
            <a:ext cx="8165427" cy="18561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419100" algn="l" rtl="0">
              <a:lnSpc>
                <a:spcPct val="100000"/>
              </a:lnSpc>
              <a:spcBef>
                <a:spcPts val="600"/>
              </a:spcBef>
              <a:spcAft>
                <a:spcPts val="0"/>
              </a:spcAft>
              <a:buClr>
                <a:srgbClr val="FFFFFF"/>
              </a:buClr>
              <a:buSzPts val="3000"/>
              <a:buFont typeface="Cousine"/>
              <a:buChar char="▪"/>
              <a:defRPr sz="3000" b="0" i="0" u="none" strike="noStrike" cap="none">
                <a:solidFill>
                  <a:srgbClr val="FFFFFF"/>
                </a:solidFill>
                <a:latin typeface="Cousine"/>
                <a:ea typeface="Cousine"/>
                <a:cs typeface="Cousine"/>
                <a:sym typeface="Cousine"/>
              </a:defRPr>
            </a:lvl1pPr>
            <a:lvl2pPr marL="914400" marR="0" lvl="1"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2pPr>
            <a:lvl3pPr marL="1371600" marR="0" lvl="2" indent="-381000" algn="l" rtl="0">
              <a:lnSpc>
                <a:spcPct val="100000"/>
              </a:lnSpc>
              <a:spcBef>
                <a:spcPts val="0"/>
              </a:spcBef>
              <a:spcAft>
                <a:spcPts val="0"/>
              </a:spcAft>
              <a:buClr>
                <a:srgbClr val="FFFFFF"/>
              </a:buClr>
              <a:buSzPts val="2400"/>
              <a:buFont typeface="Cousine"/>
              <a:buChar char="■"/>
              <a:defRPr sz="2400" b="0" i="0" u="none" strike="noStrike" cap="none">
                <a:solidFill>
                  <a:srgbClr val="FFFFFF"/>
                </a:solidFill>
                <a:latin typeface="Cousine"/>
                <a:ea typeface="Cousine"/>
                <a:cs typeface="Cousine"/>
                <a:sym typeface="Cousine"/>
              </a:defRPr>
            </a:lvl3pPr>
            <a:lvl4pPr marL="1828800" marR="0" lvl="3"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4pPr>
            <a:lvl5pPr marL="2286000" marR="0" lvl="4"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5pPr>
            <a:lvl6pPr marL="2743200" marR="0" lvl="5"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6pPr>
            <a:lvl7pPr marL="3200400" marR="0" lvl="6"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7pPr>
            <a:lvl8pPr marL="3657600" marR="0" lvl="7"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8pPr>
            <a:lvl9pPr marL="4114800" marR="0" lvl="8" indent="-342900" algn="l" rtl="0">
              <a:lnSpc>
                <a:spcPct val="100000"/>
              </a:lnSpc>
              <a:spcBef>
                <a:spcPts val="0"/>
              </a:spcBef>
              <a:spcAft>
                <a:spcPts val="0"/>
              </a:spcAft>
              <a:buClr>
                <a:srgbClr val="FFFFFF"/>
              </a:buClr>
              <a:buSzPts val="1800"/>
              <a:buFont typeface="Cousine"/>
              <a:buChar char="■"/>
              <a:defRPr sz="1800" b="0" i="0" u="none" strike="noStrike" cap="none">
                <a:solidFill>
                  <a:srgbClr val="FFFFFF"/>
                </a:solidFill>
                <a:latin typeface="Cousine"/>
                <a:ea typeface="Cousine"/>
                <a:cs typeface="Cousine"/>
                <a:sym typeface="Cousine"/>
              </a:defRPr>
            </a:lvl9pPr>
          </a:lstStyle>
          <a:p>
            <a:pPr marL="0" indent="0" algn="just">
              <a:buNone/>
            </a:pPr>
            <a:r>
              <a:rPr lang="hu-HU" sz="1800" dirty="0"/>
              <a:t>A fenti metrikák mindegyike egy-egy objektumorientált paradigma vizsgálatára hivatott. Az egységbezárást a</a:t>
            </a:r>
            <a:r>
              <a:rPr lang="en-US" sz="1800" dirty="0"/>
              <a:t>z </a:t>
            </a:r>
            <a:r>
              <a:rPr lang="hu-HU" sz="1800" dirty="0"/>
              <a:t>MHF és </a:t>
            </a:r>
            <a:r>
              <a:rPr lang="en-US" sz="1800" dirty="0" err="1"/>
              <a:t>az</a:t>
            </a:r>
            <a:r>
              <a:rPr lang="en-US" sz="1800" dirty="0"/>
              <a:t> </a:t>
            </a:r>
            <a:r>
              <a:rPr lang="hu-HU" sz="1800" dirty="0"/>
              <a:t>AHF, az öröklődést a</a:t>
            </a:r>
            <a:r>
              <a:rPr lang="en-US" sz="1800" dirty="0"/>
              <a:t>z</a:t>
            </a:r>
            <a:r>
              <a:rPr lang="hu-HU" sz="1800" dirty="0"/>
              <a:t> MIF és a</a:t>
            </a:r>
            <a:r>
              <a:rPr lang="en-US" sz="1800" dirty="0"/>
              <a:t>z</a:t>
            </a:r>
            <a:r>
              <a:rPr lang="hu-HU" sz="1800" dirty="0"/>
              <a:t> AIF, a polimorfizmust a POF, végezetül az üzenettovábbítást a COF méri.</a:t>
            </a:r>
          </a:p>
        </p:txBody>
      </p:sp>
    </p:spTree>
    <p:extLst>
      <p:ext uri="{BB962C8B-B14F-4D97-AF65-F5344CB8AC3E}">
        <p14:creationId xmlns:p14="http://schemas.microsoft.com/office/powerpoint/2010/main" val="661280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M</a:t>
            </a:r>
            <a:r>
              <a:rPr lang="en-US" dirty="0"/>
              <a:t>OOD</a:t>
            </a:r>
            <a:r>
              <a:rPr lang="hu-HU" dirty="0"/>
              <a:t>/</a:t>
            </a:r>
            <a:r>
              <a:rPr lang="hu-HU" dirty="0" err="1"/>
              <a:t>Method</a:t>
            </a:r>
            <a:r>
              <a:rPr lang="hu-HU" dirty="0"/>
              <a:t> </a:t>
            </a:r>
            <a:r>
              <a:rPr lang="hu-HU" dirty="0" err="1"/>
              <a:t>Hiding</a:t>
            </a:r>
            <a:r>
              <a:rPr lang="hu-HU" dirty="0"/>
              <a:t> </a:t>
            </a:r>
            <a:r>
              <a:rPr lang="hu-HU" dirty="0" err="1"/>
              <a:t>Factor</a:t>
            </a:r>
            <a:r>
              <a:rPr lang="hu-HU" dirty="0"/>
              <a:t> (MHF)</a:t>
            </a:r>
            <a:endParaRPr dirty="0"/>
          </a:p>
        </p:txBody>
      </p:sp>
      <p:sp>
        <p:nvSpPr>
          <p:cNvPr id="110" name="Google Shape;110;p16"/>
          <p:cNvSpPr txBox="1">
            <a:spLocks noGrp="1"/>
          </p:cNvSpPr>
          <p:nvPr>
            <p:ph type="body" idx="1"/>
          </p:nvPr>
        </p:nvSpPr>
        <p:spPr>
          <a:xfrm>
            <a:off x="526774" y="1335199"/>
            <a:ext cx="8457483" cy="2282644"/>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sz="1600" dirty="0"/>
              <a:t>T</a:t>
            </a:r>
            <a:r>
              <a:rPr lang="en-US" sz="1600" dirty="0"/>
              <a:t>C</a:t>
            </a:r>
            <a:r>
              <a:rPr lang="hu-HU" sz="1600" dirty="0"/>
              <a:t>		</a:t>
            </a:r>
            <a:r>
              <a:rPr lang="en-US" sz="1600" dirty="0"/>
              <a:t>– </a:t>
            </a:r>
            <a:r>
              <a:rPr lang="en-US" sz="1600" dirty="0" err="1"/>
              <a:t>oszt</a:t>
            </a:r>
            <a:r>
              <a:rPr lang="hu-HU" sz="1600" dirty="0" err="1"/>
              <a:t>ályok</a:t>
            </a:r>
            <a:r>
              <a:rPr lang="hu-HU" sz="1600" dirty="0"/>
              <a:t> száma</a:t>
            </a:r>
          </a:p>
          <a:p>
            <a:pPr marL="457200" lvl="0" indent="-419100" algn="l" rtl="0">
              <a:spcBef>
                <a:spcPts val="600"/>
              </a:spcBef>
              <a:spcAft>
                <a:spcPts val="0"/>
              </a:spcAft>
              <a:buSzPts val="3000"/>
              <a:buChar char="▪"/>
            </a:pPr>
            <a:r>
              <a:rPr lang="hu-HU" sz="1600" dirty="0" err="1"/>
              <a:t>C</a:t>
            </a:r>
            <a:r>
              <a:rPr lang="hu-HU" sz="1600" baseline="-25000" dirty="0" err="1"/>
              <a:t>i</a:t>
            </a:r>
            <a:r>
              <a:rPr lang="hu-HU" sz="1600" baseline="-25000" dirty="0"/>
              <a:t>		</a:t>
            </a:r>
            <a:r>
              <a:rPr lang="hu-HU" sz="1600" dirty="0"/>
              <a:t>– az i-</a:t>
            </a:r>
            <a:r>
              <a:rPr lang="hu-HU" sz="1600" dirty="0" err="1"/>
              <a:t>edik</a:t>
            </a:r>
            <a:r>
              <a:rPr lang="hu-HU" sz="1600" dirty="0"/>
              <a:t> osztály</a:t>
            </a:r>
          </a:p>
          <a:p>
            <a:pPr lvl="0"/>
            <a:r>
              <a:rPr lang="hu-HU" sz="1600" dirty="0"/>
              <a:t>M</a:t>
            </a:r>
            <a:r>
              <a:rPr lang="hu-HU" sz="1600" baseline="-25000" dirty="0"/>
              <a:t>i</a:t>
            </a:r>
            <a:r>
              <a:rPr lang="hu-HU" sz="1600" dirty="0"/>
              <a:t>		– a </a:t>
            </a:r>
            <a:r>
              <a:rPr lang="hu-HU" sz="1600" dirty="0" err="1"/>
              <a:t>C</a:t>
            </a:r>
            <a:r>
              <a:rPr lang="hu-HU" sz="1600" baseline="-25000" dirty="0" err="1"/>
              <a:t>i</a:t>
            </a:r>
            <a:r>
              <a:rPr lang="hu-HU" sz="1600" dirty="0"/>
              <a:t> osztály metódusainak a száma</a:t>
            </a:r>
          </a:p>
          <a:p>
            <a:pPr lvl="0"/>
            <a:r>
              <a:rPr lang="hu-HU" sz="1600" dirty="0" err="1"/>
              <a:t>A</a:t>
            </a:r>
            <a:r>
              <a:rPr lang="hu-HU" sz="1600" baseline="-25000" dirty="0" err="1"/>
              <a:t>i</a:t>
            </a:r>
            <a:r>
              <a:rPr lang="hu-HU" sz="1600" dirty="0"/>
              <a:t>		– a </a:t>
            </a:r>
            <a:r>
              <a:rPr lang="hu-HU" sz="1600" dirty="0" err="1"/>
              <a:t>C</a:t>
            </a:r>
            <a:r>
              <a:rPr lang="hu-HU" sz="1600" baseline="-25000" dirty="0" err="1"/>
              <a:t>i</a:t>
            </a:r>
            <a:r>
              <a:rPr lang="hu-HU" sz="1600" dirty="0"/>
              <a:t> osztály attribútumainak a száma</a:t>
            </a:r>
          </a:p>
          <a:p>
            <a:pPr marL="457200" lvl="0" indent="-419100" algn="l" rtl="0">
              <a:spcBef>
                <a:spcPts val="600"/>
              </a:spcBef>
              <a:spcAft>
                <a:spcPts val="0"/>
              </a:spcAft>
              <a:buSzPts val="3000"/>
              <a:buChar char="▪"/>
            </a:pPr>
            <a:r>
              <a:rPr lang="hu-HU" sz="1600" dirty="0" err="1"/>
              <a:t>DC</a:t>
            </a:r>
            <a:r>
              <a:rPr lang="hu-HU" sz="1600" baseline="-25000" dirty="0" err="1"/>
              <a:t>i</a:t>
            </a:r>
            <a:r>
              <a:rPr lang="hu-HU" sz="1600" dirty="0"/>
              <a:t>		– a </a:t>
            </a:r>
            <a:r>
              <a:rPr lang="hu-HU" sz="1600" dirty="0" err="1"/>
              <a:t>C</a:t>
            </a:r>
            <a:r>
              <a:rPr lang="hu-HU" sz="1600" baseline="-25000" dirty="0" err="1"/>
              <a:t>i</a:t>
            </a:r>
            <a:r>
              <a:rPr lang="hu-HU" sz="1600" dirty="0"/>
              <a:t> osztály gyermekeinek a száma</a:t>
            </a:r>
          </a:p>
          <a:p>
            <a:pPr lvl="0"/>
            <a:r>
              <a:rPr lang="hu-HU" sz="1600" dirty="0" err="1"/>
              <a:t>V</a:t>
            </a:r>
            <a:r>
              <a:rPr lang="hu-HU" sz="1600" baseline="-25000" dirty="0" err="1"/>
              <a:t>ij</a:t>
            </a:r>
            <a:r>
              <a:rPr lang="hu-HU" sz="1600" baseline="-25000" dirty="0"/>
              <a:t>		</a:t>
            </a:r>
            <a:r>
              <a:rPr lang="hu-HU" sz="1600" dirty="0"/>
              <a:t>– </a:t>
            </a:r>
            <a:r>
              <a:rPr lang="en-US" sz="1600" dirty="0" err="1"/>
              <a:t>i-edik</a:t>
            </a:r>
            <a:r>
              <a:rPr lang="en-US" sz="1600" dirty="0"/>
              <a:t> </a:t>
            </a:r>
            <a:r>
              <a:rPr lang="en-US" sz="1600" dirty="0" err="1"/>
              <a:t>os</a:t>
            </a:r>
            <a:r>
              <a:rPr lang="hu-HU" sz="1600" dirty="0" err="1"/>
              <a:t>ztály</a:t>
            </a:r>
            <a:r>
              <a:rPr lang="hu-HU" sz="1600" dirty="0"/>
              <a:t> j-</a:t>
            </a:r>
            <a:r>
              <a:rPr lang="hu-HU" sz="1600" dirty="0" err="1"/>
              <a:t>edik</a:t>
            </a:r>
            <a:r>
              <a:rPr lang="hu-HU" sz="1600" dirty="0"/>
              <a:t> metódusának a láthatósága</a:t>
            </a:r>
            <a:endParaRPr sz="2800"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9" name="Kép 8">
            <a:extLst>
              <a:ext uri="{FF2B5EF4-FFF2-40B4-BE49-F238E27FC236}">
                <a16:creationId xmlns:a16="http://schemas.microsoft.com/office/drawing/2014/main" id="{09947D17-ADA8-4189-BDE0-8A30ABCF608A}"/>
              </a:ext>
            </a:extLst>
          </p:cNvPr>
          <p:cNvPicPr>
            <a:picLocks noChangeAspect="1"/>
          </p:cNvPicPr>
          <p:nvPr/>
        </p:nvPicPr>
        <p:blipFill>
          <a:blip r:embed="rId3"/>
          <a:stretch>
            <a:fillRect/>
          </a:stretch>
        </p:blipFill>
        <p:spPr>
          <a:xfrm>
            <a:off x="526774" y="4498997"/>
            <a:ext cx="4581525" cy="1057275"/>
          </a:xfrm>
          <a:prstGeom prst="rect">
            <a:avLst/>
          </a:prstGeom>
        </p:spPr>
      </p:pic>
    </p:spTree>
    <p:extLst>
      <p:ext uri="{BB962C8B-B14F-4D97-AF65-F5344CB8AC3E}">
        <p14:creationId xmlns:p14="http://schemas.microsoft.com/office/powerpoint/2010/main" val="3426066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M</a:t>
            </a:r>
            <a:r>
              <a:rPr lang="en-US" dirty="0"/>
              <a:t>OOD</a:t>
            </a:r>
            <a:r>
              <a:rPr lang="hu-HU" dirty="0"/>
              <a:t>/</a:t>
            </a:r>
            <a:r>
              <a:rPr lang="hu-HU" dirty="0" err="1"/>
              <a:t>Attribute</a:t>
            </a:r>
            <a:r>
              <a:rPr lang="hu-HU" dirty="0"/>
              <a:t> </a:t>
            </a:r>
            <a:r>
              <a:rPr lang="hu-HU" dirty="0" err="1"/>
              <a:t>Hiding</a:t>
            </a:r>
            <a:r>
              <a:rPr lang="hu-HU" dirty="0"/>
              <a:t> </a:t>
            </a:r>
            <a:r>
              <a:rPr lang="hu-HU" dirty="0" err="1"/>
              <a:t>Factor</a:t>
            </a:r>
            <a:r>
              <a:rPr lang="hu-HU" dirty="0"/>
              <a:t> (AHF)</a:t>
            </a:r>
            <a:endParaRPr dirty="0"/>
          </a:p>
        </p:txBody>
      </p:sp>
      <p:sp>
        <p:nvSpPr>
          <p:cNvPr id="110" name="Google Shape;110;p16"/>
          <p:cNvSpPr txBox="1">
            <a:spLocks noGrp="1"/>
          </p:cNvSpPr>
          <p:nvPr>
            <p:ph type="body" idx="1"/>
          </p:nvPr>
        </p:nvSpPr>
        <p:spPr>
          <a:xfrm>
            <a:off x="526774" y="1335199"/>
            <a:ext cx="8457483" cy="2282644"/>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sz="1600" dirty="0"/>
              <a:t>T</a:t>
            </a:r>
            <a:r>
              <a:rPr lang="en-US" sz="1600" dirty="0"/>
              <a:t>C</a:t>
            </a:r>
            <a:r>
              <a:rPr lang="hu-HU" sz="1600" dirty="0"/>
              <a:t>		</a:t>
            </a:r>
            <a:r>
              <a:rPr lang="en-US" sz="1600" dirty="0"/>
              <a:t>– </a:t>
            </a:r>
            <a:r>
              <a:rPr lang="en-US" sz="1600" dirty="0" err="1"/>
              <a:t>oszt</a:t>
            </a:r>
            <a:r>
              <a:rPr lang="hu-HU" sz="1600" dirty="0" err="1"/>
              <a:t>ályok</a:t>
            </a:r>
            <a:r>
              <a:rPr lang="hu-HU" sz="1600" dirty="0"/>
              <a:t> száma</a:t>
            </a:r>
          </a:p>
          <a:p>
            <a:pPr marL="457200" lvl="0" indent="-419100" algn="l" rtl="0">
              <a:spcBef>
                <a:spcPts val="600"/>
              </a:spcBef>
              <a:spcAft>
                <a:spcPts val="0"/>
              </a:spcAft>
              <a:buSzPts val="3000"/>
              <a:buChar char="▪"/>
            </a:pPr>
            <a:r>
              <a:rPr lang="hu-HU" sz="1600" dirty="0" err="1"/>
              <a:t>C</a:t>
            </a:r>
            <a:r>
              <a:rPr lang="hu-HU" sz="1600" baseline="-25000" dirty="0" err="1"/>
              <a:t>i</a:t>
            </a:r>
            <a:r>
              <a:rPr lang="hu-HU" sz="1600" baseline="-25000" dirty="0"/>
              <a:t>		</a:t>
            </a:r>
            <a:r>
              <a:rPr lang="hu-HU" sz="1600" dirty="0"/>
              <a:t>– az i-</a:t>
            </a:r>
            <a:r>
              <a:rPr lang="hu-HU" sz="1600" dirty="0" err="1"/>
              <a:t>edik</a:t>
            </a:r>
            <a:r>
              <a:rPr lang="hu-HU" sz="1600" dirty="0"/>
              <a:t> osztály</a:t>
            </a:r>
          </a:p>
          <a:p>
            <a:pPr lvl="0"/>
            <a:r>
              <a:rPr lang="hu-HU" sz="1600" dirty="0"/>
              <a:t>M</a:t>
            </a:r>
            <a:r>
              <a:rPr lang="hu-HU" sz="1600" baseline="-25000" dirty="0"/>
              <a:t>i</a:t>
            </a:r>
            <a:r>
              <a:rPr lang="hu-HU" sz="1600" dirty="0"/>
              <a:t>		– a </a:t>
            </a:r>
            <a:r>
              <a:rPr lang="hu-HU" sz="1600" dirty="0" err="1"/>
              <a:t>C</a:t>
            </a:r>
            <a:r>
              <a:rPr lang="hu-HU" sz="1600" baseline="-25000" dirty="0" err="1"/>
              <a:t>i</a:t>
            </a:r>
            <a:r>
              <a:rPr lang="hu-HU" sz="1600" dirty="0"/>
              <a:t> osztály metódusainak a száma</a:t>
            </a:r>
          </a:p>
          <a:p>
            <a:pPr lvl="0"/>
            <a:r>
              <a:rPr lang="hu-HU" sz="1600" dirty="0" err="1"/>
              <a:t>A</a:t>
            </a:r>
            <a:r>
              <a:rPr lang="hu-HU" sz="1600" baseline="-25000" dirty="0" err="1"/>
              <a:t>i</a:t>
            </a:r>
            <a:r>
              <a:rPr lang="hu-HU" sz="1600" dirty="0"/>
              <a:t>		– a </a:t>
            </a:r>
            <a:r>
              <a:rPr lang="hu-HU" sz="1600" dirty="0" err="1"/>
              <a:t>C</a:t>
            </a:r>
            <a:r>
              <a:rPr lang="hu-HU" sz="1600" baseline="-25000" dirty="0" err="1"/>
              <a:t>i</a:t>
            </a:r>
            <a:r>
              <a:rPr lang="hu-HU" sz="1600" dirty="0"/>
              <a:t> </a:t>
            </a:r>
            <a:r>
              <a:rPr lang="hu-HU" sz="1600"/>
              <a:t>osztály attribútumainak a </a:t>
            </a:r>
            <a:r>
              <a:rPr lang="hu-HU" sz="1600" dirty="0"/>
              <a:t>száma</a:t>
            </a:r>
          </a:p>
          <a:p>
            <a:pPr marL="457200" lvl="0" indent="-419100" algn="l" rtl="0">
              <a:spcBef>
                <a:spcPts val="600"/>
              </a:spcBef>
              <a:spcAft>
                <a:spcPts val="0"/>
              </a:spcAft>
              <a:buSzPts val="3000"/>
              <a:buChar char="▪"/>
            </a:pPr>
            <a:r>
              <a:rPr lang="hu-HU" sz="1600" dirty="0" err="1"/>
              <a:t>DC</a:t>
            </a:r>
            <a:r>
              <a:rPr lang="hu-HU" sz="1600" baseline="-25000" dirty="0" err="1"/>
              <a:t>i</a:t>
            </a:r>
            <a:r>
              <a:rPr lang="hu-HU" sz="1600" dirty="0"/>
              <a:t>		– a </a:t>
            </a:r>
            <a:r>
              <a:rPr lang="hu-HU" sz="1600" dirty="0" err="1"/>
              <a:t>C</a:t>
            </a:r>
            <a:r>
              <a:rPr lang="hu-HU" sz="1600" baseline="-25000" dirty="0" err="1"/>
              <a:t>i</a:t>
            </a:r>
            <a:r>
              <a:rPr lang="hu-HU" sz="1600" dirty="0"/>
              <a:t> osztály gyermekek a száma</a:t>
            </a:r>
          </a:p>
          <a:p>
            <a:pPr lvl="0"/>
            <a:r>
              <a:rPr lang="hu-HU" sz="1600" dirty="0" err="1"/>
              <a:t>V</a:t>
            </a:r>
            <a:r>
              <a:rPr lang="hu-HU" sz="1600" baseline="-25000" dirty="0" err="1"/>
              <a:t>ij</a:t>
            </a:r>
            <a:r>
              <a:rPr lang="hu-HU" sz="1600" baseline="-25000" dirty="0"/>
              <a:t>		</a:t>
            </a:r>
            <a:r>
              <a:rPr lang="hu-HU" sz="1600" dirty="0"/>
              <a:t>– </a:t>
            </a:r>
            <a:r>
              <a:rPr lang="en-US" sz="1600" dirty="0" err="1"/>
              <a:t>i-edik</a:t>
            </a:r>
            <a:r>
              <a:rPr lang="en-US" sz="1600" dirty="0"/>
              <a:t> </a:t>
            </a:r>
            <a:r>
              <a:rPr lang="en-US" sz="1600" dirty="0" err="1"/>
              <a:t>os</a:t>
            </a:r>
            <a:r>
              <a:rPr lang="hu-HU" sz="1600" dirty="0" err="1"/>
              <a:t>ztály</a:t>
            </a:r>
            <a:r>
              <a:rPr lang="hu-HU" sz="1600" dirty="0"/>
              <a:t> j-</a:t>
            </a:r>
            <a:r>
              <a:rPr lang="hu-HU" sz="1600" dirty="0" err="1"/>
              <a:t>edik</a:t>
            </a:r>
            <a:r>
              <a:rPr lang="hu-HU" sz="1600" dirty="0"/>
              <a:t> attribútumának a láthatósága</a:t>
            </a:r>
            <a:endParaRPr sz="2800"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26</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F96BC0BA-792F-4B35-ACAE-E1AB7FF326F7}"/>
              </a:ext>
            </a:extLst>
          </p:cNvPr>
          <p:cNvPicPr>
            <a:picLocks noChangeAspect="1"/>
          </p:cNvPicPr>
          <p:nvPr/>
        </p:nvPicPr>
        <p:blipFill>
          <a:blip r:embed="rId3"/>
          <a:stretch>
            <a:fillRect/>
          </a:stretch>
        </p:blipFill>
        <p:spPr>
          <a:xfrm>
            <a:off x="526774" y="4456001"/>
            <a:ext cx="4505325" cy="1066800"/>
          </a:xfrm>
          <a:prstGeom prst="rect">
            <a:avLst/>
          </a:prstGeom>
        </p:spPr>
      </p:pic>
    </p:spTree>
    <p:extLst>
      <p:ext uri="{BB962C8B-B14F-4D97-AF65-F5344CB8AC3E}">
        <p14:creationId xmlns:p14="http://schemas.microsoft.com/office/powerpoint/2010/main" val="3642041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M</a:t>
            </a:r>
            <a:r>
              <a:rPr lang="en-US" dirty="0"/>
              <a:t>OOD</a:t>
            </a:r>
            <a:r>
              <a:rPr lang="hu-HU" dirty="0"/>
              <a:t>/</a:t>
            </a:r>
            <a:r>
              <a:rPr lang="hu-HU" dirty="0" err="1"/>
              <a:t>Method</a:t>
            </a:r>
            <a:r>
              <a:rPr lang="hu-HU" dirty="0"/>
              <a:t> </a:t>
            </a:r>
            <a:r>
              <a:rPr lang="hu-HU" dirty="0" err="1"/>
              <a:t>Inheritance</a:t>
            </a:r>
            <a:r>
              <a:rPr lang="hu-HU" dirty="0"/>
              <a:t> </a:t>
            </a:r>
            <a:r>
              <a:rPr lang="hu-HU" dirty="0" err="1"/>
              <a:t>Factor</a:t>
            </a:r>
            <a:r>
              <a:rPr lang="hu-HU" dirty="0"/>
              <a:t> (MIF)</a:t>
            </a:r>
            <a:endParaRPr dirty="0"/>
          </a:p>
        </p:txBody>
      </p:sp>
      <p:sp>
        <p:nvSpPr>
          <p:cNvPr id="110" name="Google Shape;110;p16"/>
          <p:cNvSpPr txBox="1">
            <a:spLocks noGrp="1"/>
          </p:cNvSpPr>
          <p:nvPr>
            <p:ph type="body" idx="1"/>
          </p:nvPr>
        </p:nvSpPr>
        <p:spPr>
          <a:xfrm>
            <a:off x="526774" y="1335199"/>
            <a:ext cx="8457483" cy="2282644"/>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sz="1600" dirty="0"/>
              <a:t>T</a:t>
            </a:r>
            <a:r>
              <a:rPr lang="en-US" sz="1600" dirty="0"/>
              <a:t>C</a:t>
            </a:r>
            <a:r>
              <a:rPr lang="hu-HU" sz="1600" dirty="0"/>
              <a:t>		</a:t>
            </a:r>
            <a:r>
              <a:rPr lang="en-US" sz="1600" dirty="0"/>
              <a:t>– </a:t>
            </a:r>
            <a:r>
              <a:rPr lang="en-US" sz="1600" dirty="0" err="1"/>
              <a:t>oszt</a:t>
            </a:r>
            <a:r>
              <a:rPr lang="hu-HU" sz="1600" dirty="0" err="1"/>
              <a:t>ályok</a:t>
            </a:r>
            <a:r>
              <a:rPr lang="hu-HU" sz="1600" dirty="0"/>
              <a:t> száma</a:t>
            </a:r>
          </a:p>
          <a:p>
            <a:pPr marL="457200" lvl="0" indent="-419100" algn="l" rtl="0">
              <a:spcBef>
                <a:spcPts val="600"/>
              </a:spcBef>
              <a:spcAft>
                <a:spcPts val="0"/>
              </a:spcAft>
              <a:buSzPts val="3000"/>
              <a:buChar char="▪"/>
            </a:pPr>
            <a:r>
              <a:rPr lang="hu-HU" sz="1600" dirty="0" err="1"/>
              <a:t>C</a:t>
            </a:r>
            <a:r>
              <a:rPr lang="hu-HU" sz="1600" baseline="-25000" dirty="0" err="1"/>
              <a:t>j</a:t>
            </a:r>
            <a:r>
              <a:rPr lang="hu-HU" sz="1600" baseline="-25000" dirty="0"/>
              <a:t>		</a:t>
            </a:r>
            <a:r>
              <a:rPr lang="hu-HU" sz="1600" dirty="0"/>
              <a:t>– az j-</a:t>
            </a:r>
            <a:r>
              <a:rPr lang="hu-HU" sz="1600" dirty="0" err="1"/>
              <a:t>edik</a:t>
            </a:r>
            <a:r>
              <a:rPr lang="hu-HU" sz="1600" dirty="0"/>
              <a:t> osztály</a:t>
            </a:r>
          </a:p>
          <a:p>
            <a:pPr lvl="0"/>
            <a:r>
              <a:rPr lang="hu-HU" sz="1600" dirty="0" err="1"/>
              <a:t>M</a:t>
            </a:r>
            <a:r>
              <a:rPr lang="hu-HU" sz="1600" baseline="30000" dirty="0" err="1"/>
              <a:t>a</a:t>
            </a:r>
            <a:r>
              <a:rPr lang="hu-HU" sz="1600" baseline="-25000" dirty="0" err="1"/>
              <a:t>j</a:t>
            </a:r>
            <a:r>
              <a:rPr lang="hu-HU" sz="1600" dirty="0"/>
              <a:t>		– a </a:t>
            </a:r>
            <a:r>
              <a:rPr lang="hu-HU" sz="1600" dirty="0" err="1"/>
              <a:t>C</a:t>
            </a:r>
            <a:r>
              <a:rPr lang="hu-HU" sz="1600" baseline="-25000" dirty="0" err="1"/>
              <a:t>j</a:t>
            </a:r>
            <a:r>
              <a:rPr lang="hu-HU" sz="1600" dirty="0"/>
              <a:t> elérhető metódusainak a száma</a:t>
            </a:r>
          </a:p>
          <a:p>
            <a:r>
              <a:rPr lang="hu-HU" sz="1600" dirty="0" err="1"/>
              <a:t>M</a:t>
            </a:r>
            <a:r>
              <a:rPr lang="hu-HU" sz="1600" baseline="30000" dirty="0" err="1"/>
              <a:t>d</a:t>
            </a:r>
            <a:r>
              <a:rPr lang="hu-HU" sz="1600" baseline="-25000" dirty="0" err="1"/>
              <a:t>j</a:t>
            </a:r>
            <a:r>
              <a:rPr lang="hu-HU" sz="1600" dirty="0"/>
              <a:t>		– a </a:t>
            </a:r>
            <a:r>
              <a:rPr lang="hu-HU" sz="1600" dirty="0" err="1"/>
              <a:t>C</a:t>
            </a:r>
            <a:r>
              <a:rPr lang="hu-HU" sz="1600" baseline="-25000" dirty="0" err="1"/>
              <a:t>j</a:t>
            </a:r>
            <a:r>
              <a:rPr lang="hu-HU" sz="1600" dirty="0"/>
              <a:t> osztályban deklarált metódusok száma</a:t>
            </a:r>
          </a:p>
          <a:p>
            <a:r>
              <a:rPr lang="hu-HU" sz="1600" dirty="0" err="1"/>
              <a:t>M</a:t>
            </a:r>
            <a:r>
              <a:rPr lang="hu-HU" sz="1600" baseline="30000" dirty="0" err="1"/>
              <a:t>i</a:t>
            </a:r>
            <a:r>
              <a:rPr lang="hu-HU" sz="1600" baseline="-25000" dirty="0" err="1"/>
              <a:t>j</a:t>
            </a:r>
            <a:r>
              <a:rPr lang="hu-HU" sz="1600" dirty="0"/>
              <a:t>		– a </a:t>
            </a:r>
            <a:r>
              <a:rPr lang="hu-HU" sz="1600" dirty="0" err="1"/>
              <a:t>C</a:t>
            </a:r>
            <a:r>
              <a:rPr lang="hu-HU" sz="1600" baseline="-25000" dirty="0" err="1"/>
              <a:t>j</a:t>
            </a:r>
            <a:r>
              <a:rPr lang="hu-HU" sz="1600" dirty="0"/>
              <a:t> osztály örökölt metódusainak a száma</a:t>
            </a:r>
          </a:p>
          <a:p>
            <a:pPr lvl="0"/>
            <a:r>
              <a:rPr lang="hu-HU" sz="1600" dirty="0" err="1"/>
              <a:t>M</a:t>
            </a:r>
            <a:r>
              <a:rPr lang="hu-HU" sz="1600" baseline="30000" dirty="0" err="1"/>
              <a:t>a</a:t>
            </a:r>
            <a:r>
              <a:rPr lang="hu-HU" sz="1600" baseline="-25000" dirty="0" err="1"/>
              <a:t>j</a:t>
            </a:r>
            <a:r>
              <a:rPr lang="hu-HU" sz="1600" dirty="0"/>
              <a:t> </a:t>
            </a:r>
            <a:r>
              <a:rPr lang="en-US" sz="1600" dirty="0"/>
              <a:t>= </a:t>
            </a:r>
            <a:r>
              <a:rPr lang="en-US" sz="1600" dirty="0" err="1"/>
              <a:t>M</a:t>
            </a:r>
            <a:r>
              <a:rPr lang="en-US" sz="1600" baseline="30000" dirty="0" err="1"/>
              <a:t>d</a:t>
            </a:r>
            <a:r>
              <a:rPr lang="en-US" sz="1600" baseline="-25000" dirty="0" err="1"/>
              <a:t>j</a:t>
            </a:r>
            <a:r>
              <a:rPr lang="en-US" sz="1600" dirty="0"/>
              <a:t> + </a:t>
            </a:r>
            <a:r>
              <a:rPr lang="en-US" sz="1600" dirty="0" err="1"/>
              <a:t>M</a:t>
            </a:r>
            <a:r>
              <a:rPr lang="en-US" sz="1600" baseline="30000" dirty="0" err="1"/>
              <a:t>i</a:t>
            </a:r>
            <a:r>
              <a:rPr lang="en-US" sz="1600" baseline="-25000" dirty="0" err="1"/>
              <a:t>j</a:t>
            </a:r>
            <a:endParaRPr lang="hu-HU" sz="1600" baseline="-25000"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27</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4B849984-01AA-434F-AC0C-13DE14741855}"/>
              </a:ext>
            </a:extLst>
          </p:cNvPr>
          <p:cNvPicPr>
            <a:picLocks noChangeAspect="1"/>
          </p:cNvPicPr>
          <p:nvPr/>
        </p:nvPicPr>
        <p:blipFill>
          <a:blip r:embed="rId3"/>
          <a:stretch>
            <a:fillRect/>
          </a:stretch>
        </p:blipFill>
        <p:spPr>
          <a:xfrm>
            <a:off x="526774" y="4527231"/>
            <a:ext cx="2619375" cy="1104900"/>
          </a:xfrm>
          <a:prstGeom prst="rect">
            <a:avLst/>
          </a:prstGeom>
        </p:spPr>
      </p:pic>
    </p:spTree>
    <p:extLst>
      <p:ext uri="{BB962C8B-B14F-4D97-AF65-F5344CB8AC3E}">
        <p14:creationId xmlns:p14="http://schemas.microsoft.com/office/powerpoint/2010/main" val="1655507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M</a:t>
            </a:r>
            <a:r>
              <a:rPr lang="en-US" dirty="0"/>
              <a:t>OOD</a:t>
            </a:r>
            <a:r>
              <a:rPr lang="hu-HU" dirty="0"/>
              <a:t>/</a:t>
            </a:r>
            <a:r>
              <a:rPr lang="hu-HU" dirty="0" err="1"/>
              <a:t>Attribute</a:t>
            </a:r>
            <a:r>
              <a:rPr lang="hu-HU" dirty="0"/>
              <a:t> </a:t>
            </a:r>
            <a:r>
              <a:rPr lang="hu-HU" dirty="0" err="1"/>
              <a:t>Inheritance</a:t>
            </a:r>
            <a:r>
              <a:rPr lang="hu-HU" dirty="0"/>
              <a:t> </a:t>
            </a:r>
            <a:r>
              <a:rPr lang="hu-HU" dirty="0" err="1"/>
              <a:t>Factor</a:t>
            </a:r>
            <a:r>
              <a:rPr lang="hu-HU" dirty="0"/>
              <a:t> (AIF)</a:t>
            </a:r>
            <a:endParaRPr dirty="0"/>
          </a:p>
        </p:txBody>
      </p:sp>
      <p:sp>
        <p:nvSpPr>
          <p:cNvPr id="110" name="Google Shape;110;p16"/>
          <p:cNvSpPr txBox="1">
            <a:spLocks noGrp="1"/>
          </p:cNvSpPr>
          <p:nvPr>
            <p:ph type="body" idx="1"/>
          </p:nvPr>
        </p:nvSpPr>
        <p:spPr>
          <a:xfrm>
            <a:off x="526774" y="1335199"/>
            <a:ext cx="8457483" cy="2282644"/>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sz="1600" dirty="0"/>
              <a:t>T</a:t>
            </a:r>
            <a:r>
              <a:rPr lang="en-US" sz="1600" dirty="0"/>
              <a:t>C</a:t>
            </a:r>
            <a:r>
              <a:rPr lang="hu-HU" sz="1600" dirty="0"/>
              <a:t>		</a:t>
            </a:r>
            <a:r>
              <a:rPr lang="en-US" sz="1600" dirty="0"/>
              <a:t>– </a:t>
            </a:r>
            <a:r>
              <a:rPr lang="en-US" sz="1600" dirty="0" err="1"/>
              <a:t>oszt</a:t>
            </a:r>
            <a:r>
              <a:rPr lang="hu-HU" sz="1600" dirty="0" err="1"/>
              <a:t>ályok</a:t>
            </a:r>
            <a:r>
              <a:rPr lang="hu-HU" sz="1600" dirty="0"/>
              <a:t> száma</a:t>
            </a:r>
          </a:p>
          <a:p>
            <a:pPr marL="457200" lvl="0" indent="-419100" algn="l" rtl="0">
              <a:spcBef>
                <a:spcPts val="600"/>
              </a:spcBef>
              <a:spcAft>
                <a:spcPts val="0"/>
              </a:spcAft>
              <a:buSzPts val="3000"/>
              <a:buChar char="▪"/>
            </a:pPr>
            <a:r>
              <a:rPr lang="hu-HU" sz="1600" dirty="0" err="1"/>
              <a:t>C</a:t>
            </a:r>
            <a:r>
              <a:rPr lang="hu-HU" sz="1600" baseline="-25000" dirty="0" err="1"/>
              <a:t>j</a:t>
            </a:r>
            <a:r>
              <a:rPr lang="hu-HU" sz="1600" baseline="-25000" dirty="0"/>
              <a:t>		</a:t>
            </a:r>
            <a:r>
              <a:rPr lang="hu-HU" sz="1600" dirty="0"/>
              <a:t>– az j-</a:t>
            </a:r>
            <a:r>
              <a:rPr lang="hu-HU" sz="1600" dirty="0" err="1"/>
              <a:t>edik</a:t>
            </a:r>
            <a:r>
              <a:rPr lang="hu-HU" sz="1600" dirty="0"/>
              <a:t> osztály</a:t>
            </a:r>
          </a:p>
          <a:p>
            <a:pPr lvl="0"/>
            <a:r>
              <a:rPr lang="hu-HU" sz="1600" dirty="0" err="1"/>
              <a:t>A</a:t>
            </a:r>
            <a:r>
              <a:rPr lang="hu-HU" sz="1600" baseline="30000" dirty="0" err="1"/>
              <a:t>a</a:t>
            </a:r>
            <a:r>
              <a:rPr lang="hu-HU" sz="1600" baseline="-25000" dirty="0" err="1"/>
              <a:t>j</a:t>
            </a:r>
            <a:r>
              <a:rPr lang="hu-HU" sz="1600" dirty="0"/>
              <a:t>		– a </a:t>
            </a:r>
            <a:r>
              <a:rPr lang="hu-HU" sz="1600" dirty="0" err="1"/>
              <a:t>C</a:t>
            </a:r>
            <a:r>
              <a:rPr lang="hu-HU" sz="1600" baseline="-25000" dirty="0" err="1"/>
              <a:t>j</a:t>
            </a:r>
            <a:r>
              <a:rPr lang="hu-HU" sz="1600" dirty="0"/>
              <a:t> </a:t>
            </a:r>
            <a:r>
              <a:rPr lang="en-US" sz="1600" dirty="0"/>
              <a:t>e</a:t>
            </a:r>
            <a:r>
              <a:rPr lang="hu-HU" sz="1600" dirty="0" err="1"/>
              <a:t>lérhető</a:t>
            </a:r>
            <a:r>
              <a:rPr lang="hu-HU" sz="1600" dirty="0"/>
              <a:t> attribútumainak a száma</a:t>
            </a:r>
          </a:p>
          <a:p>
            <a:r>
              <a:rPr lang="hu-HU" sz="1600" dirty="0"/>
              <a:t>A</a:t>
            </a:r>
            <a:r>
              <a:rPr lang="hu-HU" sz="1600" baseline="30000" dirty="0"/>
              <a:t>d</a:t>
            </a:r>
            <a:r>
              <a:rPr lang="hu-HU" sz="1600" baseline="-25000" dirty="0"/>
              <a:t>j</a:t>
            </a:r>
            <a:r>
              <a:rPr lang="hu-HU" sz="1600" dirty="0"/>
              <a:t>		– a </a:t>
            </a:r>
            <a:r>
              <a:rPr lang="hu-HU" sz="1600" dirty="0" err="1"/>
              <a:t>C</a:t>
            </a:r>
            <a:r>
              <a:rPr lang="hu-HU" sz="1600" baseline="-25000" dirty="0" err="1"/>
              <a:t>j</a:t>
            </a:r>
            <a:r>
              <a:rPr lang="hu-HU" sz="1600" dirty="0"/>
              <a:t> osztályban deklarált attribútumok száma</a:t>
            </a:r>
          </a:p>
          <a:p>
            <a:r>
              <a:rPr lang="hu-HU" sz="1600" dirty="0" err="1"/>
              <a:t>A</a:t>
            </a:r>
            <a:r>
              <a:rPr lang="hu-HU" sz="1600" baseline="30000" dirty="0" err="1"/>
              <a:t>i</a:t>
            </a:r>
            <a:r>
              <a:rPr lang="hu-HU" sz="1600" baseline="-25000" dirty="0" err="1"/>
              <a:t>j</a:t>
            </a:r>
            <a:r>
              <a:rPr lang="hu-HU" sz="1600" dirty="0"/>
              <a:t>		– a </a:t>
            </a:r>
            <a:r>
              <a:rPr lang="hu-HU" sz="1600" dirty="0" err="1"/>
              <a:t>C</a:t>
            </a:r>
            <a:r>
              <a:rPr lang="hu-HU" sz="1600" baseline="-25000" dirty="0" err="1"/>
              <a:t>j</a:t>
            </a:r>
            <a:r>
              <a:rPr lang="hu-HU" sz="1600" dirty="0"/>
              <a:t> osztály örökölt attribútumainak a száma</a:t>
            </a:r>
          </a:p>
          <a:p>
            <a:r>
              <a:rPr lang="hu-HU" sz="1600" dirty="0" err="1"/>
              <a:t>A</a:t>
            </a:r>
            <a:r>
              <a:rPr lang="hu-HU" sz="1600" baseline="30000" dirty="0" err="1"/>
              <a:t>a</a:t>
            </a:r>
            <a:r>
              <a:rPr lang="hu-HU" sz="1600" baseline="-25000" dirty="0" err="1"/>
              <a:t>j</a:t>
            </a:r>
            <a:r>
              <a:rPr lang="hu-HU" sz="1600" dirty="0"/>
              <a:t> </a:t>
            </a:r>
            <a:r>
              <a:rPr lang="en-US" sz="1600" dirty="0"/>
              <a:t>= </a:t>
            </a:r>
            <a:r>
              <a:rPr lang="hu-HU" sz="1600" dirty="0"/>
              <a:t>A</a:t>
            </a:r>
            <a:r>
              <a:rPr lang="en-US" sz="1600" baseline="30000" dirty="0" err="1"/>
              <a:t>d</a:t>
            </a:r>
            <a:r>
              <a:rPr lang="en-US" sz="1600" baseline="-25000" dirty="0" err="1"/>
              <a:t>j</a:t>
            </a:r>
            <a:r>
              <a:rPr lang="en-US" sz="1600" dirty="0"/>
              <a:t> + </a:t>
            </a:r>
            <a:r>
              <a:rPr lang="hu-HU" sz="1600" dirty="0"/>
              <a:t>A</a:t>
            </a:r>
            <a:r>
              <a:rPr lang="en-US" sz="1600" baseline="30000" dirty="0" err="1"/>
              <a:t>i</a:t>
            </a:r>
            <a:r>
              <a:rPr lang="en-US" sz="1600" baseline="-25000" dirty="0" err="1"/>
              <a:t>j</a:t>
            </a:r>
            <a:endParaRPr lang="hu-HU" sz="1600" baseline="-25000" dirty="0"/>
          </a:p>
          <a:p>
            <a:endParaRPr lang="hu-HU" sz="1600" dirty="0"/>
          </a:p>
          <a:p>
            <a:pPr lvl="0"/>
            <a:endParaRPr lang="hu-HU" sz="1600"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3" name="Kép 2">
            <a:extLst>
              <a:ext uri="{FF2B5EF4-FFF2-40B4-BE49-F238E27FC236}">
                <a16:creationId xmlns:a16="http://schemas.microsoft.com/office/drawing/2014/main" id="{34405E12-ECEB-4B8C-8405-F59EEC89CEC1}"/>
              </a:ext>
            </a:extLst>
          </p:cNvPr>
          <p:cNvPicPr>
            <a:picLocks noChangeAspect="1"/>
          </p:cNvPicPr>
          <p:nvPr/>
        </p:nvPicPr>
        <p:blipFill>
          <a:blip r:embed="rId3"/>
          <a:stretch>
            <a:fillRect/>
          </a:stretch>
        </p:blipFill>
        <p:spPr>
          <a:xfrm>
            <a:off x="526774" y="4537171"/>
            <a:ext cx="2457450" cy="1104900"/>
          </a:xfrm>
          <a:prstGeom prst="rect">
            <a:avLst/>
          </a:prstGeom>
        </p:spPr>
      </p:pic>
    </p:spTree>
    <p:extLst>
      <p:ext uri="{BB962C8B-B14F-4D97-AF65-F5344CB8AC3E}">
        <p14:creationId xmlns:p14="http://schemas.microsoft.com/office/powerpoint/2010/main" val="39790168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M</a:t>
            </a:r>
            <a:r>
              <a:rPr lang="en-US" dirty="0"/>
              <a:t>OOD</a:t>
            </a:r>
            <a:r>
              <a:rPr lang="hu-HU" dirty="0"/>
              <a:t>/</a:t>
            </a:r>
            <a:r>
              <a:rPr lang="hu-HU" dirty="0" err="1"/>
              <a:t>Polymorphism</a:t>
            </a:r>
            <a:r>
              <a:rPr lang="hu-HU" dirty="0"/>
              <a:t> </a:t>
            </a:r>
            <a:r>
              <a:rPr lang="hu-HU" dirty="0" err="1"/>
              <a:t>Factor</a:t>
            </a:r>
            <a:r>
              <a:rPr lang="hu-HU" dirty="0"/>
              <a:t> (POF)</a:t>
            </a:r>
            <a:endParaRPr dirty="0"/>
          </a:p>
        </p:txBody>
      </p:sp>
      <p:sp>
        <p:nvSpPr>
          <p:cNvPr id="110" name="Google Shape;110;p16"/>
          <p:cNvSpPr txBox="1">
            <a:spLocks noGrp="1"/>
          </p:cNvSpPr>
          <p:nvPr>
            <p:ph type="body" idx="1"/>
          </p:nvPr>
        </p:nvSpPr>
        <p:spPr>
          <a:xfrm>
            <a:off x="526774" y="1335199"/>
            <a:ext cx="8457483" cy="2471488"/>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sz="1600" dirty="0"/>
              <a:t>T</a:t>
            </a:r>
            <a:r>
              <a:rPr lang="en-US" sz="1600" dirty="0"/>
              <a:t>C</a:t>
            </a:r>
            <a:r>
              <a:rPr lang="hu-HU" sz="1600" dirty="0"/>
              <a:t>		</a:t>
            </a:r>
            <a:r>
              <a:rPr lang="en-US" sz="1600" dirty="0"/>
              <a:t>– </a:t>
            </a:r>
            <a:r>
              <a:rPr lang="en-US" sz="1600" dirty="0" err="1"/>
              <a:t>oszt</a:t>
            </a:r>
            <a:r>
              <a:rPr lang="hu-HU" sz="1600" dirty="0" err="1"/>
              <a:t>ályok</a:t>
            </a:r>
            <a:r>
              <a:rPr lang="hu-HU" sz="1600" dirty="0"/>
              <a:t> száma</a:t>
            </a:r>
          </a:p>
          <a:p>
            <a:pPr marL="457200" lvl="0" indent="-419100" algn="l" rtl="0">
              <a:spcBef>
                <a:spcPts val="600"/>
              </a:spcBef>
              <a:spcAft>
                <a:spcPts val="0"/>
              </a:spcAft>
              <a:buSzPts val="3000"/>
              <a:buChar char="▪"/>
            </a:pPr>
            <a:r>
              <a:rPr lang="hu-HU" sz="1600" dirty="0" err="1"/>
              <a:t>C</a:t>
            </a:r>
            <a:r>
              <a:rPr lang="hu-HU" sz="1600" baseline="-25000" dirty="0" err="1"/>
              <a:t>j</a:t>
            </a:r>
            <a:r>
              <a:rPr lang="hu-HU" sz="1600" baseline="-25000" dirty="0"/>
              <a:t>		</a:t>
            </a:r>
            <a:r>
              <a:rPr lang="hu-HU" sz="1600" dirty="0"/>
              <a:t>– az j-</a:t>
            </a:r>
            <a:r>
              <a:rPr lang="hu-HU" sz="1600" dirty="0" err="1"/>
              <a:t>edik</a:t>
            </a:r>
            <a:r>
              <a:rPr lang="hu-HU" sz="1600" dirty="0"/>
              <a:t> osztály</a:t>
            </a:r>
          </a:p>
          <a:p>
            <a:pPr lvl="0"/>
            <a:r>
              <a:rPr lang="hu-HU" sz="1600" dirty="0" err="1"/>
              <a:t>DC</a:t>
            </a:r>
            <a:r>
              <a:rPr lang="hu-HU" sz="1600" baseline="-25000" dirty="0" err="1"/>
              <a:t>j</a:t>
            </a:r>
            <a:r>
              <a:rPr lang="hu-HU" sz="1600" dirty="0"/>
              <a:t>		– a </a:t>
            </a:r>
            <a:r>
              <a:rPr lang="hu-HU" sz="1600" dirty="0" err="1"/>
              <a:t>C</a:t>
            </a:r>
            <a:r>
              <a:rPr lang="hu-HU" sz="1600" baseline="-25000" dirty="0" err="1"/>
              <a:t>j</a:t>
            </a:r>
            <a:r>
              <a:rPr lang="hu-HU" sz="1600" dirty="0"/>
              <a:t> osztály gyermekeinek a száma</a:t>
            </a:r>
          </a:p>
          <a:p>
            <a:r>
              <a:rPr lang="hu-HU" sz="1600" dirty="0" err="1"/>
              <a:t>M</a:t>
            </a:r>
            <a:r>
              <a:rPr lang="hu-HU" sz="1600" baseline="30000" dirty="0" err="1"/>
              <a:t>d</a:t>
            </a:r>
            <a:r>
              <a:rPr lang="hu-HU" sz="1600" baseline="-25000" dirty="0" err="1"/>
              <a:t>j</a:t>
            </a:r>
            <a:r>
              <a:rPr lang="hu-HU" sz="1600" dirty="0"/>
              <a:t>		– a </a:t>
            </a:r>
            <a:r>
              <a:rPr lang="hu-HU" sz="1600" dirty="0" err="1"/>
              <a:t>C</a:t>
            </a:r>
            <a:r>
              <a:rPr lang="hu-HU" sz="1600" baseline="-25000" dirty="0" err="1"/>
              <a:t>j</a:t>
            </a:r>
            <a:r>
              <a:rPr lang="hu-HU" sz="1600" dirty="0"/>
              <a:t> osztályban deklarált metódusok száma</a:t>
            </a:r>
          </a:p>
          <a:p>
            <a:r>
              <a:rPr lang="hu-HU" sz="1600" dirty="0" err="1"/>
              <a:t>M</a:t>
            </a:r>
            <a:r>
              <a:rPr lang="hu-HU" sz="1600" baseline="30000" dirty="0" err="1"/>
              <a:t>n</a:t>
            </a:r>
            <a:r>
              <a:rPr lang="hu-HU" sz="1600" baseline="-25000" dirty="0" err="1"/>
              <a:t>j</a:t>
            </a:r>
            <a:r>
              <a:rPr lang="hu-HU" sz="1600" dirty="0"/>
              <a:t>		– a </a:t>
            </a:r>
            <a:r>
              <a:rPr lang="hu-HU" sz="1600" dirty="0" err="1"/>
              <a:t>C</a:t>
            </a:r>
            <a:r>
              <a:rPr lang="hu-HU" sz="1600" baseline="-25000" dirty="0" err="1"/>
              <a:t>j</a:t>
            </a:r>
            <a:r>
              <a:rPr lang="hu-HU" sz="1600" dirty="0"/>
              <a:t> osztályban deklarált attribútumok száma</a:t>
            </a:r>
          </a:p>
          <a:p>
            <a:r>
              <a:rPr lang="hu-HU" sz="1600" dirty="0" err="1"/>
              <a:t>M</a:t>
            </a:r>
            <a:r>
              <a:rPr lang="hu-HU" sz="1600" baseline="30000" dirty="0" err="1"/>
              <a:t>o</a:t>
            </a:r>
            <a:r>
              <a:rPr lang="hu-HU" sz="1600" baseline="-25000" dirty="0" err="1"/>
              <a:t>j</a:t>
            </a:r>
            <a:r>
              <a:rPr lang="hu-HU" sz="1600" dirty="0"/>
              <a:t>		– a </a:t>
            </a:r>
            <a:r>
              <a:rPr lang="hu-HU" sz="1600" dirty="0" err="1"/>
              <a:t>C</a:t>
            </a:r>
            <a:r>
              <a:rPr lang="hu-HU" sz="1600" baseline="-25000" dirty="0" err="1"/>
              <a:t>j</a:t>
            </a:r>
            <a:r>
              <a:rPr lang="hu-HU" sz="1600" dirty="0"/>
              <a:t> osztály örökölt attribútumainak a száma</a:t>
            </a:r>
          </a:p>
          <a:p>
            <a:r>
              <a:rPr lang="hu-HU" sz="1600" dirty="0" err="1"/>
              <a:t>M</a:t>
            </a:r>
            <a:r>
              <a:rPr lang="hu-HU" sz="1600" baseline="30000" dirty="0" err="1"/>
              <a:t>d</a:t>
            </a:r>
            <a:r>
              <a:rPr lang="hu-HU" sz="1600" baseline="-25000" dirty="0" err="1"/>
              <a:t>j</a:t>
            </a:r>
            <a:r>
              <a:rPr lang="hu-HU" sz="1600" dirty="0"/>
              <a:t> </a:t>
            </a:r>
            <a:r>
              <a:rPr lang="en-US" sz="1600" dirty="0"/>
              <a:t>= </a:t>
            </a:r>
            <a:r>
              <a:rPr lang="hu-HU" sz="1600" dirty="0" err="1"/>
              <a:t>M</a:t>
            </a:r>
            <a:r>
              <a:rPr lang="hu-HU" sz="1600" baseline="30000" dirty="0" err="1"/>
              <a:t>n</a:t>
            </a:r>
            <a:r>
              <a:rPr lang="en-US" sz="1600" baseline="-25000" dirty="0"/>
              <a:t>j</a:t>
            </a:r>
            <a:r>
              <a:rPr lang="en-US" sz="1600" dirty="0"/>
              <a:t> + </a:t>
            </a:r>
            <a:r>
              <a:rPr lang="hu-HU" sz="1600" dirty="0" err="1"/>
              <a:t>M</a:t>
            </a:r>
            <a:r>
              <a:rPr lang="hu-HU" sz="1600" baseline="30000" dirty="0" err="1"/>
              <a:t>o</a:t>
            </a:r>
            <a:r>
              <a:rPr lang="en-US" sz="1600" baseline="-25000" dirty="0"/>
              <a:t>j</a:t>
            </a:r>
            <a:endParaRPr lang="hu-HU" sz="1600" baseline="-25000" dirty="0"/>
          </a:p>
          <a:p>
            <a:endParaRPr lang="hu-HU" sz="1600" dirty="0"/>
          </a:p>
          <a:p>
            <a:pPr lvl="0"/>
            <a:endParaRPr lang="hu-HU" sz="1600"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4" name="Kép 3">
            <a:extLst>
              <a:ext uri="{FF2B5EF4-FFF2-40B4-BE49-F238E27FC236}">
                <a16:creationId xmlns:a16="http://schemas.microsoft.com/office/drawing/2014/main" id="{80AADE87-524E-4C1D-A992-CFB13CB8DAA5}"/>
              </a:ext>
            </a:extLst>
          </p:cNvPr>
          <p:cNvPicPr>
            <a:picLocks noChangeAspect="1"/>
          </p:cNvPicPr>
          <p:nvPr/>
        </p:nvPicPr>
        <p:blipFill>
          <a:blip r:embed="rId3"/>
          <a:stretch>
            <a:fillRect/>
          </a:stretch>
        </p:blipFill>
        <p:spPr>
          <a:xfrm>
            <a:off x="526774" y="4542109"/>
            <a:ext cx="3609975" cy="1114425"/>
          </a:xfrm>
          <a:prstGeom prst="rect">
            <a:avLst/>
          </a:prstGeom>
        </p:spPr>
      </p:pic>
    </p:spTree>
    <p:extLst>
      <p:ext uri="{BB962C8B-B14F-4D97-AF65-F5344CB8AC3E}">
        <p14:creationId xmlns:p14="http://schemas.microsoft.com/office/powerpoint/2010/main" val="15794147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M</a:t>
            </a:r>
            <a:r>
              <a:rPr lang="en-US" dirty="0"/>
              <a:t>OOD</a:t>
            </a:r>
            <a:r>
              <a:rPr lang="hu-HU" dirty="0"/>
              <a:t>/</a:t>
            </a:r>
            <a:r>
              <a:rPr lang="hu-HU" dirty="0" err="1"/>
              <a:t>Coupling</a:t>
            </a:r>
            <a:r>
              <a:rPr lang="hu-HU" dirty="0"/>
              <a:t> </a:t>
            </a:r>
            <a:r>
              <a:rPr lang="hu-HU" dirty="0" err="1"/>
              <a:t>Factor</a:t>
            </a:r>
            <a:r>
              <a:rPr lang="hu-HU" dirty="0"/>
              <a:t> (COF)</a:t>
            </a:r>
            <a:endParaRPr dirty="0"/>
          </a:p>
        </p:txBody>
      </p:sp>
      <p:sp>
        <p:nvSpPr>
          <p:cNvPr id="110" name="Google Shape;110;p16"/>
          <p:cNvSpPr txBox="1">
            <a:spLocks noGrp="1"/>
          </p:cNvSpPr>
          <p:nvPr>
            <p:ph type="body" idx="1"/>
          </p:nvPr>
        </p:nvSpPr>
        <p:spPr>
          <a:xfrm>
            <a:off x="526774" y="1335199"/>
            <a:ext cx="8457483" cy="2471488"/>
          </a:xfrm>
          <a:prstGeom prst="rect">
            <a:avLst/>
          </a:prstGeom>
        </p:spPr>
        <p:txBody>
          <a:bodyPr spcFirstLastPara="1" wrap="square" lIns="91425" tIns="91425" rIns="91425" bIns="91425" anchor="t" anchorCtr="0">
            <a:noAutofit/>
          </a:bodyPr>
          <a:lstStyle/>
          <a:p>
            <a:pPr marL="457200" lvl="0" indent="-419100" algn="l" rtl="0">
              <a:spcBef>
                <a:spcPts val="600"/>
              </a:spcBef>
              <a:spcAft>
                <a:spcPts val="0"/>
              </a:spcAft>
              <a:buSzPts val="3000"/>
              <a:buChar char="▪"/>
            </a:pPr>
            <a:r>
              <a:rPr lang="hu-HU" sz="1600" dirty="0"/>
              <a:t>T</a:t>
            </a:r>
            <a:r>
              <a:rPr lang="en-US" sz="1600" dirty="0"/>
              <a:t>C</a:t>
            </a:r>
            <a:r>
              <a:rPr lang="hu-HU" sz="1600" dirty="0"/>
              <a:t>		</a:t>
            </a:r>
            <a:r>
              <a:rPr lang="en-US" sz="1600" dirty="0"/>
              <a:t>– </a:t>
            </a:r>
            <a:r>
              <a:rPr lang="en-US" sz="1600" dirty="0" err="1"/>
              <a:t>oszt</a:t>
            </a:r>
            <a:r>
              <a:rPr lang="hu-HU" sz="1600" dirty="0" err="1"/>
              <a:t>ályok</a:t>
            </a:r>
            <a:r>
              <a:rPr lang="hu-HU" sz="1600" dirty="0"/>
              <a:t> száma</a:t>
            </a:r>
          </a:p>
          <a:p>
            <a:pPr marL="457200" lvl="0" indent="-419100" algn="l" rtl="0">
              <a:spcBef>
                <a:spcPts val="600"/>
              </a:spcBef>
              <a:spcAft>
                <a:spcPts val="0"/>
              </a:spcAft>
              <a:buSzPts val="3000"/>
              <a:buChar char="▪"/>
            </a:pPr>
            <a:r>
              <a:rPr lang="hu-HU" sz="1600" dirty="0"/>
              <a:t>TC</a:t>
            </a:r>
            <a:r>
              <a:rPr lang="hu-HU" sz="1600" baseline="30000" dirty="0"/>
              <a:t>2</a:t>
            </a:r>
            <a:r>
              <a:rPr lang="hu-HU" sz="1600" dirty="0"/>
              <a:t>-TC</a:t>
            </a:r>
            <a:r>
              <a:rPr lang="hu-HU" sz="1600" baseline="-25000" dirty="0"/>
              <a:t>	</a:t>
            </a:r>
            <a:r>
              <a:rPr lang="hu-HU" sz="1600" dirty="0"/>
              <a:t>– a csatolások maximális lehetséges száma</a:t>
            </a:r>
          </a:p>
          <a:p>
            <a:pPr lvl="0"/>
            <a:r>
              <a:rPr lang="hu-HU" sz="1600" dirty="0" err="1"/>
              <a:t>DC</a:t>
            </a:r>
            <a:r>
              <a:rPr lang="hu-HU" sz="1600" baseline="-25000" dirty="0" err="1"/>
              <a:t>j</a:t>
            </a:r>
            <a:r>
              <a:rPr lang="hu-HU" sz="1600" dirty="0"/>
              <a:t>		– a </a:t>
            </a:r>
            <a:r>
              <a:rPr lang="hu-HU" sz="1600" dirty="0" err="1"/>
              <a:t>C</a:t>
            </a:r>
            <a:r>
              <a:rPr lang="hu-HU" sz="1600" baseline="-25000" dirty="0" err="1"/>
              <a:t>j</a:t>
            </a:r>
            <a:r>
              <a:rPr lang="hu-HU" sz="1600" dirty="0"/>
              <a:t> osztály gyermekeinek a száma</a:t>
            </a:r>
          </a:p>
          <a:p>
            <a:r>
              <a:rPr lang="hu-HU" sz="1600" dirty="0" err="1"/>
              <a:t>client</a:t>
            </a:r>
            <a:r>
              <a:rPr lang="hu-HU" sz="1600" baseline="-25000" dirty="0" err="1"/>
              <a:t>ij</a:t>
            </a:r>
            <a:r>
              <a:rPr lang="hu-HU" sz="1600" dirty="0"/>
              <a:t>	– értéke 1, ha van kapcsolat a i és j osztályok 			  között (</a:t>
            </a:r>
            <a:r>
              <a:rPr lang="hu-HU" sz="1600" dirty="0" err="1"/>
              <a:t>i≠j</a:t>
            </a:r>
            <a:r>
              <a:rPr lang="hu-HU" sz="1600" dirty="0"/>
              <a:t>), egyébként 0</a:t>
            </a:r>
            <a:endParaRPr lang="hu-HU" sz="1600" dirty="0">
              <a:hlinkClick r:id="rId3">
                <a:extLst>
                  <a:ext uri="{A12FA001-AC4F-418D-AE19-62706E023703}">
                    <ahyp:hlinkClr xmlns:ahyp="http://schemas.microsoft.com/office/drawing/2018/hyperlinkcolor" val="tx"/>
                  </a:ext>
                </a:extLst>
              </a:hlinkClick>
            </a:endParaRPr>
          </a:p>
          <a:p>
            <a:endParaRPr lang="hu-HU" sz="1600" dirty="0"/>
          </a:p>
          <a:p>
            <a:pPr lvl="0"/>
            <a:endParaRPr lang="hu-HU" sz="1600" dirty="0"/>
          </a:p>
        </p:txBody>
      </p:sp>
      <p:sp>
        <p:nvSpPr>
          <p:cNvPr id="111" name="Google Shape;111;p16"/>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 sz="1000" b="0" i="0" u="none" strike="noStrike" kern="0" cap="none" spc="0" normalizeH="0" baseline="0" noProof="0">
                <a:ln>
                  <a:noFill/>
                </a:ln>
                <a:solidFill>
                  <a:srgbClr val="FFFFFF"/>
                </a:solidFill>
                <a:effectLst/>
                <a:uLnTx/>
                <a:uFillTx/>
                <a:latin typeface="Cousine"/>
                <a:cs typeface="Cousine"/>
                <a:sym typeface="Cousine"/>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30</a:t>
            </a:fld>
            <a:endParaRPr kumimoji="0" sz="1000" b="0" i="0" u="none" strike="noStrike" kern="0" cap="none" spc="0" normalizeH="0" baseline="0" noProof="0">
              <a:ln>
                <a:noFill/>
              </a:ln>
              <a:solidFill>
                <a:srgbClr val="FFFFFF"/>
              </a:solidFill>
              <a:effectLst/>
              <a:uLnTx/>
              <a:uFillTx/>
              <a:latin typeface="Cousine"/>
              <a:cs typeface="Cousine"/>
              <a:sym typeface="Cousine"/>
            </a:endParaRPr>
          </a:p>
        </p:txBody>
      </p:sp>
      <p:pic>
        <p:nvPicPr>
          <p:cNvPr id="5" name="Kép 4">
            <a:extLst>
              <a:ext uri="{FF2B5EF4-FFF2-40B4-BE49-F238E27FC236}">
                <a16:creationId xmlns:a16="http://schemas.microsoft.com/office/drawing/2014/main" id="{4DF23D3D-D7EA-4EC1-9F6F-10E1ABD91095}"/>
              </a:ext>
            </a:extLst>
          </p:cNvPr>
          <p:cNvPicPr>
            <a:picLocks noChangeAspect="1"/>
          </p:cNvPicPr>
          <p:nvPr/>
        </p:nvPicPr>
        <p:blipFill>
          <a:blip r:embed="rId4"/>
          <a:stretch>
            <a:fillRect/>
          </a:stretch>
        </p:blipFill>
        <p:spPr>
          <a:xfrm>
            <a:off x="526774" y="4608401"/>
            <a:ext cx="4457700" cy="914400"/>
          </a:xfrm>
          <a:prstGeom prst="rect">
            <a:avLst/>
          </a:prstGeom>
        </p:spPr>
      </p:pic>
    </p:spTree>
    <p:extLst>
      <p:ext uri="{BB962C8B-B14F-4D97-AF65-F5344CB8AC3E}">
        <p14:creationId xmlns:p14="http://schemas.microsoft.com/office/powerpoint/2010/main" val="1877566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5"/>
          <p:cNvSpPr txBox="1">
            <a:spLocks noGrp="1"/>
          </p:cNvSpPr>
          <p:nvPr>
            <p:ph type="title"/>
          </p:nvPr>
        </p:nvSpPr>
        <p:spPr>
          <a:xfrm>
            <a:off x="404330" y="658442"/>
            <a:ext cx="8229600" cy="55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HU" dirty="0"/>
              <a:t>HIVATKOZÁSOK</a:t>
            </a:r>
            <a:endParaRPr dirty="0"/>
          </a:p>
        </p:txBody>
      </p:sp>
      <p:sp>
        <p:nvSpPr>
          <p:cNvPr id="334" name="Google Shape;334;p35"/>
          <p:cNvSpPr txBox="1">
            <a:spLocks noGrp="1"/>
          </p:cNvSpPr>
          <p:nvPr>
            <p:ph type="body" idx="1"/>
          </p:nvPr>
        </p:nvSpPr>
        <p:spPr>
          <a:xfrm>
            <a:off x="416579" y="1500000"/>
            <a:ext cx="8178900" cy="4851900"/>
          </a:xfrm>
          <a:prstGeom prst="rect">
            <a:avLst/>
          </a:prstGeom>
        </p:spPr>
        <p:txBody>
          <a:bodyPr spcFirstLastPara="1" wrap="square" lIns="91425" tIns="91425" rIns="91425" bIns="91425" anchor="t" anchorCtr="0">
            <a:noAutofit/>
          </a:bodyPr>
          <a:lstStyle/>
          <a:p>
            <a:pPr lvl="0" indent="-342900">
              <a:lnSpc>
                <a:spcPct val="115000"/>
              </a:lnSpc>
              <a:buSzPts val="1800"/>
            </a:pPr>
            <a:r>
              <a:rPr lang="en-US" sz="1200" dirty="0"/>
              <a:t>Françoise </a:t>
            </a:r>
            <a:r>
              <a:rPr lang="en-US" sz="1200" dirty="0" err="1"/>
              <a:t>Balmas</a:t>
            </a:r>
            <a:r>
              <a:rPr lang="en-US" sz="1200" dirty="0"/>
              <a:t>, Alexandre </a:t>
            </a:r>
            <a:r>
              <a:rPr lang="en-US" sz="1200" dirty="0" err="1"/>
              <a:t>Bergel</a:t>
            </a:r>
            <a:r>
              <a:rPr lang="en-US" sz="1200" dirty="0"/>
              <a:t>, Simon Denier, Stéphane Ducasse, </a:t>
            </a:r>
            <a:r>
              <a:rPr lang="en-US" sz="1200" dirty="0" err="1"/>
              <a:t>Jannik</a:t>
            </a:r>
            <a:r>
              <a:rPr lang="en-US" sz="1200" dirty="0"/>
              <a:t> Laval, </a:t>
            </a:r>
            <a:r>
              <a:rPr lang="en-US" sz="1200" dirty="0" err="1"/>
              <a:t>Karine</a:t>
            </a:r>
            <a:r>
              <a:rPr lang="en-US" sz="1200" dirty="0"/>
              <a:t> </a:t>
            </a:r>
            <a:r>
              <a:rPr lang="en-US" sz="1200" dirty="0" err="1"/>
              <a:t>Mordal</a:t>
            </a:r>
            <a:r>
              <a:rPr lang="en-US" sz="1200" dirty="0"/>
              <a:t>-Manet, Hani </a:t>
            </a:r>
            <a:r>
              <a:rPr lang="en-US" sz="1200" dirty="0" err="1"/>
              <a:t>Abdeen</a:t>
            </a:r>
            <a:r>
              <a:rPr lang="en-US" sz="1200" dirty="0"/>
              <a:t>, Fabrice </a:t>
            </a:r>
            <a:r>
              <a:rPr lang="en-US" sz="1200" dirty="0" err="1"/>
              <a:t>Bellingard</a:t>
            </a:r>
            <a:r>
              <a:rPr lang="en-US" sz="1200" dirty="0"/>
              <a:t>: </a:t>
            </a:r>
            <a:r>
              <a:rPr lang="en-US" sz="1200" i="1" dirty="0"/>
              <a:t>Software metric for Java and C++ practices (</a:t>
            </a:r>
            <a:r>
              <a:rPr lang="en-US" sz="1200" i="1" dirty="0" err="1"/>
              <a:t>Workpackage</a:t>
            </a:r>
            <a:r>
              <a:rPr lang="en-US" sz="1200" i="1" dirty="0"/>
              <a:t> 1.1)</a:t>
            </a:r>
            <a:r>
              <a:rPr lang="en-US" sz="1200" dirty="0"/>
              <a:t>, 2010, Research </a:t>
            </a:r>
            <a:r>
              <a:rPr lang="en-US" sz="1200" dirty="0" err="1"/>
              <a:t>Report,https</a:t>
            </a:r>
            <a:r>
              <a:rPr lang="en-US" sz="1200" dirty="0"/>
              <a:t>://hal.archives-ouvertes.fr/inria-00533617</a:t>
            </a:r>
          </a:p>
          <a:p>
            <a:pPr lvl="0" indent="-342900">
              <a:lnSpc>
                <a:spcPct val="115000"/>
              </a:lnSpc>
              <a:buSzPts val="1800"/>
            </a:pPr>
            <a:r>
              <a:rPr lang="en-US" sz="1200" dirty="0"/>
              <a:t>Robert C. Martin: </a:t>
            </a:r>
            <a:r>
              <a:rPr lang="en-US" sz="1200" i="1" dirty="0"/>
              <a:t>Design Principles and Design Patterns</a:t>
            </a:r>
            <a:r>
              <a:rPr lang="en-US" sz="1200" dirty="0"/>
              <a:t>, 2000,         https://fi.ort.edu.uy/innovaportal/file/2032/1/design_principles.pdf</a:t>
            </a:r>
          </a:p>
          <a:p>
            <a:pPr lvl="0" indent="-342900">
              <a:lnSpc>
                <a:spcPct val="115000"/>
              </a:lnSpc>
              <a:buSzPts val="1800"/>
            </a:pPr>
            <a:r>
              <a:rPr lang="en-US" sz="1200" dirty="0"/>
              <a:t>Robert C. Martin: </a:t>
            </a:r>
            <a:r>
              <a:rPr lang="en-US" sz="1200" i="1" dirty="0"/>
              <a:t>The Tipping Point: Stability and Instability in OO Design</a:t>
            </a:r>
            <a:r>
              <a:rPr lang="en-US" sz="1200" dirty="0"/>
              <a:t>, 2005, http://www.ddj.com/architect/184415285</a:t>
            </a:r>
          </a:p>
          <a:p>
            <a:pPr lvl="0" indent="-342900">
              <a:lnSpc>
                <a:spcPct val="115000"/>
              </a:lnSpc>
              <a:buSzPts val="1800"/>
            </a:pPr>
            <a:r>
              <a:rPr lang="en-US" sz="1200" dirty="0"/>
              <a:t>Sami </a:t>
            </a:r>
            <a:r>
              <a:rPr lang="en-US" sz="1200" dirty="0" err="1"/>
              <a:t>Hyrynsalmi</a:t>
            </a:r>
            <a:r>
              <a:rPr lang="en-US" sz="1200" dirty="0"/>
              <a:t>, Ville </a:t>
            </a:r>
            <a:r>
              <a:rPr lang="en-US" sz="1200" dirty="0" err="1"/>
              <a:t>Leppänen</a:t>
            </a:r>
            <a:r>
              <a:rPr lang="en-US" sz="1200" dirty="0"/>
              <a:t>: </a:t>
            </a:r>
            <a:r>
              <a:rPr lang="en-US" sz="1200" i="1" dirty="0"/>
              <a:t>A Validation of Martin's Metric</a:t>
            </a:r>
            <a:r>
              <a:rPr lang="en-US" sz="1200" dirty="0"/>
              <a:t>, 2009, Proceedings of 11th Symposium on Programming Languages and Software Tools and 7th Nordic Workshop on Model Driven Software </a:t>
            </a:r>
            <a:r>
              <a:rPr lang="en-US" sz="1200" dirty="0" err="1"/>
              <a:t>Engineerin</a:t>
            </a:r>
            <a:r>
              <a:rPr lang="en-US" sz="1200" dirty="0"/>
              <a:t>, Finland</a:t>
            </a:r>
          </a:p>
          <a:p>
            <a:pPr lvl="0" indent="-342900">
              <a:lnSpc>
                <a:spcPct val="115000"/>
              </a:lnSpc>
              <a:buSzPts val="1800"/>
            </a:pPr>
            <a:r>
              <a:rPr lang="en-US" sz="1200" dirty="0" err="1"/>
              <a:t>Siniša</a:t>
            </a:r>
            <a:r>
              <a:rPr lang="en-US" sz="1200" dirty="0"/>
              <a:t> </a:t>
            </a:r>
            <a:r>
              <a:rPr lang="en-US" sz="1200" dirty="0" err="1"/>
              <a:t>Vlajić</a:t>
            </a:r>
            <a:r>
              <a:rPr lang="en-US" sz="1200" dirty="0"/>
              <a:t>, Milos </a:t>
            </a:r>
            <a:r>
              <a:rPr lang="en-US" sz="1200" dirty="0" err="1"/>
              <a:t>Milic</a:t>
            </a:r>
            <a:r>
              <a:rPr lang="en-US" sz="1200" dirty="0"/>
              <a:t>, </a:t>
            </a:r>
            <a:r>
              <a:rPr lang="en-US" sz="1200" dirty="0" err="1"/>
              <a:t>Stanojevic</a:t>
            </a:r>
            <a:r>
              <a:rPr lang="en-US" sz="1200" dirty="0"/>
              <a:t> Vojislav, </a:t>
            </a:r>
            <a:r>
              <a:rPr lang="en-US" sz="1200" dirty="0" err="1"/>
              <a:t>Dusan</a:t>
            </a:r>
            <a:r>
              <a:rPr lang="en-US" sz="1200" dirty="0"/>
              <a:t> </a:t>
            </a:r>
            <a:r>
              <a:rPr lang="en-US" sz="1200" dirty="0" err="1"/>
              <a:t>Savic</a:t>
            </a:r>
            <a:r>
              <a:rPr lang="en-US" sz="1200" dirty="0"/>
              <a:t>, </a:t>
            </a:r>
            <a:r>
              <a:rPr lang="en-US" sz="1200" dirty="0" err="1"/>
              <a:t>Ilija</a:t>
            </a:r>
            <a:r>
              <a:rPr lang="en-US" sz="1200" dirty="0"/>
              <a:t> </a:t>
            </a:r>
            <a:r>
              <a:rPr lang="en-US" sz="1200" dirty="0" err="1"/>
              <a:t>Antović</a:t>
            </a:r>
            <a:r>
              <a:rPr lang="en-US" sz="1200" dirty="0"/>
              <a:t>, </a:t>
            </a:r>
            <a:r>
              <a:rPr lang="en-US" sz="1200" dirty="0" err="1"/>
              <a:t>Saša</a:t>
            </a:r>
            <a:r>
              <a:rPr lang="en-US" sz="1200" dirty="0"/>
              <a:t> </a:t>
            </a:r>
            <a:r>
              <a:rPr lang="en-US" sz="1200" dirty="0" err="1"/>
              <a:t>Lazarević</a:t>
            </a:r>
            <a:r>
              <a:rPr lang="en-US" sz="1200" dirty="0"/>
              <a:t>, </a:t>
            </a:r>
            <a:r>
              <a:rPr lang="en-US" sz="1200" dirty="0" err="1"/>
              <a:t>Rade</a:t>
            </a:r>
            <a:r>
              <a:rPr lang="en-US" sz="1200" dirty="0"/>
              <a:t> </a:t>
            </a:r>
            <a:r>
              <a:rPr lang="en-US" sz="1200" dirty="0" err="1"/>
              <a:t>Lazovic</a:t>
            </a:r>
            <a:r>
              <a:rPr lang="en-US" sz="1200" dirty="0"/>
              <a:t>: </a:t>
            </a:r>
            <a:r>
              <a:rPr lang="en-US" sz="1200" i="1" dirty="0"/>
              <a:t>Improving Robert C. Martin’s Stability software metric</a:t>
            </a:r>
            <a:r>
              <a:rPr lang="en-US" sz="1200" dirty="0"/>
              <a:t>, 2016, Working Paper, 10.13140/RG.2.1.2520.2808</a:t>
            </a:r>
          </a:p>
          <a:p>
            <a:pPr lvl="0" indent="-342900">
              <a:lnSpc>
                <a:spcPct val="115000"/>
              </a:lnSpc>
              <a:buSzPts val="1800"/>
            </a:pPr>
            <a:r>
              <a:rPr lang="en-US" sz="1200" dirty="0"/>
              <a:t>Usha Kumari, Sucheta </a:t>
            </a:r>
            <a:r>
              <a:rPr lang="en-US" sz="1200" dirty="0" err="1"/>
              <a:t>Bhasin</a:t>
            </a:r>
            <a:r>
              <a:rPr lang="en-US" sz="1200" dirty="0"/>
              <a:t>: </a:t>
            </a:r>
            <a:r>
              <a:rPr lang="en-US" sz="1200" i="1" dirty="0"/>
              <a:t>Application of Object-Oriented Metrics To C++ and Java: A Comparative Study</a:t>
            </a:r>
            <a:r>
              <a:rPr lang="en-US" sz="1200" dirty="0"/>
              <a:t>, 2011, SIGSOFT </a:t>
            </a:r>
            <a:r>
              <a:rPr lang="en-US" sz="1200" dirty="0" err="1"/>
              <a:t>Softw</a:t>
            </a:r>
            <a:r>
              <a:rPr lang="en-US" sz="1200" dirty="0"/>
              <a:t>. Eng. Notes, http://doi.acm.org/10.1145/1943371.1943386</a:t>
            </a:r>
          </a:p>
          <a:p>
            <a:pPr lvl="0" indent="-342900">
              <a:lnSpc>
                <a:spcPct val="115000"/>
              </a:lnSpc>
              <a:buSzPts val="1800"/>
            </a:pPr>
            <a:endParaRPr sz="1800" dirty="0">
              <a:solidFill>
                <a:srgbClr val="FFFFFF"/>
              </a:solidFill>
            </a:endParaRPr>
          </a:p>
        </p:txBody>
      </p:sp>
      <p:sp>
        <p:nvSpPr>
          <p:cNvPr id="335" name="Google Shape;335;p35"/>
          <p:cNvSpPr txBox="1">
            <a:spLocks noGrp="1"/>
          </p:cNvSpPr>
          <p:nvPr>
            <p:ph type="sldNum" idx="12"/>
          </p:nvPr>
        </p:nvSpPr>
        <p:spPr>
          <a:xfrm>
            <a:off x="8523157" y="6391956"/>
            <a:ext cx="461100" cy="3891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sld>
</file>

<file path=ppt/theme/theme1.xml><?xml version="1.0" encoding="utf-8"?>
<a:theme xmlns:a="http://schemas.openxmlformats.org/drawingml/2006/main" name="Valentine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Valentine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1411</Words>
  <Application>Microsoft Office PowerPoint</Application>
  <PresentationFormat>Diavetítés a képernyőre (4:3 oldalarány)</PresentationFormat>
  <Paragraphs>226</Paragraphs>
  <Slides>31</Slides>
  <Notes>31</Notes>
  <HiddenSlides>0</HiddenSlides>
  <MMClips>0</MMClips>
  <ScaleCrop>false</ScaleCrop>
  <HeadingPairs>
    <vt:vector size="6" baseType="variant">
      <vt:variant>
        <vt:lpstr>Használt betűtípusok</vt:lpstr>
      </vt:variant>
      <vt:variant>
        <vt:i4>3</vt:i4>
      </vt:variant>
      <vt:variant>
        <vt:lpstr>Téma</vt:lpstr>
      </vt:variant>
      <vt:variant>
        <vt:i4>2</vt:i4>
      </vt:variant>
      <vt:variant>
        <vt:lpstr>Diacímek</vt:lpstr>
      </vt:variant>
      <vt:variant>
        <vt:i4>31</vt:i4>
      </vt:variant>
    </vt:vector>
  </HeadingPairs>
  <TitlesOfParts>
    <vt:vector size="36" baseType="lpstr">
      <vt:lpstr>Cousine</vt:lpstr>
      <vt:lpstr>Courier New</vt:lpstr>
      <vt:lpstr>Arial</vt:lpstr>
      <vt:lpstr>Valentine template</vt:lpstr>
      <vt:lpstr>1_Valentine template</vt:lpstr>
      <vt:lpstr>PROGRAMTERVEZÉSI MINTÁK: METRIKÁK</vt:lpstr>
      <vt:lpstr>PROGRAMOK KOMPLEXITÁSÁNAK MÉRÉSE</vt:lpstr>
      <vt:lpstr>OO METRIKÁK</vt:lpstr>
      <vt:lpstr>OO METRIKÁK/DIT</vt:lpstr>
      <vt:lpstr>OO METRIKÁK/NOC</vt:lpstr>
      <vt:lpstr>OO METRIKÁK/NOM</vt:lpstr>
      <vt:lpstr>CSATOLÁS MÉRŐSZÁMAI</vt:lpstr>
      <vt:lpstr>PowerPoint-bemutató</vt:lpstr>
      <vt:lpstr>CSATOLÁS MÉRŐSZÁMAI/CBO</vt:lpstr>
      <vt:lpstr>CSATOLÁS MÉRŐSZÁMAI/COF</vt:lpstr>
      <vt:lpstr>CSATOLÁS MÉRŐSZÁMAI/MPC</vt:lpstr>
      <vt:lpstr>KOHÉZIÓ MÉRÉSE</vt:lpstr>
      <vt:lpstr>PowerPoint-bemutató</vt:lpstr>
      <vt:lpstr>KOHÉZIÓ MÉRÉSE/LCOM1</vt:lpstr>
      <vt:lpstr>KOHÉZIÓ MÉRÉSE/LCOM2</vt:lpstr>
      <vt:lpstr>KOHÉZIÓ MÉRÉSE/LCOM3 és LCOM4</vt:lpstr>
      <vt:lpstr>KOHÉZIÓ MÉRÉSE/LCOM5, LCOM*</vt:lpstr>
      <vt:lpstr>KOHÉZIÓ MÉRÉSE/TCC és LCC</vt:lpstr>
      <vt:lpstr>SZOFTVERCSOMAGOK MÉRŐSZÁMAI</vt:lpstr>
      <vt:lpstr>R. C. Martin-féle csomagmetrikák I.</vt:lpstr>
      <vt:lpstr>R. C. Martin-féle csomagmetrikák II.</vt:lpstr>
      <vt:lpstr> MOOD MÓDSZER</vt:lpstr>
      <vt:lpstr>PowerPoint-bemutató</vt:lpstr>
      <vt:lpstr>A MOOD ÁLTAL DEFINIÁLT METRIKÁK</vt:lpstr>
      <vt:lpstr>MOOD/Method Hiding Factor (MHF)</vt:lpstr>
      <vt:lpstr>MOOD/Attribute Hiding Factor (AHF)</vt:lpstr>
      <vt:lpstr>MOOD/Method Inheritance Factor (MIF)</vt:lpstr>
      <vt:lpstr>MOOD/Attribute Inheritance Factor (AIF)</vt:lpstr>
      <vt:lpstr>MOOD/Polymorphism Factor (POF)</vt:lpstr>
      <vt:lpstr>MOOD/Coupling Factor (COF)</vt:lpstr>
      <vt:lpstr>HIVATKOZÁSOK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PROGRAMTERVEZÉSI MINTÁK: METRIKÁK</dc:title>
  <cp:lastModifiedBy>Gábor Németh</cp:lastModifiedBy>
  <cp:revision>70</cp:revision>
  <dcterms:modified xsi:type="dcterms:W3CDTF">2019-04-26T17:19:06Z</dcterms:modified>
</cp:coreProperties>
</file>